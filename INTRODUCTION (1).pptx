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76" r:id="rId6"/>
    <p:sldId id="260" r:id="rId7"/>
    <p:sldId id="261" r:id="rId8"/>
    <p:sldId id="262" r:id="rId9"/>
    <p:sldId id="263" r:id="rId10"/>
    <p:sldId id="275" r:id="rId11"/>
    <p:sldId id="264" r:id="rId12"/>
    <p:sldId id="265" r:id="rId13"/>
    <p:sldId id="266" r:id="rId14"/>
    <p:sldId id="267" r:id="rId15"/>
    <p:sldId id="268" r:id="rId16"/>
    <p:sldId id="269" r:id="rId17"/>
    <p:sldId id="270" r:id="rId18"/>
    <p:sldId id="271" r:id="rId19"/>
    <p:sldId id="272" r:id="rId20"/>
    <p:sldId id="273" r:id="rId21"/>
    <p:sldId id="274" r:id="rId22"/>
  </p:sldIdLst>
  <p:sldSz cx="18288000" cy="10287000"/>
  <p:notesSz cx="6858000" cy="9144000"/>
  <p:embeddedFontLst>
    <p:embeddedFont>
      <p:font typeface="Telegraf Bold" panose="020B0604020202020204" charset="0"/>
      <p:regular r:id="rId23"/>
    </p:embeddedFont>
    <p:embeddedFont>
      <p:font typeface="Canva Sans Bold" panose="020B0604020202020204" charset="0"/>
      <p:regular r:id="rId24"/>
    </p:embeddedFont>
    <p:embeddedFont>
      <p:font typeface="Poppins" panose="020B0604020202020204" charset="0"/>
      <p:regular r:id="rId25"/>
    </p:embeddedFont>
    <p:embeddedFont>
      <p:font typeface="Poppins Bold" panose="020B0604020202020204" charset="0"/>
      <p:regular r:id="rId26"/>
    </p:embeddedFont>
    <p:embeddedFont>
      <p:font typeface="Calibri" panose="020F0502020204030204" pitchFamily="34" charset="0"/>
      <p:regular r:id="rId27"/>
      <p:bold r:id="rId28"/>
      <p:italic r:id="rId29"/>
      <p:boldItalic r:id="rId30"/>
    </p:embeddedFont>
    <p:embeddedFont>
      <p:font typeface="Arimo" panose="020B0604020202020204" charset="0"/>
      <p:regular r:id="rId31"/>
    </p:embeddedFont>
    <p:embeddedFont>
      <p:font typeface="Arimo Bold" panose="020B0604020202020204" charset="0"/>
      <p:regular r:id="rId32"/>
    </p:embeddedFont>
    <p:embeddedFont>
      <p:font typeface="Canva Sans"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81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708744" y="216335"/>
            <a:ext cx="13496798" cy="4212790"/>
          </a:xfrm>
          <a:custGeom>
            <a:avLst/>
            <a:gdLst/>
            <a:ahLst/>
            <a:cxnLst/>
            <a:rect l="l" t="t" r="r" b="b"/>
            <a:pathLst>
              <a:path w="13496798" h="4212790">
                <a:moveTo>
                  <a:pt x="0" y="0"/>
                </a:moveTo>
                <a:lnTo>
                  <a:pt x="13496797" y="0"/>
                </a:lnTo>
                <a:lnTo>
                  <a:pt x="13496797" y="4212790"/>
                </a:lnTo>
                <a:lnTo>
                  <a:pt x="0" y="4212790"/>
                </a:lnTo>
                <a:lnTo>
                  <a:pt x="0" y="0"/>
                </a:lnTo>
                <a:close/>
              </a:path>
            </a:pathLst>
          </a:custGeom>
          <a:blipFill>
            <a:blip r:embed="rId2"/>
            <a:stretch>
              <a:fillRect t="-949" b="-11284"/>
            </a:stretch>
          </a:blipFill>
        </p:spPr>
      </p:sp>
      <p:sp>
        <p:nvSpPr>
          <p:cNvPr id="3" name="Freeform 3"/>
          <p:cNvSpPr/>
          <p:nvPr/>
        </p:nvSpPr>
        <p:spPr>
          <a:xfrm>
            <a:off x="14358617" y="216335"/>
            <a:ext cx="3339425" cy="3084691"/>
          </a:xfrm>
          <a:custGeom>
            <a:avLst/>
            <a:gdLst/>
            <a:ahLst/>
            <a:cxnLst/>
            <a:rect l="l" t="t" r="r" b="b"/>
            <a:pathLst>
              <a:path w="3339425" h="3084691">
                <a:moveTo>
                  <a:pt x="0" y="0"/>
                </a:moveTo>
                <a:lnTo>
                  <a:pt x="3339426" y="0"/>
                </a:lnTo>
                <a:lnTo>
                  <a:pt x="3339426" y="3084691"/>
                </a:lnTo>
                <a:lnTo>
                  <a:pt x="0" y="3084691"/>
                </a:lnTo>
                <a:lnTo>
                  <a:pt x="0" y="0"/>
                </a:lnTo>
                <a:close/>
              </a:path>
            </a:pathLst>
          </a:custGeom>
          <a:blipFill>
            <a:blip r:embed="rId3"/>
            <a:stretch>
              <a:fillRect r="-852" b="-9181"/>
            </a:stretch>
          </a:blipFill>
        </p:spPr>
      </p:sp>
      <p:sp>
        <p:nvSpPr>
          <p:cNvPr id="4" name="TextBox 4"/>
          <p:cNvSpPr txBox="1"/>
          <p:nvPr/>
        </p:nvSpPr>
        <p:spPr>
          <a:xfrm>
            <a:off x="1028700" y="4981575"/>
            <a:ext cx="15961151" cy="1876664"/>
          </a:xfrm>
          <a:prstGeom prst="rect">
            <a:avLst/>
          </a:prstGeom>
        </p:spPr>
        <p:txBody>
          <a:bodyPr lIns="0" tIns="0" rIns="0" bIns="0" rtlCol="0" anchor="t">
            <a:spAutoFit/>
          </a:bodyPr>
          <a:lstStyle/>
          <a:p>
            <a:pPr algn="ctr">
              <a:lnSpc>
                <a:spcPts val="7323"/>
              </a:lnSpc>
              <a:spcBef>
                <a:spcPct val="0"/>
              </a:spcBef>
            </a:pPr>
            <a:r>
              <a:rPr lang="en-US" sz="5230" b="1" spc="-235">
                <a:solidFill>
                  <a:srgbClr val="FFFFFF"/>
                </a:solidFill>
                <a:latin typeface="Telegraf Bold"/>
                <a:ea typeface="Telegraf Bold"/>
                <a:cs typeface="Telegraf Bold"/>
                <a:sym typeface="Telegraf Bold"/>
              </a:rPr>
              <a:t>DYNAMIC ROUTING AND POWER CONTROL IN WSNs WITH K-MEANS AND Q-LEARNING </a:t>
            </a:r>
          </a:p>
        </p:txBody>
      </p:sp>
      <p:sp>
        <p:nvSpPr>
          <p:cNvPr id="5" name="TextBox 5"/>
          <p:cNvSpPr txBox="1"/>
          <p:nvPr/>
        </p:nvSpPr>
        <p:spPr>
          <a:xfrm>
            <a:off x="4957760" y="7429739"/>
            <a:ext cx="9247782" cy="869520"/>
          </a:xfrm>
          <a:prstGeom prst="rect">
            <a:avLst/>
          </a:prstGeom>
        </p:spPr>
        <p:txBody>
          <a:bodyPr lIns="0" tIns="0" rIns="0" bIns="0" rtlCol="0" anchor="t">
            <a:spAutoFit/>
          </a:bodyPr>
          <a:lstStyle/>
          <a:p>
            <a:pPr algn="l">
              <a:lnSpc>
                <a:spcPts val="6727"/>
              </a:lnSpc>
            </a:pPr>
            <a:r>
              <a:rPr lang="en-US" sz="4805" b="1">
                <a:solidFill>
                  <a:srgbClr val="FFFFFF"/>
                </a:solidFill>
                <a:latin typeface="Poppins Bold"/>
                <a:ea typeface="Poppins Bold"/>
                <a:cs typeface="Poppins Bold"/>
                <a:sym typeface="Poppins Bold"/>
              </a:rPr>
              <a:t>Domain: </a:t>
            </a:r>
            <a:r>
              <a:rPr lang="en-US" sz="4805">
                <a:solidFill>
                  <a:srgbClr val="FFFFFF"/>
                </a:solidFill>
                <a:latin typeface="Poppins"/>
                <a:ea typeface="Poppins"/>
                <a:cs typeface="Poppins"/>
                <a:sym typeface="Poppins"/>
              </a:rPr>
              <a:t>Artificial Intelligence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595368" y="5067300"/>
            <a:ext cx="5412266" cy="1309333"/>
          </a:xfrm>
          <a:prstGeom prst="rect">
            <a:avLst/>
          </a:prstGeom>
        </p:spPr>
        <p:txBody>
          <a:bodyPr wrap="square" lIns="0" tIns="0" rIns="0" bIns="0" rtlCol="0" anchor="t">
            <a:spAutoFit/>
          </a:bodyPr>
          <a:lstStyle/>
          <a:p>
            <a:pPr algn="ctr"/>
            <a:r>
              <a:rPr lang="en-US" sz="4254" b="1" dirty="0">
                <a:solidFill>
                  <a:srgbClr val="FFFFFF"/>
                </a:solidFill>
                <a:latin typeface="Canva Sans Bold"/>
                <a:ea typeface="Canva Sans Bold"/>
                <a:cs typeface="Canva Sans Bold"/>
                <a:sym typeface="Canva Sans Bold"/>
              </a:rPr>
              <a:t>BATCH 3</a:t>
            </a:r>
          </a:p>
          <a:p>
            <a:pPr algn="ctr"/>
            <a:r>
              <a:rPr lang="en-US" sz="4254" b="1" dirty="0">
                <a:solidFill>
                  <a:srgbClr val="FFFFFF"/>
                </a:solidFill>
                <a:latin typeface="Canva Sans Bold"/>
                <a:ea typeface="Canva Sans Bold"/>
                <a:cs typeface="Canva Sans Bold"/>
                <a:sym typeface="Canva Sans Bold"/>
              </a:rPr>
              <a:t>TEAM MEMBERS</a:t>
            </a:r>
          </a:p>
        </p:txBody>
      </p:sp>
      <p:sp>
        <p:nvSpPr>
          <p:cNvPr id="3" name="TextBox 3"/>
          <p:cNvSpPr txBox="1"/>
          <p:nvPr/>
        </p:nvSpPr>
        <p:spPr>
          <a:xfrm>
            <a:off x="3429000" y="6819900"/>
            <a:ext cx="9409769" cy="1661993"/>
          </a:xfrm>
          <a:prstGeom prst="rect">
            <a:avLst/>
          </a:prstGeom>
        </p:spPr>
        <p:txBody>
          <a:bodyPr lIns="0" tIns="0" rIns="0" bIns="0" rtlCol="0" anchor="t">
            <a:spAutoFit/>
          </a:bodyPr>
          <a:lstStyle/>
          <a:p>
            <a:pPr algn="ctr"/>
            <a:r>
              <a:rPr lang="en-US" sz="3600" dirty="0">
                <a:solidFill>
                  <a:srgbClr val="FFFFFF"/>
                </a:solidFill>
                <a:latin typeface="Canva Sans"/>
                <a:ea typeface="Canva Sans"/>
                <a:cs typeface="Canva Sans"/>
                <a:sym typeface="Canva Sans"/>
              </a:rPr>
              <a:t>REENA S (</a:t>
            </a:r>
            <a:r>
              <a:rPr lang="en-US" sz="3600" dirty="0" smtClean="0">
                <a:solidFill>
                  <a:srgbClr val="FFFFFF"/>
                </a:solidFill>
                <a:latin typeface="Canva Sans"/>
                <a:ea typeface="Canva Sans"/>
                <a:cs typeface="Canva Sans"/>
                <a:sym typeface="Canva Sans"/>
              </a:rPr>
              <a:t>8115U22CB044)</a:t>
            </a:r>
          </a:p>
          <a:p>
            <a:pPr algn="ctr"/>
            <a:r>
              <a:rPr lang="en-US" sz="3600" dirty="0" smtClean="0">
                <a:solidFill>
                  <a:srgbClr val="FFFFFF"/>
                </a:solidFill>
                <a:latin typeface="Canva Sans"/>
                <a:ea typeface="Canva Sans"/>
                <a:cs typeface="Canva Sans"/>
                <a:sym typeface="Canva Sans"/>
              </a:rPr>
              <a:t>              SHREE </a:t>
            </a:r>
            <a:r>
              <a:rPr lang="en-US" sz="3600" dirty="0">
                <a:solidFill>
                  <a:srgbClr val="FFFFFF"/>
                </a:solidFill>
                <a:latin typeface="Canva Sans"/>
                <a:ea typeface="Canva Sans"/>
                <a:cs typeface="Canva Sans"/>
                <a:sym typeface="Canva Sans"/>
              </a:rPr>
              <a:t>HARINI S (8115U22CB050)</a:t>
            </a:r>
          </a:p>
          <a:p>
            <a:pPr algn="ctr"/>
            <a:r>
              <a:rPr lang="en-US" sz="3600" dirty="0" smtClean="0">
                <a:solidFill>
                  <a:srgbClr val="FFFFFF"/>
                </a:solidFill>
                <a:latin typeface="Canva Sans"/>
                <a:ea typeface="Canva Sans"/>
                <a:cs typeface="Canva Sans"/>
                <a:sym typeface="Canva Sans"/>
              </a:rPr>
              <a:t>               SOUNDARYA </a:t>
            </a:r>
            <a:r>
              <a:rPr lang="en-US" sz="3600" dirty="0">
                <a:solidFill>
                  <a:srgbClr val="FFFFFF"/>
                </a:solidFill>
                <a:latin typeface="Canva Sans"/>
                <a:ea typeface="Canva Sans"/>
                <a:cs typeface="Canva Sans"/>
                <a:sym typeface="Canva Sans"/>
              </a:rPr>
              <a:t>A L (8115U22CB052)</a:t>
            </a:r>
          </a:p>
        </p:txBody>
      </p:sp>
      <p:sp>
        <p:nvSpPr>
          <p:cNvPr id="4" name="TextBox 4"/>
          <p:cNvSpPr txBox="1"/>
          <p:nvPr/>
        </p:nvSpPr>
        <p:spPr>
          <a:xfrm>
            <a:off x="6170134" y="933450"/>
            <a:ext cx="4262735"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GUIDE NAME</a:t>
            </a:r>
          </a:p>
        </p:txBody>
      </p:sp>
      <p:sp>
        <p:nvSpPr>
          <p:cNvPr id="5" name="TextBox 5"/>
          <p:cNvSpPr txBox="1"/>
          <p:nvPr/>
        </p:nvSpPr>
        <p:spPr>
          <a:xfrm>
            <a:off x="2667000" y="2123993"/>
            <a:ext cx="11846243" cy="2666564"/>
          </a:xfrm>
          <a:prstGeom prst="rect">
            <a:avLst/>
          </a:prstGeom>
        </p:spPr>
        <p:txBody>
          <a:bodyPr lIns="0" tIns="0" rIns="0" bIns="0" rtlCol="0" anchor="t">
            <a:spAutoFit/>
          </a:bodyPr>
          <a:lstStyle/>
          <a:p>
            <a:pPr algn="ctr"/>
            <a:r>
              <a:rPr lang="en-US" sz="3399" b="1" dirty="0">
                <a:solidFill>
                  <a:srgbClr val="FFFFFF"/>
                </a:solidFill>
                <a:latin typeface="Canva Sans Bold"/>
                <a:ea typeface="Canva Sans Bold"/>
                <a:cs typeface="Canva Sans Bold"/>
                <a:sym typeface="Canva Sans Bold"/>
              </a:rPr>
              <a:t>Mrs. P. UMA MAHESHWARI, M.E.</a:t>
            </a:r>
          </a:p>
          <a:p>
            <a:pPr algn="ctr"/>
            <a:r>
              <a:rPr lang="en-US" sz="3399" dirty="0">
                <a:solidFill>
                  <a:srgbClr val="FFFFFF"/>
                </a:solidFill>
                <a:latin typeface="Canva Sans"/>
                <a:ea typeface="Canva Sans"/>
                <a:cs typeface="Canva Sans"/>
                <a:sym typeface="Canva Sans"/>
              </a:rPr>
              <a:t> Assistant Professor,</a:t>
            </a:r>
          </a:p>
          <a:p>
            <a:pPr algn="ctr"/>
            <a:r>
              <a:rPr lang="en-US" sz="3399" dirty="0">
                <a:solidFill>
                  <a:srgbClr val="FFFFFF"/>
                </a:solidFill>
                <a:latin typeface="Canva Sans"/>
                <a:ea typeface="Canva Sans"/>
                <a:cs typeface="Canva Sans"/>
                <a:sym typeface="Canva Sans"/>
              </a:rPr>
              <a:t> Department of CSBS,</a:t>
            </a:r>
          </a:p>
          <a:p>
            <a:pPr algn="ctr"/>
            <a:r>
              <a:rPr lang="en-US" sz="3399" dirty="0">
                <a:solidFill>
                  <a:srgbClr val="FFFFFF"/>
                </a:solidFill>
                <a:latin typeface="Canva Sans"/>
                <a:ea typeface="Canva Sans"/>
                <a:cs typeface="Canva Sans"/>
                <a:sym typeface="Canva Sans"/>
              </a:rPr>
              <a:t> K. </a:t>
            </a:r>
            <a:r>
              <a:rPr lang="en-US" sz="3399" dirty="0" err="1">
                <a:solidFill>
                  <a:srgbClr val="FFFFFF"/>
                </a:solidFill>
                <a:latin typeface="Canva Sans"/>
                <a:ea typeface="Canva Sans"/>
                <a:cs typeface="Canva Sans"/>
                <a:sym typeface="Canva Sans"/>
              </a:rPr>
              <a:t>Ramakrishnan</a:t>
            </a:r>
            <a:r>
              <a:rPr lang="en-US" sz="3399" dirty="0">
                <a:solidFill>
                  <a:srgbClr val="FFFFFF"/>
                </a:solidFill>
                <a:latin typeface="Canva Sans"/>
                <a:ea typeface="Canva Sans"/>
                <a:cs typeface="Canva Sans"/>
                <a:sym typeface="Canva Sans"/>
              </a:rPr>
              <a:t> College of Engineering (Autonomous)</a:t>
            </a:r>
          </a:p>
          <a:p>
            <a:pPr algn="ctr">
              <a:lnSpc>
                <a:spcPts val="4759"/>
              </a:lnSpc>
            </a:pPr>
            <a:endParaRPr lang="en-US" sz="3399" dirty="0">
              <a:solidFill>
                <a:srgbClr val="FFFFFF"/>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181600" y="419100"/>
            <a:ext cx="6297572" cy="1141338"/>
          </a:xfrm>
          <a:prstGeom prst="rect">
            <a:avLst/>
          </a:prstGeom>
        </p:spPr>
        <p:txBody>
          <a:bodyPr wrap="square" lIns="0" tIns="0" rIns="0" bIns="0" rtlCol="0" anchor="t">
            <a:spAutoFit/>
          </a:bodyPr>
          <a:lstStyle/>
          <a:p>
            <a:pPr algn="ctr">
              <a:lnSpc>
                <a:spcPts val="8896"/>
              </a:lnSpc>
            </a:pPr>
            <a:r>
              <a:rPr lang="en-US" sz="6354" b="1" dirty="0">
                <a:solidFill>
                  <a:srgbClr val="FFFFFF"/>
                </a:solidFill>
                <a:latin typeface="Canva Sans Bold"/>
                <a:ea typeface="Canva Sans Bold"/>
                <a:cs typeface="Canva Sans Bold"/>
                <a:sym typeface="Canva Sans Bold"/>
              </a:rPr>
              <a:t>LIST OF SLIDE</a:t>
            </a:r>
          </a:p>
        </p:txBody>
      </p:sp>
      <p:sp>
        <p:nvSpPr>
          <p:cNvPr id="3" name="TextBox 3"/>
          <p:cNvSpPr txBox="1"/>
          <p:nvPr/>
        </p:nvSpPr>
        <p:spPr>
          <a:xfrm>
            <a:off x="2286000" y="2576621"/>
            <a:ext cx="7340757" cy="6127703"/>
          </a:xfrm>
          <a:prstGeom prst="rect">
            <a:avLst/>
          </a:prstGeom>
        </p:spPr>
        <p:txBody>
          <a:bodyPr wrap="square" lIns="0" tIns="0" rIns="0" bIns="0" rtlCol="0" anchor="t">
            <a:spAutoFit/>
          </a:bodyPr>
          <a:lstStyle/>
          <a:p>
            <a:pPr marL="742950" indent="-74295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Introduction</a:t>
            </a:r>
          </a:p>
          <a:p>
            <a:pPr marL="742950" indent="-74295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Abstract</a:t>
            </a:r>
            <a:endParaRPr lang="en-US" sz="3948" dirty="0">
              <a:solidFill>
                <a:srgbClr val="FFFFFF"/>
              </a:solidFill>
              <a:latin typeface="Canva Sans"/>
              <a:ea typeface="Canva Sans"/>
              <a:cs typeface="Canva Sans"/>
              <a:sym typeface="Canva Sans"/>
            </a:endParaRP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Literature </a:t>
            </a:r>
            <a:r>
              <a:rPr lang="en-US" sz="3948" dirty="0">
                <a:solidFill>
                  <a:srgbClr val="FFFFFF"/>
                </a:solidFill>
                <a:latin typeface="Canva Sans"/>
                <a:ea typeface="Canva Sans"/>
                <a:cs typeface="Canva Sans"/>
                <a:sym typeface="Canva Sans"/>
              </a:rPr>
              <a:t>Survey</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Existing </a:t>
            </a:r>
            <a:r>
              <a:rPr lang="en-US" sz="3948" dirty="0">
                <a:solidFill>
                  <a:srgbClr val="FFFFFF"/>
                </a:solidFill>
                <a:latin typeface="Canva Sans"/>
                <a:ea typeface="Canva Sans"/>
                <a:cs typeface="Canva Sans"/>
                <a:sym typeface="Canva Sans"/>
              </a:rPr>
              <a:t>System</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Disadvantages</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Problem Statement</a:t>
            </a:r>
            <a:endParaRPr lang="en-US" sz="3948" dirty="0">
              <a:solidFill>
                <a:srgbClr val="FFFFFF"/>
              </a:solidFill>
              <a:latin typeface="Canva Sans"/>
              <a:ea typeface="Canva Sans"/>
              <a:cs typeface="Canva Sans"/>
              <a:sym typeface="Canva Sans"/>
            </a:endParaRPr>
          </a:p>
          <a:p>
            <a:pPr algn="l">
              <a:lnSpc>
                <a:spcPts val="5528"/>
              </a:lnSpc>
            </a:pPr>
            <a:endParaRPr lang="en-US" sz="3948" dirty="0">
              <a:solidFill>
                <a:srgbClr val="FFFFFF"/>
              </a:solidFill>
              <a:latin typeface="Canva Sans"/>
              <a:ea typeface="Canva Sans"/>
              <a:cs typeface="Canva Sans"/>
              <a:sym typeface="Canva Sans"/>
            </a:endParaRPr>
          </a:p>
        </p:txBody>
      </p:sp>
      <p:sp>
        <p:nvSpPr>
          <p:cNvPr id="4" name="TextBox 3"/>
          <p:cNvSpPr txBox="1"/>
          <p:nvPr/>
        </p:nvSpPr>
        <p:spPr>
          <a:xfrm>
            <a:off x="9906000" y="2499357"/>
            <a:ext cx="7340757" cy="6282233"/>
          </a:xfrm>
          <a:prstGeom prst="rect">
            <a:avLst/>
          </a:prstGeom>
        </p:spPr>
        <p:txBody>
          <a:bodyPr wrap="square" lIns="0" tIns="0" rIns="0" bIns="0" rtlCol="0" anchor="t">
            <a:spAutoFit/>
          </a:bodyPr>
          <a:lstStyle/>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Proposed </a:t>
            </a:r>
            <a:r>
              <a:rPr lang="en-US" sz="3948" dirty="0">
                <a:solidFill>
                  <a:srgbClr val="FFFFFF"/>
                </a:solidFill>
                <a:latin typeface="Canva Sans"/>
                <a:ea typeface="Canva Sans"/>
                <a:cs typeface="Canva Sans"/>
                <a:sym typeface="Canva Sans"/>
              </a:rPr>
              <a:t>System</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Advantages</a:t>
            </a:r>
            <a:endParaRPr lang="en-US" sz="3948" dirty="0">
              <a:solidFill>
                <a:srgbClr val="FFFFFF"/>
              </a:solidFill>
              <a:latin typeface="Canva Sans"/>
              <a:ea typeface="Canva Sans"/>
              <a:cs typeface="Canva Sans"/>
              <a:sym typeface="Canva Sans"/>
            </a:endParaRP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List </a:t>
            </a:r>
            <a:r>
              <a:rPr lang="en-US" sz="3948" dirty="0">
                <a:solidFill>
                  <a:srgbClr val="FFFFFF"/>
                </a:solidFill>
                <a:latin typeface="Canva Sans"/>
                <a:ea typeface="Canva Sans"/>
                <a:cs typeface="Canva Sans"/>
                <a:sym typeface="Canva Sans"/>
              </a:rPr>
              <a:t>of Modules</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Modules </a:t>
            </a:r>
            <a:r>
              <a:rPr lang="en-US" sz="3948" dirty="0">
                <a:solidFill>
                  <a:srgbClr val="FFFFFF"/>
                </a:solidFill>
                <a:latin typeface="Canva Sans"/>
                <a:ea typeface="Canva Sans"/>
                <a:cs typeface="Canva Sans"/>
                <a:sym typeface="Canva Sans"/>
              </a:rPr>
              <a:t>Explanation</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Future </a:t>
            </a:r>
            <a:r>
              <a:rPr lang="en-US" sz="3948" dirty="0">
                <a:solidFill>
                  <a:srgbClr val="FFFFFF"/>
                </a:solidFill>
                <a:latin typeface="Canva Sans"/>
                <a:ea typeface="Canva Sans"/>
                <a:cs typeface="Canva Sans"/>
                <a:sym typeface="Canva Sans"/>
              </a:rPr>
              <a:t>Enhancement</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Conclusion</a:t>
            </a:r>
            <a:endParaRPr lang="en-US" sz="3948" dirty="0">
              <a:solidFill>
                <a:srgbClr val="FFFFFF"/>
              </a:solidFill>
              <a:latin typeface="Canva Sans"/>
              <a:ea typeface="Canva Sans"/>
              <a:cs typeface="Canva Sans"/>
              <a:sym typeface="Canva Sans"/>
            </a:endParaRP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 </a:t>
            </a:r>
            <a:r>
              <a:rPr lang="en-US" sz="3948" dirty="0">
                <a:solidFill>
                  <a:srgbClr val="FFFFFF"/>
                </a:solidFill>
                <a:latin typeface="Canva Sans"/>
                <a:ea typeface="Canva Sans"/>
                <a:cs typeface="Canva Sans"/>
                <a:sym typeface="Canva Sans"/>
              </a:rPr>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844950" y="207328"/>
            <a:ext cx="6775049" cy="1141338"/>
          </a:xfrm>
          <a:prstGeom prst="rect">
            <a:avLst/>
          </a:prstGeom>
        </p:spPr>
        <p:txBody>
          <a:bodyPr wrap="square" lIns="0" tIns="0" rIns="0" bIns="0" rtlCol="0" anchor="t">
            <a:spAutoFit/>
          </a:bodyPr>
          <a:lstStyle/>
          <a:p>
            <a:pPr algn="ctr">
              <a:lnSpc>
                <a:spcPts val="8890"/>
              </a:lnSpc>
            </a:pPr>
            <a:r>
              <a:rPr lang="en-US" sz="6350" b="1" dirty="0">
                <a:solidFill>
                  <a:srgbClr val="FFFFFF"/>
                </a:solidFill>
                <a:latin typeface="Canva Sans Bold"/>
                <a:ea typeface="Canva Sans Bold"/>
                <a:cs typeface="Canva Sans Bold"/>
                <a:sym typeface="Canva Sans Bold"/>
              </a:rPr>
              <a:t>INTRODUCTION</a:t>
            </a:r>
          </a:p>
        </p:txBody>
      </p:sp>
      <p:sp>
        <p:nvSpPr>
          <p:cNvPr id="3" name="TextBox 3"/>
          <p:cNvSpPr txBox="1"/>
          <p:nvPr/>
        </p:nvSpPr>
        <p:spPr>
          <a:xfrm>
            <a:off x="587325" y="1756262"/>
            <a:ext cx="17113351" cy="7502038"/>
          </a:xfrm>
          <a:prstGeom prst="rect">
            <a:avLst/>
          </a:prstGeom>
        </p:spPr>
        <p:txBody>
          <a:bodyPr lIns="0" tIns="0" rIns="0" bIns="0" rtlCol="0" anchor="t">
            <a:spAutoFit/>
          </a:bodyPr>
          <a:lstStyle/>
          <a:p>
            <a:pPr marL="767161" lvl="1" indent="-383581" algn="l">
              <a:lnSpc>
                <a:spcPts val="4974"/>
              </a:lnSpc>
              <a:buFont typeface="Arial"/>
              <a:buChar char="•"/>
            </a:pPr>
            <a:r>
              <a:rPr lang="en-US" sz="3553">
                <a:solidFill>
                  <a:srgbClr val="FFFFFF"/>
                </a:solidFill>
                <a:latin typeface="Canva Sans"/>
                <a:ea typeface="Canva Sans"/>
                <a:cs typeface="Canva Sans"/>
                <a:sym typeface="Canva Sans"/>
              </a:rPr>
              <a:t>Wireless Sensor Networks (WSNs) consist of multiple low-power sensor nodes used to sense, process, and transmit data. </a:t>
            </a:r>
          </a:p>
          <a:p>
            <a:pPr algn="l">
              <a:lnSpc>
                <a:spcPts val="4974"/>
              </a:lnSpc>
            </a:pPr>
            <a:endParaRPr lang="en-US" sz="3553">
              <a:solidFill>
                <a:srgbClr val="FFFFFF"/>
              </a:solidFill>
              <a:latin typeface="Canva Sans"/>
              <a:ea typeface="Canva Sans"/>
              <a:cs typeface="Canva Sans"/>
              <a:sym typeface="Canva Sans"/>
            </a:endParaRPr>
          </a:p>
          <a:p>
            <a:pPr marL="767161" lvl="1" indent="-383581" algn="l">
              <a:lnSpc>
                <a:spcPts val="4974"/>
              </a:lnSpc>
              <a:buFont typeface="Arial"/>
              <a:buChar char="•"/>
            </a:pPr>
            <a:r>
              <a:rPr lang="en-US" sz="3553">
                <a:solidFill>
                  <a:srgbClr val="FFFFFF"/>
                </a:solidFill>
                <a:latin typeface="Canva Sans"/>
                <a:ea typeface="Canva Sans"/>
                <a:cs typeface="Canva Sans"/>
                <a:sym typeface="Canva Sans"/>
              </a:rPr>
              <a:t>These nodes have limited battery power and processing capability, making energy efficiency a major challenge.</a:t>
            </a:r>
          </a:p>
          <a:p>
            <a:pPr algn="l">
              <a:lnSpc>
                <a:spcPts val="4974"/>
              </a:lnSpc>
            </a:pPr>
            <a:endParaRPr lang="en-US" sz="3553">
              <a:solidFill>
                <a:srgbClr val="FFFFFF"/>
              </a:solidFill>
              <a:latin typeface="Canva Sans"/>
              <a:ea typeface="Canva Sans"/>
              <a:cs typeface="Canva Sans"/>
              <a:sym typeface="Canva Sans"/>
            </a:endParaRPr>
          </a:p>
          <a:p>
            <a:pPr marL="767161" lvl="1" indent="-383581" algn="just">
              <a:lnSpc>
                <a:spcPts val="4974"/>
              </a:lnSpc>
              <a:buFont typeface="Arial"/>
              <a:buChar char="•"/>
            </a:pPr>
            <a:r>
              <a:rPr lang="en-US" sz="3553">
                <a:solidFill>
                  <a:srgbClr val="FFFFFF"/>
                </a:solidFill>
                <a:latin typeface="Canva Sans"/>
                <a:ea typeface="Canva Sans"/>
                <a:cs typeface="Canva Sans"/>
                <a:sym typeface="Canva Sans"/>
              </a:rPr>
              <a:t>This project introduces an AI-based model that combines K-Means clustering and Q-Learning to improve routing and power control in WSNs.</a:t>
            </a:r>
          </a:p>
          <a:p>
            <a:pPr algn="just">
              <a:lnSpc>
                <a:spcPts val="4974"/>
              </a:lnSpc>
            </a:pPr>
            <a:endParaRPr lang="en-US" sz="3553">
              <a:solidFill>
                <a:srgbClr val="FFFFFF"/>
              </a:solidFill>
              <a:latin typeface="Canva Sans"/>
              <a:ea typeface="Canva Sans"/>
              <a:cs typeface="Canva Sans"/>
              <a:sym typeface="Canva Sans"/>
            </a:endParaRPr>
          </a:p>
          <a:p>
            <a:pPr marL="767161" lvl="1" indent="-383581" algn="just">
              <a:lnSpc>
                <a:spcPts val="4974"/>
              </a:lnSpc>
              <a:buFont typeface="Arial"/>
              <a:buChar char="•"/>
            </a:pPr>
            <a:r>
              <a:rPr lang="en-US" sz="3553">
                <a:solidFill>
                  <a:srgbClr val="FFFFFF"/>
                </a:solidFill>
                <a:latin typeface="Canva Sans"/>
                <a:ea typeface="Canva Sans"/>
                <a:cs typeface="Canva Sans"/>
                <a:sym typeface="Canva Sans"/>
              </a:rPr>
              <a:t>K-Means reduces intra-cluster distance, and Q-Learning selects the most energy-efficient routes dynamically.</a:t>
            </a:r>
          </a:p>
          <a:p>
            <a:pPr algn="just">
              <a:lnSpc>
                <a:spcPts val="4974"/>
              </a:lnSpc>
            </a:pPr>
            <a:endParaRPr lang="en-US" sz="3553">
              <a:solidFill>
                <a:srgbClr val="FFFFFF"/>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52400" y="723900"/>
            <a:ext cx="6775049" cy="1066254"/>
          </a:xfrm>
          <a:prstGeom prst="rect">
            <a:avLst/>
          </a:prstGeom>
        </p:spPr>
        <p:txBody>
          <a:bodyPr wrap="square" lIns="0" tIns="0" rIns="0" bIns="0" rtlCol="0" anchor="t">
            <a:spAutoFit/>
          </a:bodyPr>
          <a:lstStyle/>
          <a:p>
            <a:pPr algn="ctr">
              <a:lnSpc>
                <a:spcPts val="8890"/>
              </a:lnSpc>
            </a:pPr>
            <a:r>
              <a:rPr lang="en-US" sz="6350" b="1" dirty="0" smtClean="0">
                <a:solidFill>
                  <a:srgbClr val="FFFFFF"/>
                </a:solidFill>
                <a:latin typeface="Canva Sans Bold"/>
                <a:ea typeface="Canva Sans Bold"/>
                <a:cs typeface="Canva Sans Bold"/>
                <a:sym typeface="Canva Sans Bold"/>
              </a:rPr>
              <a:t>ABSTRACT</a:t>
            </a:r>
            <a:endParaRPr lang="en-US" sz="6350" b="1" dirty="0">
              <a:solidFill>
                <a:srgbClr val="FFFFFF"/>
              </a:solidFill>
              <a:latin typeface="Canva Sans Bold"/>
              <a:ea typeface="Canva Sans Bold"/>
              <a:cs typeface="Canva Sans Bold"/>
              <a:sym typeface="Canva Sans Bold"/>
            </a:endParaRPr>
          </a:p>
        </p:txBody>
      </p:sp>
      <p:sp>
        <p:nvSpPr>
          <p:cNvPr id="3" name="TextBox 3"/>
          <p:cNvSpPr txBox="1"/>
          <p:nvPr/>
        </p:nvSpPr>
        <p:spPr>
          <a:xfrm>
            <a:off x="609600" y="2324100"/>
            <a:ext cx="17113351" cy="5730543"/>
          </a:xfrm>
          <a:prstGeom prst="rect">
            <a:avLst/>
          </a:prstGeom>
        </p:spPr>
        <p:txBody>
          <a:bodyPr lIns="0" tIns="0" rIns="0" bIns="0" rtlCol="0" anchor="t">
            <a:spAutoFit/>
          </a:bodyPr>
          <a:lstStyle/>
          <a:p>
            <a:pPr marL="383580" lvl="1" algn="just">
              <a:lnSpc>
                <a:spcPct val="150000"/>
              </a:lnSpc>
            </a:pPr>
            <a:r>
              <a:rPr lang="en-US" sz="3600" dirty="0">
                <a:solidFill>
                  <a:schemeClr val="bg1"/>
                </a:solidFill>
              </a:rPr>
              <a:t>Wireless Sensor Networks (WSNs) suffer from limited battery power and high energy consumption due to inefficient routing. This project proposes an intelligent energy-efficient communication model using K-Means clustering and Q-Learning. Sensor nodes are grouped into clusters, and cluster heads are selected based on distance and residual energy. Q-Learning dynamically determines the optimal routing path to the base station. Power control and sleep scheduling further reduce unnecessary energy usage. The proposed approach improves energy efficiency and extends overall network lifetime.</a:t>
            </a:r>
            <a:endParaRPr lang="en-US" sz="3553" dirty="0">
              <a:solidFill>
                <a:schemeClr val="bg1"/>
              </a:solidFill>
              <a:latin typeface="Canva Sans"/>
              <a:ea typeface="Canva Sans"/>
              <a:cs typeface="Canva Sans"/>
              <a:sym typeface="Canva Sans"/>
            </a:endParaRPr>
          </a:p>
        </p:txBody>
      </p:sp>
    </p:spTree>
    <p:extLst>
      <p:ext uri="{BB962C8B-B14F-4D97-AF65-F5344CB8AC3E}">
        <p14:creationId xmlns:p14="http://schemas.microsoft.com/office/powerpoint/2010/main" val="2550266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657722"/>
          <a:ext cx="16299081" cy="8020228"/>
        </p:xfrm>
        <a:graphic>
          <a:graphicData uri="http://schemas.openxmlformats.org/drawingml/2006/table">
            <a:tbl>
              <a:tblPr/>
              <a:tblGrid>
                <a:gridCol w="5887545"/>
                <a:gridCol w="3795527"/>
                <a:gridCol w="6616009"/>
              </a:tblGrid>
              <a:tr h="1445140">
                <a:tc>
                  <a:txBody>
                    <a:bodyPr/>
                    <a:lstStyle/>
                    <a:p>
                      <a:pPr algn="ctr">
                        <a:lnSpc>
                          <a:spcPts val="5739"/>
                        </a:lnSpc>
                        <a:defRPr/>
                      </a:pPr>
                      <a:r>
                        <a:rPr lang="en-US" sz="4099">
                          <a:solidFill>
                            <a:srgbClr val="FFFFFF"/>
                          </a:solidFill>
                          <a:latin typeface="Poppins"/>
                          <a:ea typeface="Poppins"/>
                          <a:cs typeface="Poppins"/>
                          <a:sym typeface="Poppins"/>
                        </a:rPr>
                        <a:t>Title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4339"/>
                        </a:lnSpc>
                        <a:defRPr/>
                      </a:pPr>
                      <a:r>
                        <a:rPr lang="en-US" sz="3099">
                          <a:solidFill>
                            <a:srgbClr val="FFFFFF"/>
                          </a:solidFill>
                          <a:latin typeface="Poppins"/>
                          <a:ea typeface="Poppins"/>
                          <a:cs typeface="Poppins"/>
                          <a:sym typeface="Poppins"/>
                        </a:rPr>
                        <a:t>AUTHOR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ALGORITHM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344764">
                <a:tc>
                  <a:txBody>
                    <a:bodyPr/>
                    <a:lstStyle/>
                    <a:p>
                      <a:pPr algn="ctr">
                        <a:lnSpc>
                          <a:spcPts val="3919"/>
                        </a:lnSpc>
                        <a:defRPr/>
                      </a:pPr>
                      <a:r>
                        <a:rPr lang="en-US" sz="2799">
                          <a:solidFill>
                            <a:srgbClr val="FFFFFF"/>
                          </a:solidFill>
                          <a:latin typeface="Poppins"/>
                          <a:ea typeface="Poppins"/>
                          <a:cs typeface="Poppins"/>
                          <a:sym typeface="Poppins"/>
                        </a:rPr>
                        <a:t>Q-Learning-Based Energy-Efficient Routing (2021)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Wan-Kyu Yun &amp; Sang-Jo Yoo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4480"/>
                        </a:lnSpc>
                        <a:defRPr/>
                      </a:pPr>
                      <a:r>
                        <a:rPr lang="en-US" sz="3200">
                          <a:solidFill>
                            <a:srgbClr val="FFFFFF"/>
                          </a:solidFill>
                          <a:latin typeface="Poppins"/>
                          <a:ea typeface="Poppins"/>
                          <a:cs typeface="Poppins"/>
                          <a:sym typeface="Poppins"/>
                        </a:rPr>
                        <a:t>Q-Learning-Based Data Aggregation &amp; Energy-Efficient Routing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612737">
                <a:tc>
                  <a:txBody>
                    <a:bodyPr/>
                    <a:lstStyle/>
                    <a:p>
                      <a:pPr algn="ctr">
                        <a:lnSpc>
                          <a:spcPts val="3919"/>
                        </a:lnSpc>
                        <a:defRPr/>
                      </a:pPr>
                      <a:r>
                        <a:rPr lang="en-US" sz="2799">
                          <a:solidFill>
                            <a:srgbClr val="FFFFFF"/>
                          </a:solidFill>
                          <a:latin typeface="Poppins"/>
                          <a:ea typeface="Poppins"/>
                          <a:cs typeface="Poppins"/>
                          <a:sym typeface="Poppins"/>
                        </a:rPr>
                        <a:t>EEMLCR using LEACH protocols  (2025)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 Muhammad Akram, Sibghat Ullah Bazai, Muhammad Imran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5040"/>
                        </a:lnSpc>
                        <a:defRPr/>
                      </a:pPr>
                      <a:r>
                        <a:rPr lang="en-US" sz="3600">
                          <a:solidFill>
                            <a:srgbClr val="FFFFFF"/>
                          </a:solidFill>
                          <a:latin typeface="Canva Sans"/>
                          <a:ea typeface="Canva Sans"/>
                          <a:cs typeface="Canva Sans"/>
                          <a:sym typeface="Canva Sans"/>
                        </a:rPr>
                        <a:t>LEACH Protocol Algorithms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1617587">
                <a:tc>
                  <a:txBody>
                    <a:bodyPr/>
                    <a:lstStyle/>
                    <a:p>
                      <a:pPr algn="ctr">
                        <a:lnSpc>
                          <a:spcPts val="3919"/>
                        </a:lnSpc>
                        <a:defRPr/>
                      </a:pPr>
                      <a:r>
                        <a:rPr lang="en-US" sz="2799">
                          <a:solidFill>
                            <a:srgbClr val="FFFFFF"/>
                          </a:solidFill>
                          <a:latin typeface="Poppins"/>
                          <a:ea typeface="Poppins"/>
                          <a:cs typeface="Poppins"/>
                          <a:sym typeface="Poppins"/>
                        </a:rPr>
                        <a:t>AI in Sensor Networks (2024)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 Salim El Khediri &amp; Awatef Benfradj</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ML &amp; RL techniques for WSN optimization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bl>
          </a:graphicData>
        </a:graphic>
      </p:graphicFrame>
      <p:sp>
        <p:nvSpPr>
          <p:cNvPr id="3" name="TextBox 3"/>
          <p:cNvSpPr txBox="1"/>
          <p:nvPr/>
        </p:nvSpPr>
        <p:spPr>
          <a:xfrm>
            <a:off x="1423318" y="-60890"/>
            <a:ext cx="8451813" cy="1089590"/>
          </a:xfrm>
          <a:prstGeom prst="rect">
            <a:avLst/>
          </a:prstGeom>
        </p:spPr>
        <p:txBody>
          <a:bodyPr lIns="0" tIns="0" rIns="0" bIns="0" rtlCol="0" anchor="t">
            <a:spAutoFit/>
          </a:bodyPr>
          <a:lstStyle/>
          <a:p>
            <a:pPr algn="ctr">
              <a:lnSpc>
                <a:spcPts val="8916"/>
              </a:lnSpc>
            </a:pPr>
            <a:r>
              <a:rPr lang="en-US" sz="6368" b="1">
                <a:solidFill>
                  <a:srgbClr val="FFFFFF"/>
                </a:solidFill>
                <a:latin typeface="Canva Sans Bold"/>
                <a:ea typeface="Canva Sans Bold"/>
                <a:cs typeface="Canva Sans Bold"/>
                <a:sym typeface="Canva Sans Bold"/>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712324" y="1626056"/>
          <a:ext cx="15249025" cy="6336704"/>
        </p:xfrm>
        <a:graphic>
          <a:graphicData uri="http://schemas.openxmlformats.org/drawingml/2006/table">
            <a:tbl>
              <a:tblPr/>
              <a:tblGrid>
                <a:gridCol w="5488752"/>
                <a:gridCol w="4300503"/>
                <a:gridCol w="5459770"/>
              </a:tblGrid>
              <a:tr h="2050836">
                <a:tc>
                  <a:txBody>
                    <a:bodyPr/>
                    <a:lstStyle/>
                    <a:p>
                      <a:pPr algn="ctr">
                        <a:lnSpc>
                          <a:spcPts val="6719"/>
                        </a:lnSpc>
                        <a:defRPr/>
                      </a:pPr>
                      <a:r>
                        <a:rPr lang="en-US" sz="4800" b="1">
                          <a:solidFill>
                            <a:srgbClr val="FFFFFF"/>
                          </a:solidFill>
                          <a:latin typeface="Canva Sans Bold"/>
                          <a:ea typeface="Canva Sans Bold"/>
                          <a:cs typeface="Canva Sans Bold"/>
                          <a:sym typeface="Canva Sans Bold"/>
                        </a:rPr>
                        <a:t>Title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5880"/>
                        </a:lnSpc>
                        <a:defRPr/>
                      </a:pPr>
                      <a:r>
                        <a:rPr lang="en-US" sz="4200" b="1">
                          <a:solidFill>
                            <a:srgbClr val="FFFFFF"/>
                          </a:solidFill>
                          <a:latin typeface="Canva Sans Bold"/>
                          <a:ea typeface="Canva Sans Bold"/>
                          <a:cs typeface="Canva Sans Bold"/>
                          <a:sym typeface="Canva Sans Bold"/>
                        </a:rPr>
                        <a:t>AUTHOR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5880"/>
                        </a:lnSpc>
                        <a:defRPr/>
                      </a:pPr>
                      <a:r>
                        <a:rPr lang="en-US" sz="4200" b="1">
                          <a:solidFill>
                            <a:srgbClr val="FFFFFF"/>
                          </a:solidFill>
                          <a:latin typeface="Canva Sans Bold"/>
                          <a:ea typeface="Canva Sans Bold"/>
                          <a:cs typeface="Canva Sans Bold"/>
                          <a:sym typeface="Canva Sans Bold"/>
                        </a:rPr>
                        <a:t>ALGORITHM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142934">
                <a:tc>
                  <a:txBody>
                    <a:bodyPr/>
                    <a:lstStyle/>
                    <a:p>
                      <a:pPr algn="ctr">
                        <a:lnSpc>
                          <a:spcPts val="3919"/>
                        </a:lnSpc>
                        <a:defRPr/>
                      </a:pPr>
                      <a:r>
                        <a:rPr lang="en-US" sz="2799" b="1">
                          <a:solidFill>
                            <a:srgbClr val="FFFFFF"/>
                          </a:solidFill>
                          <a:latin typeface="Arimo Bold"/>
                          <a:ea typeface="Arimo Bold"/>
                          <a:cs typeface="Arimo Bold"/>
                          <a:sym typeface="Arimo Bold"/>
                        </a:rPr>
                        <a:t>Energy-Efficient Q-Learning Routing (2025)</a:t>
                      </a:r>
                      <a:r>
                        <a:rPr lang="en-US" sz="2799">
                          <a:solidFill>
                            <a:srgbClr val="FFFFFF"/>
                          </a:solidFill>
                          <a:latin typeface="Arimo"/>
                          <a:ea typeface="Arimo"/>
                          <a:cs typeface="Arimo"/>
                          <a:sym typeface="Arimo"/>
                        </a:rPr>
                        <a:t>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Huda Salih Abd &amp; Asaad S. Daghul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Dynamic K-Means + Q-Learning + Sleep Scheduling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142934">
                <a:tc>
                  <a:txBody>
                    <a:bodyPr/>
                    <a:lstStyle/>
                    <a:p>
                      <a:pPr algn="ctr">
                        <a:lnSpc>
                          <a:spcPts val="3919"/>
                        </a:lnSpc>
                        <a:defRPr/>
                      </a:pPr>
                      <a:r>
                        <a:rPr lang="en-US" sz="2799">
                          <a:solidFill>
                            <a:srgbClr val="FFFFFF"/>
                          </a:solidFill>
                          <a:latin typeface="Canva Sans"/>
                          <a:ea typeface="Canva Sans"/>
                          <a:cs typeface="Canva Sans"/>
                          <a:sym typeface="Canva Sans"/>
                        </a:rPr>
                        <a:t>Reinforcement Learning for WSN Optimization (2024)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Yan Wang, Ke Deng, Yongli Ren, Jeffrey Chan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Reinforcement Learning–Enhanced Cluster-Based Routing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0" y="571500"/>
            <a:ext cx="8767039" cy="2282676"/>
          </a:xfrm>
          <a:prstGeom prst="rect">
            <a:avLst/>
          </a:prstGeom>
        </p:spPr>
        <p:txBody>
          <a:bodyPr wrap="square" lIns="0" tIns="0" rIns="0" bIns="0" rtlCol="0" anchor="t">
            <a:spAutoFit/>
          </a:bodyPr>
          <a:lstStyle/>
          <a:p>
            <a:pPr algn="ctr">
              <a:lnSpc>
                <a:spcPts val="8885"/>
              </a:lnSpc>
            </a:pPr>
            <a:r>
              <a:rPr lang="en-US" sz="6346" b="1" dirty="0">
                <a:solidFill>
                  <a:srgbClr val="FFFFFF"/>
                </a:solidFill>
                <a:latin typeface="Canva Sans Bold"/>
                <a:ea typeface="Canva Sans Bold"/>
                <a:cs typeface="Canva Sans Bold"/>
                <a:sym typeface="Canva Sans Bold"/>
              </a:rPr>
              <a:t>EXISTING SYSTEM</a:t>
            </a:r>
          </a:p>
          <a:p>
            <a:pPr algn="ctr">
              <a:lnSpc>
                <a:spcPts val="8885"/>
              </a:lnSpc>
            </a:pPr>
            <a:endParaRPr lang="en-US" sz="6346" b="1" dirty="0">
              <a:solidFill>
                <a:srgbClr val="FFFFFF"/>
              </a:solidFill>
              <a:latin typeface="Canva Sans Bold"/>
              <a:ea typeface="Canva Sans Bold"/>
              <a:cs typeface="Canva Sans Bold"/>
              <a:sym typeface="Canva Sans Bold"/>
            </a:endParaRPr>
          </a:p>
        </p:txBody>
      </p:sp>
      <p:sp>
        <p:nvSpPr>
          <p:cNvPr id="3" name="TextBox 3"/>
          <p:cNvSpPr txBox="1"/>
          <p:nvPr/>
        </p:nvSpPr>
        <p:spPr>
          <a:xfrm>
            <a:off x="582236" y="2130594"/>
            <a:ext cx="16873999" cy="5981065"/>
          </a:xfrm>
          <a:prstGeom prst="rect">
            <a:avLst/>
          </a:prstGeom>
        </p:spPr>
        <p:txBody>
          <a:bodyPr lIns="0" tIns="0" rIns="0" bIns="0" rtlCol="0" anchor="t">
            <a:spAutoFit/>
          </a:bodyPr>
          <a:lstStyle/>
          <a:p>
            <a:pPr algn="l">
              <a:lnSpc>
                <a:spcPts val="4759"/>
              </a:lnSpc>
            </a:pPr>
            <a:r>
              <a:rPr lang="en-US" sz="3399" dirty="0">
                <a:solidFill>
                  <a:srgbClr val="FFFFFF"/>
                </a:solidFill>
                <a:latin typeface="Canva Sans"/>
                <a:ea typeface="Canva Sans"/>
                <a:cs typeface="Canva Sans"/>
                <a:sym typeface="Canva Sans"/>
              </a:rPr>
              <a:t>Existing WSN routing methods like LEACH, DMHT-LEACH, EDMHT-LEACH use static or probabilistic models.</a:t>
            </a:r>
          </a:p>
          <a:p>
            <a:pPr algn="l">
              <a:lnSpc>
                <a:spcPts val="4759"/>
              </a:lnSpc>
            </a:pPr>
            <a:r>
              <a:rPr lang="en-US" sz="3399" dirty="0">
                <a:solidFill>
                  <a:srgbClr val="FFFFFF"/>
                </a:solidFill>
                <a:latin typeface="Canva Sans"/>
                <a:ea typeface="Canva Sans"/>
                <a:cs typeface="Canva Sans"/>
                <a:sym typeface="Canva Sans"/>
              </a:rPr>
              <a:t>They suffer from:</a:t>
            </a:r>
          </a:p>
          <a:p>
            <a:pPr algn="l">
              <a:lnSpc>
                <a:spcPts val="4759"/>
              </a:lnSpc>
            </a:pPr>
            <a:endParaRPr lang="en-US" sz="3399" dirty="0">
              <a:solidFill>
                <a:srgbClr val="FFFFFF"/>
              </a:solidFill>
              <a:latin typeface="Canva Sans"/>
              <a:ea typeface="Canva Sans"/>
              <a:cs typeface="Canva Sans"/>
              <a:sym typeface="Canva Sans"/>
            </a:endParaRP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No dynamic routing decisions</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Poor scalability in large networks</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Uneven energy distribution</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High packet loss in long-distance communication</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Early node death due to inefficient cluster head selection</a:t>
            </a:r>
          </a:p>
          <a:p>
            <a:pPr algn="l">
              <a:lnSpc>
                <a:spcPts val="4759"/>
              </a:lnSpc>
            </a:pPr>
            <a:endParaRPr lang="en-US" sz="3399" dirty="0">
              <a:solidFill>
                <a:srgbClr val="FFFFFF"/>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67389" y="423599"/>
            <a:ext cx="16001630" cy="1086377"/>
          </a:xfrm>
          <a:prstGeom prst="rect">
            <a:avLst/>
          </a:prstGeom>
        </p:spPr>
        <p:txBody>
          <a:bodyPr lIns="0" tIns="0" rIns="0" bIns="0" rtlCol="0" anchor="t">
            <a:spAutoFit/>
          </a:bodyPr>
          <a:lstStyle/>
          <a:p>
            <a:pPr algn="ctr">
              <a:lnSpc>
                <a:spcPts val="8886"/>
              </a:lnSpc>
            </a:pPr>
            <a:r>
              <a:rPr lang="en-US" sz="6347" b="1">
                <a:solidFill>
                  <a:srgbClr val="FFFFFF"/>
                </a:solidFill>
                <a:latin typeface="Canva Sans Bold"/>
                <a:ea typeface="Canva Sans Bold"/>
                <a:cs typeface="Canva Sans Bold"/>
                <a:sym typeface="Canva Sans Bold"/>
              </a:rPr>
              <a:t>DISADVANTAGES OF EXISTING SYSTEM</a:t>
            </a:r>
          </a:p>
        </p:txBody>
      </p:sp>
      <p:sp>
        <p:nvSpPr>
          <p:cNvPr id="3" name="TextBox 3"/>
          <p:cNvSpPr txBox="1"/>
          <p:nvPr/>
        </p:nvSpPr>
        <p:spPr>
          <a:xfrm>
            <a:off x="1337720" y="2426049"/>
            <a:ext cx="10116734" cy="4974084"/>
          </a:xfrm>
          <a:prstGeom prst="rect">
            <a:avLst/>
          </a:prstGeom>
        </p:spPr>
        <p:txBody>
          <a:bodyPr lIns="0" tIns="0" rIns="0" bIns="0" rtlCol="0" anchor="t">
            <a:spAutoFit/>
          </a:bodyPr>
          <a:lstStyle/>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Static cluster head selection</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No learning-based optimization</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High energy consumption</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Poor adaptability to network changes</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Limited lifetime of sensor nodes</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No intelligent multi-hop routing</a:t>
            </a:r>
          </a:p>
          <a:p>
            <a:pPr algn="l">
              <a:lnSpc>
                <a:spcPts val="5666"/>
              </a:lnSpc>
            </a:pPr>
            <a:endParaRPr lang="en-US" sz="4047">
              <a:solidFill>
                <a:srgbClr val="FFFFFF"/>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447800" y="3238500"/>
            <a:ext cx="15506700" cy="4219104"/>
          </a:xfrm>
          <a:prstGeom prst="rect">
            <a:avLst/>
          </a:prstGeom>
        </p:spPr>
        <p:txBody>
          <a:bodyPr wrap="square" lIns="0" tIns="0" rIns="0" bIns="0" rtlCol="0" anchor="t">
            <a:spAutoFit/>
          </a:bodyPr>
          <a:lstStyle/>
          <a:p>
            <a:pPr marL="571500" indent="-571500">
              <a:lnSpc>
                <a:spcPts val="4746"/>
              </a:lnSpc>
              <a:buFont typeface="Arial" panose="020B0604020202020204" pitchFamily="34" charset="0"/>
              <a:buChar char="•"/>
            </a:pPr>
            <a:r>
              <a:rPr lang="en-US" sz="4000" dirty="0">
                <a:solidFill>
                  <a:schemeClr val="bg1"/>
                </a:solidFill>
              </a:rPr>
              <a:t>Sensor nodes in WSNs have limited battery power</a:t>
            </a:r>
            <a:r>
              <a:rPr lang="en-US" sz="4000" dirty="0" smtClean="0">
                <a:solidFill>
                  <a:schemeClr val="bg1"/>
                </a:solidFill>
              </a:rPr>
              <a:t>.</a:t>
            </a:r>
          </a:p>
          <a:p>
            <a:pPr marL="571500" indent="-571500">
              <a:lnSpc>
                <a:spcPts val="4746"/>
              </a:lnSpc>
              <a:buFont typeface="Arial" panose="020B0604020202020204" pitchFamily="34" charset="0"/>
              <a:buChar char="•"/>
            </a:pPr>
            <a:endParaRPr lang="en-US" sz="4000" dirty="0" smtClean="0">
              <a:solidFill>
                <a:schemeClr val="bg1"/>
              </a:solidFill>
            </a:endParaRPr>
          </a:p>
          <a:p>
            <a:pPr marL="571500" indent="-571500">
              <a:lnSpc>
                <a:spcPts val="4746"/>
              </a:lnSpc>
              <a:buFont typeface="Arial" panose="020B0604020202020204" pitchFamily="34" charset="0"/>
              <a:buChar char="•"/>
            </a:pPr>
            <a:r>
              <a:rPr lang="en-US" sz="4000" dirty="0" smtClean="0">
                <a:solidFill>
                  <a:schemeClr val="bg1"/>
                </a:solidFill>
              </a:rPr>
              <a:t>Traditional </a:t>
            </a:r>
            <a:r>
              <a:rPr lang="en-US" sz="4000" dirty="0">
                <a:solidFill>
                  <a:schemeClr val="bg1"/>
                </a:solidFill>
              </a:rPr>
              <a:t>static routing methods cause high energy consumption and early node failure. </a:t>
            </a:r>
            <a:endParaRPr lang="en-US" sz="4000" dirty="0" smtClean="0">
              <a:solidFill>
                <a:schemeClr val="bg1"/>
              </a:solidFill>
            </a:endParaRPr>
          </a:p>
          <a:p>
            <a:pPr marL="571500" indent="-571500">
              <a:lnSpc>
                <a:spcPts val="4746"/>
              </a:lnSpc>
              <a:buFont typeface="Arial" panose="020B0604020202020204" pitchFamily="34" charset="0"/>
              <a:buChar char="•"/>
            </a:pPr>
            <a:endParaRPr lang="en-US" sz="4000" dirty="0" smtClean="0">
              <a:solidFill>
                <a:schemeClr val="bg1"/>
              </a:solidFill>
            </a:endParaRPr>
          </a:p>
          <a:p>
            <a:pPr marL="571500" indent="-571500">
              <a:lnSpc>
                <a:spcPts val="4746"/>
              </a:lnSpc>
              <a:buFont typeface="Arial" panose="020B0604020202020204" pitchFamily="34" charset="0"/>
              <a:buChar char="•"/>
            </a:pPr>
            <a:r>
              <a:rPr lang="en-US" sz="4000" dirty="0" smtClean="0">
                <a:solidFill>
                  <a:schemeClr val="bg1"/>
                </a:solidFill>
              </a:rPr>
              <a:t>An </a:t>
            </a:r>
            <a:r>
              <a:rPr lang="en-US" sz="4000" dirty="0">
                <a:solidFill>
                  <a:schemeClr val="bg1"/>
                </a:solidFill>
              </a:rPr>
              <a:t>intelligent, adaptive routing and clustering mechanism is required to optimize energy usage and improve network lifetime.</a:t>
            </a:r>
            <a:endParaRPr lang="en-US" sz="4000" dirty="0">
              <a:solidFill>
                <a:schemeClr val="bg1"/>
              </a:solidFill>
              <a:latin typeface="Canva Sans"/>
              <a:ea typeface="Canva Sans"/>
              <a:cs typeface="Canva Sans"/>
              <a:sym typeface="Canva Sans"/>
            </a:endParaRPr>
          </a:p>
        </p:txBody>
      </p:sp>
      <p:sp>
        <p:nvSpPr>
          <p:cNvPr id="3" name="TextBox 2"/>
          <p:cNvSpPr txBox="1"/>
          <p:nvPr/>
        </p:nvSpPr>
        <p:spPr>
          <a:xfrm>
            <a:off x="1447800" y="1562100"/>
            <a:ext cx="15506700" cy="670568"/>
          </a:xfrm>
          <a:prstGeom prst="rect">
            <a:avLst/>
          </a:prstGeom>
        </p:spPr>
        <p:txBody>
          <a:bodyPr wrap="square" lIns="0" tIns="0" rIns="0" bIns="0" rtlCol="0" anchor="t">
            <a:spAutoFit/>
          </a:bodyPr>
          <a:lstStyle/>
          <a:p>
            <a:pPr>
              <a:lnSpc>
                <a:spcPts val="4746"/>
              </a:lnSpc>
            </a:pPr>
            <a:r>
              <a:rPr lang="en-US" sz="6600" b="1" dirty="0" smtClean="0">
                <a:solidFill>
                  <a:schemeClr val="bg1"/>
                </a:solidFill>
                <a:latin typeface="Canva Sans"/>
                <a:ea typeface="Canva Sans"/>
                <a:cs typeface="Canva Sans"/>
                <a:sym typeface="Canva Sans"/>
              </a:rPr>
              <a:t>PROBLEM STATEMENT</a:t>
            </a:r>
            <a:endParaRPr lang="en-US" sz="6600" b="1" dirty="0">
              <a:solidFill>
                <a:schemeClr val="bg1"/>
              </a:solidFill>
              <a:latin typeface="Canva Sans"/>
              <a:ea typeface="Canva Sans"/>
              <a:cs typeface="Canva Sans"/>
              <a:sym typeface="Canva Sans"/>
            </a:endParaRPr>
          </a:p>
        </p:txBody>
      </p:sp>
    </p:spTree>
    <p:extLst>
      <p:ext uri="{BB962C8B-B14F-4D97-AF65-F5344CB8AC3E}">
        <p14:creationId xmlns:p14="http://schemas.microsoft.com/office/powerpoint/2010/main" val="3222524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46134" y="246479"/>
            <a:ext cx="9031266" cy="1141338"/>
          </a:xfrm>
          <a:prstGeom prst="rect">
            <a:avLst/>
          </a:prstGeom>
        </p:spPr>
        <p:txBody>
          <a:bodyPr wrap="square" lIns="0" tIns="0" rIns="0" bIns="0" rtlCol="0" anchor="t">
            <a:spAutoFit/>
          </a:bodyPr>
          <a:lstStyle/>
          <a:p>
            <a:pPr algn="ctr">
              <a:lnSpc>
                <a:spcPts val="8899"/>
              </a:lnSpc>
            </a:pPr>
            <a:r>
              <a:rPr lang="en-US" sz="6356" b="1" dirty="0">
                <a:solidFill>
                  <a:srgbClr val="FFFFFF"/>
                </a:solidFill>
                <a:latin typeface="Canva Sans Bold"/>
                <a:ea typeface="Canva Sans Bold"/>
                <a:cs typeface="Canva Sans Bold"/>
                <a:sym typeface="Canva Sans Bold"/>
              </a:rPr>
              <a:t>PROPOSED SYSTEM</a:t>
            </a:r>
          </a:p>
        </p:txBody>
      </p:sp>
      <p:sp>
        <p:nvSpPr>
          <p:cNvPr id="3" name="TextBox 3"/>
          <p:cNvSpPr txBox="1"/>
          <p:nvPr/>
        </p:nvSpPr>
        <p:spPr>
          <a:xfrm>
            <a:off x="646134" y="1819592"/>
            <a:ext cx="16995732" cy="8381365"/>
          </a:xfrm>
          <a:prstGeom prst="rect">
            <a:avLst/>
          </a:prstGeom>
        </p:spPr>
        <p:txBody>
          <a:bodyPr lIns="0" tIns="0" rIns="0" bIns="0" rtlCol="0" anchor="t">
            <a:spAutoFit/>
          </a:bodyPr>
          <a:lstStyle/>
          <a:p>
            <a:pPr algn="l">
              <a:lnSpc>
                <a:spcPts val="4759"/>
              </a:lnSpc>
            </a:pPr>
            <a:r>
              <a:rPr lang="en-US" sz="3399">
                <a:solidFill>
                  <a:srgbClr val="FFFFFF"/>
                </a:solidFill>
                <a:latin typeface="Canva Sans"/>
                <a:ea typeface="Canva Sans"/>
                <a:cs typeface="Canva Sans"/>
                <a:sym typeface="Canva Sans"/>
              </a:rPr>
              <a:t>✔ </a:t>
            </a:r>
            <a:r>
              <a:rPr lang="en-US" sz="3399" b="1">
                <a:solidFill>
                  <a:srgbClr val="FFFFFF"/>
                </a:solidFill>
                <a:latin typeface="Canva Sans Bold"/>
                <a:ea typeface="Canva Sans Bold"/>
                <a:cs typeface="Canva Sans Bold"/>
                <a:sym typeface="Canva Sans Bold"/>
              </a:rPr>
              <a:t>K-Means Clustering</a:t>
            </a:r>
          </a:p>
          <a:p>
            <a:pPr algn="l">
              <a:lnSpc>
                <a:spcPts val="4759"/>
              </a:lnSpc>
            </a:pPr>
            <a:r>
              <a:rPr lang="en-US" sz="3399">
                <a:solidFill>
                  <a:srgbClr val="FFFFFF"/>
                </a:solidFill>
                <a:latin typeface="Canva Sans"/>
                <a:ea typeface="Canva Sans"/>
                <a:cs typeface="Canva Sans"/>
                <a:sym typeface="Canva Sans"/>
              </a:rPr>
              <a:t>Groups nodes based on location, creates balanced clusters, and reduces communication distance.</a:t>
            </a:r>
          </a:p>
          <a:p>
            <a:pPr algn="l">
              <a:lnSpc>
                <a:spcPts val="4759"/>
              </a:lnSpc>
            </a:pPr>
            <a:endParaRPr lang="en-US" sz="3399">
              <a:solidFill>
                <a:srgbClr val="FFFFFF"/>
              </a:solidFill>
              <a:latin typeface="Canva Sans"/>
              <a:ea typeface="Canva Sans"/>
              <a:cs typeface="Canva Sans"/>
              <a:sym typeface="Canva Sans"/>
            </a:endParaRPr>
          </a:p>
          <a:p>
            <a:pPr algn="l">
              <a:lnSpc>
                <a:spcPts val="4759"/>
              </a:lnSpc>
            </a:pPr>
            <a:r>
              <a:rPr lang="en-US" sz="3399">
                <a:solidFill>
                  <a:srgbClr val="FFFFFF"/>
                </a:solidFill>
                <a:latin typeface="Canva Sans"/>
                <a:ea typeface="Canva Sans"/>
                <a:cs typeface="Canva Sans"/>
                <a:sym typeface="Canva Sans"/>
              </a:rPr>
              <a:t>✔</a:t>
            </a:r>
            <a:r>
              <a:rPr lang="en-US" sz="3399" b="1">
                <a:solidFill>
                  <a:srgbClr val="FFFFFF"/>
                </a:solidFill>
                <a:latin typeface="Canva Sans Bold"/>
                <a:ea typeface="Canva Sans Bold"/>
                <a:cs typeface="Canva Sans Bold"/>
                <a:sym typeface="Canva Sans Bold"/>
              </a:rPr>
              <a:t> Q-Learning Routing</a:t>
            </a:r>
          </a:p>
          <a:p>
            <a:pPr algn="l">
              <a:lnSpc>
                <a:spcPts val="4759"/>
              </a:lnSpc>
            </a:pPr>
            <a:r>
              <a:rPr lang="en-US" sz="3399">
                <a:solidFill>
                  <a:srgbClr val="FFFFFF"/>
                </a:solidFill>
                <a:latin typeface="Canva Sans"/>
                <a:ea typeface="Canva Sans"/>
                <a:cs typeface="Canva Sans"/>
                <a:sym typeface="Canva Sans"/>
              </a:rPr>
              <a:t>Learns optimal multi-hop routes using rewards based on energy, hop count, and successful delivery.</a:t>
            </a:r>
          </a:p>
          <a:p>
            <a:pPr algn="l">
              <a:lnSpc>
                <a:spcPts val="4759"/>
              </a:lnSpc>
            </a:pPr>
            <a:endParaRPr lang="en-US" sz="3399">
              <a:solidFill>
                <a:srgbClr val="FFFFFF"/>
              </a:solidFill>
              <a:latin typeface="Canva Sans"/>
              <a:ea typeface="Canva Sans"/>
              <a:cs typeface="Canva Sans"/>
              <a:sym typeface="Canva Sans"/>
            </a:endParaRPr>
          </a:p>
          <a:p>
            <a:pPr algn="l">
              <a:lnSpc>
                <a:spcPts val="4759"/>
              </a:lnSpc>
            </a:pPr>
            <a:r>
              <a:rPr lang="en-US" sz="3399">
                <a:solidFill>
                  <a:srgbClr val="FFFFFF"/>
                </a:solidFill>
                <a:latin typeface="Canva Sans"/>
                <a:ea typeface="Canva Sans"/>
                <a:cs typeface="Canva Sans"/>
                <a:sym typeface="Canva Sans"/>
              </a:rPr>
              <a:t>✔ </a:t>
            </a:r>
            <a:r>
              <a:rPr lang="en-US" sz="3399" b="1">
                <a:solidFill>
                  <a:srgbClr val="FFFFFF"/>
                </a:solidFill>
                <a:latin typeface="Canva Sans Bold"/>
                <a:ea typeface="Canva Sans Bold"/>
                <a:cs typeface="Canva Sans Bold"/>
                <a:sym typeface="Canva Sans Bold"/>
              </a:rPr>
              <a:t>Energy Model</a:t>
            </a:r>
          </a:p>
          <a:p>
            <a:pPr algn="l">
              <a:lnSpc>
                <a:spcPts val="4759"/>
              </a:lnSpc>
            </a:pPr>
            <a:r>
              <a:rPr lang="en-US" sz="3399">
                <a:solidFill>
                  <a:srgbClr val="FFFFFF"/>
                </a:solidFill>
                <a:latin typeface="Canva Sans"/>
                <a:ea typeface="Canva Sans"/>
                <a:cs typeface="Canva Sans"/>
                <a:sym typeface="Canva Sans"/>
              </a:rPr>
              <a:t>Tracks transmission, reception, and aggregation energy.</a:t>
            </a:r>
          </a:p>
          <a:p>
            <a:pPr algn="l">
              <a:lnSpc>
                <a:spcPts val="4759"/>
              </a:lnSpc>
            </a:pPr>
            <a:endParaRPr lang="en-US" sz="3399">
              <a:solidFill>
                <a:srgbClr val="FFFFFF"/>
              </a:solidFill>
              <a:latin typeface="Canva Sans"/>
              <a:ea typeface="Canva Sans"/>
              <a:cs typeface="Canva Sans"/>
              <a:sym typeface="Canva Sans"/>
            </a:endParaRPr>
          </a:p>
          <a:p>
            <a:pPr algn="l">
              <a:lnSpc>
                <a:spcPts val="4759"/>
              </a:lnSpc>
            </a:pPr>
            <a:r>
              <a:rPr lang="en-US" sz="3399">
                <a:solidFill>
                  <a:srgbClr val="FFFFFF"/>
                </a:solidFill>
                <a:latin typeface="Canva Sans"/>
                <a:ea typeface="Canva Sans"/>
                <a:cs typeface="Canva Sans"/>
                <a:sym typeface="Canva Sans"/>
              </a:rPr>
              <a:t>✔ </a:t>
            </a:r>
            <a:r>
              <a:rPr lang="en-US" sz="3399" b="1">
                <a:solidFill>
                  <a:srgbClr val="FFFFFF"/>
                </a:solidFill>
                <a:latin typeface="Canva Sans Bold"/>
                <a:ea typeface="Canva Sans Bold"/>
                <a:cs typeface="Canva Sans Bold"/>
                <a:sym typeface="Canva Sans Bold"/>
              </a:rPr>
              <a:t>Performance Evaluation</a:t>
            </a:r>
          </a:p>
          <a:p>
            <a:pPr algn="l">
              <a:lnSpc>
                <a:spcPts val="4759"/>
              </a:lnSpc>
            </a:pPr>
            <a:r>
              <a:rPr lang="en-US" sz="3399">
                <a:solidFill>
                  <a:srgbClr val="FFFFFF"/>
                </a:solidFill>
                <a:latin typeface="Canva Sans"/>
                <a:ea typeface="Canva Sans"/>
                <a:cs typeface="Canva Sans"/>
                <a:sym typeface="Canva Sans"/>
              </a:rPr>
              <a:t>Compares with LEACH, DMHT-LEACH, and modern methods like EECDA.</a:t>
            </a:r>
          </a:p>
          <a:p>
            <a:pPr algn="ctr">
              <a:lnSpc>
                <a:spcPts val="4759"/>
              </a:lnSpc>
            </a:pPr>
            <a:endParaRPr lang="en-US" sz="3399">
              <a:solidFill>
                <a:srgbClr val="FFFFFF"/>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499059" y="422064"/>
            <a:ext cx="15114006" cy="1089447"/>
          </a:xfrm>
          <a:prstGeom prst="rect">
            <a:avLst/>
          </a:prstGeom>
        </p:spPr>
        <p:txBody>
          <a:bodyPr lIns="0" tIns="0" rIns="0" bIns="0" rtlCol="0" anchor="t">
            <a:spAutoFit/>
          </a:bodyPr>
          <a:lstStyle/>
          <a:p>
            <a:pPr algn="ctr">
              <a:lnSpc>
                <a:spcPts val="8914"/>
              </a:lnSpc>
            </a:pPr>
            <a:r>
              <a:rPr lang="en-US" sz="6367" b="1">
                <a:solidFill>
                  <a:srgbClr val="FFFFFF"/>
                </a:solidFill>
                <a:latin typeface="Canva Sans Bold"/>
                <a:ea typeface="Canva Sans Bold"/>
                <a:cs typeface="Canva Sans Bold"/>
                <a:sym typeface="Canva Sans Bold"/>
              </a:rPr>
              <a:t>ADVANTAGES OF PROPOSED SYSTEM</a:t>
            </a:r>
          </a:p>
        </p:txBody>
      </p:sp>
      <p:sp>
        <p:nvSpPr>
          <p:cNvPr id="3" name="TextBox 3"/>
          <p:cNvSpPr txBox="1"/>
          <p:nvPr/>
        </p:nvSpPr>
        <p:spPr>
          <a:xfrm>
            <a:off x="1416857" y="2410142"/>
            <a:ext cx="10216510" cy="6129504"/>
          </a:xfrm>
          <a:prstGeom prst="rect">
            <a:avLst/>
          </a:prstGeom>
        </p:spPr>
        <p:txBody>
          <a:bodyPr lIns="0" tIns="0" rIns="0" bIns="0" rtlCol="0" anchor="t">
            <a:spAutoFit/>
          </a:bodyPr>
          <a:lstStyle/>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Increased network lifetime</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Reduced energy consumption</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Balanced load distribution</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Better packet delivery rate</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Adaptive routing with learning behavior</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Supports large-scale WSN deployments</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Minimal packet loss</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Optimized energy usage across nodes</a:t>
            </a:r>
          </a:p>
          <a:p>
            <a:pPr algn="l">
              <a:lnSpc>
                <a:spcPts val="5421"/>
              </a:lnSpc>
            </a:pPr>
            <a:endParaRPr lang="en-US" sz="3872">
              <a:solidFill>
                <a:srgbClr val="FFFFFF"/>
              </a:solidFill>
              <a:latin typeface="Canva Sans"/>
              <a:ea typeface="Canva Sans"/>
              <a:cs typeface="Canva Sans"/>
              <a:sym typeface="Canv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344985" y="2264837"/>
            <a:ext cx="3086100" cy="1827886"/>
            <a:chOff x="0" y="0"/>
            <a:chExt cx="812800" cy="481419"/>
          </a:xfrm>
        </p:grpSpPr>
        <p:sp>
          <p:nvSpPr>
            <p:cNvPr id="3" name="Freeform 3"/>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49"/>
                    <a:pt x="721824" y="481419"/>
                    <a:pt x="609600" y="481419"/>
                  </a:cubicBezTo>
                  <a:lnTo>
                    <a:pt x="203200" y="481419"/>
                  </a:lnTo>
                  <a:cubicBezTo>
                    <a:pt x="90976" y="481419"/>
                    <a:pt x="0" y="373649"/>
                    <a:pt x="0" y="240709"/>
                  </a:cubicBezTo>
                  <a:cubicBezTo>
                    <a:pt x="0" y="107769"/>
                    <a:pt x="90976" y="0"/>
                    <a:pt x="203200" y="0"/>
                  </a:cubicBezTo>
                  <a:close/>
                </a:path>
              </a:pathLst>
            </a:custGeom>
            <a:solidFill>
              <a:srgbClr val="1A1B39"/>
            </a:solidFill>
          </p:spPr>
        </p:sp>
        <p:sp>
          <p:nvSpPr>
            <p:cNvPr id="4" name="TextBox 4"/>
            <p:cNvSpPr txBox="1"/>
            <p:nvPr/>
          </p:nvSpPr>
          <p:spPr>
            <a:xfrm>
              <a:off x="0" y="-57150"/>
              <a:ext cx="812800" cy="538569"/>
            </a:xfrm>
            <a:prstGeom prst="rect">
              <a:avLst/>
            </a:prstGeom>
          </p:spPr>
          <p:txBody>
            <a:bodyPr lIns="50800" tIns="50800" rIns="50800" bIns="50800" rtlCol="0" anchor="ctr"/>
            <a:lstStyle/>
            <a:p>
              <a:pPr algn="ctr">
                <a:lnSpc>
                  <a:spcPts val="4479"/>
                </a:lnSpc>
                <a:spcBef>
                  <a:spcPct val="0"/>
                </a:spcBef>
              </a:pPr>
              <a:r>
                <a:rPr lang="en-US" sz="3199">
                  <a:solidFill>
                    <a:srgbClr val="FFFFFF"/>
                  </a:solidFill>
                  <a:latin typeface="Canva Sans"/>
                  <a:ea typeface="Canva Sans"/>
                  <a:cs typeface="Canva Sans"/>
                  <a:sym typeface="Canva Sans"/>
                </a:rPr>
                <a:t>Data Collection &amp; Initialization</a:t>
              </a:r>
            </a:p>
          </p:txBody>
        </p:sp>
      </p:grpSp>
      <p:grpSp>
        <p:nvGrpSpPr>
          <p:cNvPr id="5" name="Group 5"/>
          <p:cNvGrpSpPr/>
          <p:nvPr/>
        </p:nvGrpSpPr>
        <p:grpSpPr>
          <a:xfrm>
            <a:off x="7094472" y="2264837"/>
            <a:ext cx="3086100" cy="1827887"/>
            <a:chOff x="0" y="0"/>
            <a:chExt cx="812800" cy="481419"/>
          </a:xfrm>
        </p:grpSpPr>
        <p:sp>
          <p:nvSpPr>
            <p:cNvPr id="6" name="Freeform 6"/>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50"/>
                    <a:pt x="721824" y="481419"/>
                    <a:pt x="609600" y="481419"/>
                  </a:cubicBezTo>
                  <a:lnTo>
                    <a:pt x="203200" y="481419"/>
                  </a:lnTo>
                  <a:cubicBezTo>
                    <a:pt x="90976" y="481419"/>
                    <a:pt x="0" y="373650"/>
                    <a:pt x="0" y="240709"/>
                  </a:cubicBezTo>
                  <a:cubicBezTo>
                    <a:pt x="0" y="107769"/>
                    <a:pt x="90976" y="0"/>
                    <a:pt x="203200" y="0"/>
                  </a:cubicBezTo>
                  <a:close/>
                </a:path>
              </a:pathLst>
            </a:custGeom>
            <a:solidFill>
              <a:srgbClr val="1A1B39"/>
            </a:solidFill>
          </p:spPr>
        </p:sp>
        <p:sp>
          <p:nvSpPr>
            <p:cNvPr id="7" name="TextBox 7"/>
            <p:cNvSpPr txBox="1"/>
            <p:nvPr/>
          </p:nvSpPr>
          <p:spPr>
            <a:xfrm>
              <a:off x="0" y="-57150"/>
              <a:ext cx="812800" cy="538569"/>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K-Means Clustering</a:t>
              </a:r>
            </a:p>
            <a:p>
              <a:pPr algn="ctr">
                <a:lnSpc>
                  <a:spcPts val="4480"/>
                </a:lnSpc>
                <a:spcBef>
                  <a:spcPct val="0"/>
                </a:spcBef>
              </a:pPr>
              <a:endParaRPr lang="en-US" sz="3200">
                <a:solidFill>
                  <a:srgbClr val="FFFFFF"/>
                </a:solidFill>
                <a:latin typeface="Canva Sans"/>
                <a:ea typeface="Canva Sans"/>
                <a:cs typeface="Canva Sans"/>
                <a:sym typeface="Canva Sans"/>
              </a:endParaRPr>
            </a:p>
          </p:txBody>
        </p:sp>
      </p:grpSp>
      <p:grpSp>
        <p:nvGrpSpPr>
          <p:cNvPr id="8" name="Group 8"/>
          <p:cNvGrpSpPr/>
          <p:nvPr/>
        </p:nvGrpSpPr>
        <p:grpSpPr>
          <a:xfrm rot="14396">
            <a:off x="13103659" y="2407255"/>
            <a:ext cx="3086100" cy="1543050"/>
            <a:chOff x="0" y="0"/>
            <a:chExt cx="812800" cy="406400"/>
          </a:xfrm>
        </p:grpSpPr>
        <p:sp>
          <p:nvSpPr>
            <p:cNvPr id="9" name="Freeform 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1A1B39"/>
            </a:solidFill>
          </p:spPr>
        </p:sp>
        <p:sp>
          <p:nvSpPr>
            <p:cNvPr id="10" name="TextBox 10"/>
            <p:cNvSpPr txBox="1"/>
            <p:nvPr/>
          </p:nvSpPr>
          <p:spPr>
            <a:xfrm>
              <a:off x="0" y="-57150"/>
              <a:ext cx="812800" cy="463550"/>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Q-Learning-Based Routing</a:t>
              </a:r>
            </a:p>
          </p:txBody>
        </p:sp>
      </p:grpSp>
      <p:grpSp>
        <p:nvGrpSpPr>
          <p:cNvPr id="11" name="Group 11"/>
          <p:cNvGrpSpPr/>
          <p:nvPr/>
        </p:nvGrpSpPr>
        <p:grpSpPr>
          <a:xfrm rot="70758">
            <a:off x="13088393" y="5587180"/>
            <a:ext cx="3086100" cy="1827887"/>
            <a:chOff x="0" y="0"/>
            <a:chExt cx="812800" cy="481419"/>
          </a:xfrm>
        </p:grpSpPr>
        <p:sp>
          <p:nvSpPr>
            <p:cNvPr id="12" name="Freeform 12"/>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50"/>
                    <a:pt x="721824" y="481419"/>
                    <a:pt x="609600" y="481419"/>
                  </a:cubicBezTo>
                  <a:lnTo>
                    <a:pt x="203200" y="481419"/>
                  </a:lnTo>
                  <a:cubicBezTo>
                    <a:pt x="90976" y="481419"/>
                    <a:pt x="0" y="373650"/>
                    <a:pt x="0" y="240709"/>
                  </a:cubicBezTo>
                  <a:cubicBezTo>
                    <a:pt x="0" y="107769"/>
                    <a:pt x="90976" y="0"/>
                    <a:pt x="203200" y="0"/>
                  </a:cubicBezTo>
                  <a:close/>
                </a:path>
              </a:pathLst>
            </a:custGeom>
            <a:solidFill>
              <a:srgbClr val="1A1B39"/>
            </a:solidFill>
          </p:spPr>
        </p:sp>
        <p:sp>
          <p:nvSpPr>
            <p:cNvPr id="13" name="TextBox 13"/>
            <p:cNvSpPr txBox="1"/>
            <p:nvPr/>
          </p:nvSpPr>
          <p:spPr>
            <a:xfrm>
              <a:off x="0" y="-57150"/>
              <a:ext cx="812800" cy="538569"/>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Energy Consumption Analysis</a:t>
              </a:r>
            </a:p>
          </p:txBody>
        </p:sp>
      </p:grpSp>
      <p:grpSp>
        <p:nvGrpSpPr>
          <p:cNvPr id="14" name="Group 14"/>
          <p:cNvGrpSpPr/>
          <p:nvPr/>
        </p:nvGrpSpPr>
        <p:grpSpPr>
          <a:xfrm rot="-78141">
            <a:off x="7245559" y="5552344"/>
            <a:ext cx="3086100" cy="1827887"/>
            <a:chOff x="0" y="0"/>
            <a:chExt cx="737617" cy="436888"/>
          </a:xfrm>
        </p:grpSpPr>
        <p:sp>
          <p:nvSpPr>
            <p:cNvPr id="15" name="Freeform 15"/>
            <p:cNvSpPr/>
            <p:nvPr/>
          </p:nvSpPr>
          <p:spPr>
            <a:xfrm>
              <a:off x="0" y="0"/>
              <a:ext cx="737617" cy="436888"/>
            </a:xfrm>
            <a:custGeom>
              <a:avLst/>
              <a:gdLst/>
              <a:ahLst/>
              <a:cxnLst/>
              <a:rect l="l" t="t" r="r" b="b"/>
              <a:pathLst>
                <a:path w="737617" h="436888">
                  <a:moveTo>
                    <a:pt x="534417" y="0"/>
                  </a:moveTo>
                  <a:cubicBezTo>
                    <a:pt x="646641" y="0"/>
                    <a:pt x="737617" y="97801"/>
                    <a:pt x="737617" y="218444"/>
                  </a:cubicBezTo>
                  <a:cubicBezTo>
                    <a:pt x="737617" y="339087"/>
                    <a:pt x="646641" y="436888"/>
                    <a:pt x="534417" y="436888"/>
                  </a:cubicBezTo>
                  <a:lnTo>
                    <a:pt x="203200" y="436888"/>
                  </a:lnTo>
                  <a:cubicBezTo>
                    <a:pt x="90976" y="436888"/>
                    <a:pt x="0" y="339087"/>
                    <a:pt x="0" y="218444"/>
                  </a:cubicBezTo>
                  <a:cubicBezTo>
                    <a:pt x="0" y="97801"/>
                    <a:pt x="90976" y="0"/>
                    <a:pt x="203200" y="0"/>
                  </a:cubicBezTo>
                  <a:close/>
                </a:path>
              </a:pathLst>
            </a:custGeom>
            <a:solidFill>
              <a:srgbClr val="1A1B39"/>
            </a:solidFill>
          </p:spPr>
        </p:sp>
        <p:sp>
          <p:nvSpPr>
            <p:cNvPr id="16" name="TextBox 16"/>
            <p:cNvSpPr txBox="1"/>
            <p:nvPr/>
          </p:nvSpPr>
          <p:spPr>
            <a:xfrm>
              <a:off x="0" y="-57150"/>
              <a:ext cx="737617" cy="494038"/>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Performance Evaluation</a:t>
              </a:r>
            </a:p>
          </p:txBody>
        </p:sp>
      </p:grpSp>
      <p:grpSp>
        <p:nvGrpSpPr>
          <p:cNvPr id="17" name="Group 17"/>
          <p:cNvGrpSpPr/>
          <p:nvPr/>
        </p:nvGrpSpPr>
        <p:grpSpPr>
          <a:xfrm>
            <a:off x="1344985" y="5587180"/>
            <a:ext cx="3086100" cy="1827887"/>
            <a:chOff x="0" y="0"/>
            <a:chExt cx="812800" cy="481419"/>
          </a:xfrm>
        </p:grpSpPr>
        <p:sp>
          <p:nvSpPr>
            <p:cNvPr id="18" name="Freeform 18"/>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50"/>
                    <a:pt x="721824" y="481419"/>
                    <a:pt x="609600" y="481419"/>
                  </a:cubicBezTo>
                  <a:lnTo>
                    <a:pt x="203200" y="481419"/>
                  </a:lnTo>
                  <a:cubicBezTo>
                    <a:pt x="90976" y="481419"/>
                    <a:pt x="0" y="373650"/>
                    <a:pt x="0" y="240709"/>
                  </a:cubicBezTo>
                  <a:cubicBezTo>
                    <a:pt x="0" y="107769"/>
                    <a:pt x="90976" y="0"/>
                    <a:pt x="203200" y="0"/>
                  </a:cubicBezTo>
                  <a:close/>
                </a:path>
              </a:pathLst>
            </a:custGeom>
            <a:solidFill>
              <a:srgbClr val="1A1B39"/>
            </a:solidFill>
          </p:spPr>
        </p:sp>
        <p:sp>
          <p:nvSpPr>
            <p:cNvPr id="19" name="TextBox 19"/>
            <p:cNvSpPr txBox="1"/>
            <p:nvPr/>
          </p:nvSpPr>
          <p:spPr>
            <a:xfrm>
              <a:off x="0" y="-57150"/>
              <a:ext cx="812800" cy="538569"/>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Results Visualization &amp; Analysis</a:t>
              </a:r>
            </a:p>
          </p:txBody>
        </p:sp>
      </p:grpSp>
      <p:sp>
        <p:nvSpPr>
          <p:cNvPr id="20" name="TextBox 20"/>
          <p:cNvSpPr txBox="1"/>
          <p:nvPr/>
        </p:nvSpPr>
        <p:spPr>
          <a:xfrm>
            <a:off x="836277" y="425438"/>
            <a:ext cx="7774323" cy="1141338"/>
          </a:xfrm>
          <a:prstGeom prst="rect">
            <a:avLst/>
          </a:prstGeom>
        </p:spPr>
        <p:txBody>
          <a:bodyPr wrap="square" lIns="0" tIns="0" rIns="0" bIns="0" rtlCol="0" anchor="t">
            <a:spAutoFit/>
          </a:bodyPr>
          <a:lstStyle/>
          <a:p>
            <a:pPr algn="ctr">
              <a:lnSpc>
                <a:spcPts val="8852"/>
              </a:lnSpc>
            </a:pPr>
            <a:r>
              <a:rPr lang="en-US" sz="6323" b="1" dirty="0">
                <a:solidFill>
                  <a:srgbClr val="FFFFFF"/>
                </a:solidFill>
                <a:latin typeface="Canva Sans Bold"/>
                <a:ea typeface="Canva Sans Bold"/>
                <a:cs typeface="Canva Sans Bold"/>
                <a:sym typeface="Canva Sans Bold"/>
              </a:rPr>
              <a:t>LIST OF MODULES</a:t>
            </a:r>
          </a:p>
        </p:txBody>
      </p:sp>
      <p:sp>
        <p:nvSpPr>
          <p:cNvPr id="21" name="AutoShape 21"/>
          <p:cNvSpPr/>
          <p:nvPr/>
        </p:nvSpPr>
        <p:spPr>
          <a:xfrm flipV="1">
            <a:off x="4431085" y="3178781"/>
            <a:ext cx="2663386" cy="19050"/>
          </a:xfrm>
          <a:prstGeom prst="line">
            <a:avLst/>
          </a:prstGeom>
          <a:ln w="38100" cap="flat">
            <a:solidFill>
              <a:srgbClr val="FFFFFF"/>
            </a:solidFill>
            <a:prstDash val="solid"/>
            <a:headEnd type="none" w="sm" len="sm"/>
            <a:tailEnd type="none" w="sm" len="sm"/>
          </a:ln>
        </p:spPr>
      </p:sp>
      <p:sp>
        <p:nvSpPr>
          <p:cNvPr id="22" name="AutoShape 22"/>
          <p:cNvSpPr/>
          <p:nvPr/>
        </p:nvSpPr>
        <p:spPr>
          <a:xfrm>
            <a:off x="4431085" y="6501123"/>
            <a:ext cx="2814872" cy="236"/>
          </a:xfrm>
          <a:prstGeom prst="line">
            <a:avLst/>
          </a:prstGeom>
          <a:ln w="38100" cap="flat">
            <a:solidFill>
              <a:srgbClr val="FFFFFF"/>
            </a:solidFill>
            <a:prstDash val="solid"/>
            <a:headEnd type="none" w="sm" len="sm"/>
            <a:tailEnd type="none" w="sm" len="sm"/>
          </a:ln>
        </p:spPr>
      </p:sp>
      <p:sp>
        <p:nvSpPr>
          <p:cNvPr id="23" name="AutoShape 23"/>
          <p:cNvSpPr/>
          <p:nvPr/>
        </p:nvSpPr>
        <p:spPr>
          <a:xfrm flipV="1">
            <a:off x="10180572" y="3172318"/>
            <a:ext cx="2923100" cy="6462"/>
          </a:xfrm>
          <a:prstGeom prst="line">
            <a:avLst/>
          </a:prstGeom>
          <a:ln w="38100" cap="flat">
            <a:solidFill>
              <a:srgbClr val="FFFFFF"/>
            </a:solidFill>
            <a:prstDash val="solid"/>
            <a:headEnd type="none" w="sm" len="sm"/>
            <a:tailEnd type="none" w="sm" len="sm"/>
          </a:ln>
        </p:spPr>
      </p:sp>
      <p:sp>
        <p:nvSpPr>
          <p:cNvPr id="24" name="AutoShape 24"/>
          <p:cNvSpPr/>
          <p:nvPr/>
        </p:nvSpPr>
        <p:spPr>
          <a:xfrm>
            <a:off x="10331260" y="6431217"/>
            <a:ext cx="2757459" cy="38148"/>
          </a:xfrm>
          <a:prstGeom prst="line">
            <a:avLst/>
          </a:prstGeom>
          <a:ln w="38100" cap="flat">
            <a:solidFill>
              <a:srgbClr val="FFFFFF"/>
            </a:solidFill>
            <a:prstDash val="solid"/>
            <a:headEnd type="none" w="sm" len="sm"/>
            <a:tailEnd type="none" w="sm" len="sm"/>
          </a:ln>
        </p:spPr>
      </p:sp>
      <p:sp>
        <p:nvSpPr>
          <p:cNvPr id="25" name="AutoShape 25"/>
          <p:cNvSpPr/>
          <p:nvPr/>
        </p:nvSpPr>
        <p:spPr>
          <a:xfrm flipH="1" flipV="1">
            <a:off x="14643478" y="3950298"/>
            <a:ext cx="6775" cy="1637075"/>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74502" y="425223"/>
            <a:ext cx="10984097" cy="1141338"/>
          </a:xfrm>
          <a:prstGeom prst="rect">
            <a:avLst/>
          </a:prstGeom>
        </p:spPr>
        <p:txBody>
          <a:bodyPr wrap="square" lIns="0" tIns="0" rIns="0" bIns="0" rtlCol="0" anchor="t">
            <a:spAutoFit/>
          </a:bodyPr>
          <a:lstStyle/>
          <a:p>
            <a:pPr algn="ctr">
              <a:lnSpc>
                <a:spcPts val="8856"/>
              </a:lnSpc>
            </a:pPr>
            <a:r>
              <a:rPr lang="en-US" sz="6326" b="1" dirty="0">
                <a:solidFill>
                  <a:srgbClr val="FFFFFF"/>
                </a:solidFill>
                <a:latin typeface="Canva Sans Bold"/>
                <a:ea typeface="Canva Sans Bold"/>
                <a:cs typeface="Canva Sans Bold"/>
                <a:sym typeface="Canva Sans Bold"/>
              </a:rPr>
              <a:t>MODULES EXPLANATION</a:t>
            </a:r>
          </a:p>
        </p:txBody>
      </p:sp>
      <p:sp>
        <p:nvSpPr>
          <p:cNvPr id="3" name="TextBox 3"/>
          <p:cNvSpPr txBox="1"/>
          <p:nvPr/>
        </p:nvSpPr>
        <p:spPr>
          <a:xfrm>
            <a:off x="674503" y="2328893"/>
            <a:ext cx="14422851" cy="6929407"/>
          </a:xfrm>
          <a:prstGeom prst="rect">
            <a:avLst/>
          </a:prstGeom>
        </p:spPr>
        <p:txBody>
          <a:bodyPr lIns="0" tIns="0" rIns="0" bIns="0" rtlCol="0" anchor="t">
            <a:spAutoFit/>
          </a:bodyPr>
          <a:lstStyle/>
          <a:p>
            <a:pPr algn="l">
              <a:lnSpc>
                <a:spcPts val="5014"/>
              </a:lnSpc>
            </a:pPr>
            <a:r>
              <a:rPr lang="en-US" sz="3581" b="1">
                <a:solidFill>
                  <a:srgbClr val="FFFFFF"/>
                </a:solidFill>
                <a:latin typeface="Canva Sans Bold"/>
                <a:ea typeface="Canva Sans Bold"/>
                <a:cs typeface="Canva Sans Bold"/>
                <a:sym typeface="Canva Sans Bold"/>
              </a:rPr>
              <a:t>1. Data Collection &amp; Initialization</a:t>
            </a:r>
          </a:p>
          <a:p>
            <a:pPr marL="773303" lvl="1" indent="-386651" algn="l">
              <a:lnSpc>
                <a:spcPts val="5014"/>
              </a:lnSpc>
              <a:buFont typeface="Arial"/>
              <a:buChar char="•"/>
            </a:pPr>
            <a:r>
              <a:rPr lang="en-US" sz="3581">
                <a:solidFill>
                  <a:srgbClr val="FFFFFF"/>
                </a:solidFill>
                <a:latin typeface="Canva Sans"/>
                <a:ea typeface="Canva Sans"/>
                <a:cs typeface="Canva Sans"/>
                <a:sym typeface="Canva Sans"/>
              </a:rPr>
              <a:t>Deploys nodes</a:t>
            </a:r>
          </a:p>
          <a:p>
            <a:pPr marL="773303" lvl="1" indent="-386651" algn="l">
              <a:lnSpc>
                <a:spcPts val="5014"/>
              </a:lnSpc>
              <a:buFont typeface="Arial"/>
              <a:buChar char="•"/>
            </a:pPr>
            <a:r>
              <a:rPr lang="en-US" sz="3581">
                <a:solidFill>
                  <a:srgbClr val="FFFFFF"/>
                </a:solidFill>
                <a:latin typeface="Canva Sans"/>
                <a:ea typeface="Canva Sans"/>
                <a:cs typeface="Canva Sans"/>
                <a:sym typeface="Canva Sans"/>
              </a:rPr>
              <a:t>Assigns initial energy</a:t>
            </a:r>
          </a:p>
          <a:p>
            <a:pPr marL="773303" lvl="1" indent="-386651" algn="l">
              <a:lnSpc>
                <a:spcPts val="5014"/>
              </a:lnSpc>
              <a:buFont typeface="Arial"/>
              <a:buChar char="•"/>
            </a:pPr>
            <a:r>
              <a:rPr lang="en-US" sz="3581">
                <a:solidFill>
                  <a:srgbClr val="FFFFFF"/>
                </a:solidFill>
                <a:latin typeface="Canva Sans"/>
                <a:ea typeface="Canva Sans"/>
                <a:cs typeface="Canva Sans"/>
                <a:sym typeface="Canva Sans"/>
              </a:rPr>
              <a:t>Defines simulation parameters</a:t>
            </a:r>
          </a:p>
          <a:p>
            <a:pPr marL="773303" lvl="1" indent="-386651" algn="l">
              <a:lnSpc>
                <a:spcPts val="5014"/>
              </a:lnSpc>
              <a:buFont typeface="Arial"/>
              <a:buChar char="•"/>
            </a:pPr>
            <a:r>
              <a:rPr lang="en-US" sz="3581">
                <a:solidFill>
                  <a:srgbClr val="FFFFFF"/>
                </a:solidFill>
                <a:latin typeface="Canva Sans"/>
                <a:ea typeface="Canva Sans"/>
                <a:cs typeface="Canva Sans"/>
                <a:sym typeface="Canva Sans"/>
              </a:rPr>
              <a:t>Sets base station location</a:t>
            </a:r>
          </a:p>
          <a:p>
            <a:pPr marL="773303" lvl="1" indent="-386651" algn="l">
              <a:lnSpc>
                <a:spcPts val="5014"/>
              </a:lnSpc>
              <a:buFont typeface="Arial"/>
              <a:buChar char="•"/>
            </a:pPr>
            <a:endParaRPr lang="en-US" sz="3581">
              <a:solidFill>
                <a:srgbClr val="FFFFFF"/>
              </a:solidFill>
              <a:latin typeface="Canva Sans"/>
              <a:ea typeface="Canva Sans"/>
              <a:cs typeface="Canva Sans"/>
              <a:sym typeface="Canva Sans"/>
            </a:endParaRPr>
          </a:p>
          <a:p>
            <a:pPr algn="l">
              <a:lnSpc>
                <a:spcPts val="5014"/>
              </a:lnSpc>
            </a:pPr>
            <a:r>
              <a:rPr lang="en-US" sz="3581" b="1">
                <a:solidFill>
                  <a:srgbClr val="FFFFFF"/>
                </a:solidFill>
                <a:latin typeface="Canva Sans Bold"/>
                <a:ea typeface="Canva Sans Bold"/>
                <a:cs typeface="Canva Sans Bold"/>
                <a:sym typeface="Canva Sans Bold"/>
              </a:rPr>
              <a:t>2. K-Means Clustering</a:t>
            </a:r>
          </a:p>
          <a:p>
            <a:pPr marL="773303" lvl="1" indent="-386651" algn="l">
              <a:lnSpc>
                <a:spcPts val="5014"/>
              </a:lnSpc>
              <a:buFont typeface="Arial"/>
              <a:buChar char="•"/>
            </a:pPr>
            <a:r>
              <a:rPr lang="en-US" sz="3581">
                <a:solidFill>
                  <a:srgbClr val="FFFFFF"/>
                </a:solidFill>
                <a:latin typeface="Canva Sans"/>
                <a:ea typeface="Canva Sans"/>
                <a:cs typeface="Canva Sans"/>
                <a:sym typeface="Canva Sans"/>
              </a:rPr>
              <a:t>Calculates cluster centers</a:t>
            </a:r>
          </a:p>
          <a:p>
            <a:pPr marL="773303" lvl="1" indent="-386651" algn="l">
              <a:lnSpc>
                <a:spcPts val="5014"/>
              </a:lnSpc>
              <a:buFont typeface="Arial"/>
              <a:buChar char="•"/>
            </a:pPr>
            <a:r>
              <a:rPr lang="en-US" sz="3581">
                <a:solidFill>
                  <a:srgbClr val="FFFFFF"/>
                </a:solidFill>
                <a:latin typeface="Canva Sans"/>
                <a:ea typeface="Canva Sans"/>
                <a:cs typeface="Canva Sans"/>
                <a:sym typeface="Canva Sans"/>
              </a:rPr>
              <a:t>Groups nearest nodes</a:t>
            </a:r>
          </a:p>
          <a:p>
            <a:pPr marL="773303" lvl="1" indent="-386651" algn="l">
              <a:lnSpc>
                <a:spcPts val="5014"/>
              </a:lnSpc>
              <a:buFont typeface="Arial"/>
              <a:buChar char="•"/>
            </a:pPr>
            <a:r>
              <a:rPr lang="en-US" sz="3581">
                <a:solidFill>
                  <a:srgbClr val="FFFFFF"/>
                </a:solidFill>
                <a:latin typeface="Canva Sans"/>
                <a:ea typeface="Canva Sans"/>
                <a:cs typeface="Canva Sans"/>
                <a:sym typeface="Canva Sans"/>
              </a:rPr>
              <a:t>Selects cluster head using distance + energy</a:t>
            </a:r>
          </a:p>
          <a:p>
            <a:pPr algn="l">
              <a:lnSpc>
                <a:spcPts val="5014"/>
              </a:lnSpc>
            </a:pPr>
            <a:endParaRPr lang="en-US" sz="3581">
              <a:solidFill>
                <a:srgbClr val="FFFFFF"/>
              </a:solidFill>
              <a:latin typeface="Canva Sans"/>
              <a:ea typeface="Canva Sans"/>
              <a:cs typeface="Canva Sans"/>
              <a:sym typeface="Canv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825511"/>
            <a:ext cx="13527144" cy="8545722"/>
          </a:xfrm>
          <a:prstGeom prst="rect">
            <a:avLst/>
          </a:prstGeom>
        </p:spPr>
        <p:txBody>
          <a:bodyPr lIns="0" tIns="0" rIns="0" bIns="0" rtlCol="0" anchor="t">
            <a:spAutoFit/>
          </a:bodyPr>
          <a:lstStyle/>
          <a:p>
            <a:pPr algn="l">
              <a:lnSpc>
                <a:spcPts val="5675"/>
              </a:lnSpc>
            </a:pPr>
            <a:r>
              <a:rPr lang="en-US" sz="4054" b="1">
                <a:solidFill>
                  <a:srgbClr val="FFFFFF"/>
                </a:solidFill>
                <a:latin typeface="Canva Sans Bold"/>
                <a:ea typeface="Canva Sans Bold"/>
                <a:cs typeface="Canva Sans Bold"/>
                <a:sym typeface="Canva Sans Bold"/>
              </a:rPr>
              <a:t>3. Q-Learning Routing</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States: distance, energy, neighbors</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Action: choose next-hop node</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Reward: energy saved + successful delivery</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Updated Q-table selects best route</a:t>
            </a:r>
          </a:p>
          <a:p>
            <a:pPr algn="l">
              <a:lnSpc>
                <a:spcPts val="5675"/>
              </a:lnSpc>
            </a:pPr>
            <a:endParaRPr lang="en-US" sz="4054">
              <a:solidFill>
                <a:srgbClr val="FFFFFF"/>
              </a:solidFill>
              <a:latin typeface="Canva Sans"/>
              <a:ea typeface="Canva Sans"/>
              <a:cs typeface="Canva Sans"/>
              <a:sym typeface="Canva Sans"/>
            </a:endParaRPr>
          </a:p>
          <a:p>
            <a:pPr algn="l">
              <a:lnSpc>
                <a:spcPts val="5675"/>
              </a:lnSpc>
            </a:pPr>
            <a:r>
              <a:rPr lang="en-US" sz="4054" b="1">
                <a:solidFill>
                  <a:srgbClr val="FFFFFF"/>
                </a:solidFill>
                <a:latin typeface="Canva Sans Bold"/>
                <a:ea typeface="Canva Sans Bold"/>
                <a:cs typeface="Canva Sans Bold"/>
                <a:sym typeface="Canva Sans Bold"/>
              </a:rPr>
              <a:t>4. Energy Consumption Analysis</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Transmission energy</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Reception energy</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Data aggregation cost</a:t>
            </a:r>
          </a:p>
          <a:p>
            <a:pPr marL="875313" lvl="1" indent="-437657" algn="l">
              <a:lnSpc>
                <a:spcPts val="5675"/>
              </a:lnSpc>
              <a:buFont typeface="Arial"/>
              <a:buChar char="•"/>
            </a:pPr>
            <a:r>
              <a:rPr lang="en-US" sz="4054">
                <a:solidFill>
                  <a:srgbClr val="FFFFFF"/>
                </a:solidFill>
                <a:latin typeface="Canva Sans"/>
                <a:ea typeface="Canva Sans"/>
                <a:cs typeface="Canva Sans"/>
                <a:sym typeface="Canva Sans"/>
              </a:rPr>
              <a:t>Updates remaining node energy</a:t>
            </a:r>
          </a:p>
          <a:p>
            <a:pPr algn="ctr">
              <a:lnSpc>
                <a:spcPts val="5675"/>
              </a:lnSpc>
            </a:pPr>
            <a:endParaRPr lang="en-US" sz="4054">
              <a:solidFill>
                <a:srgbClr val="FFFFFF"/>
              </a:solidFill>
              <a:latin typeface="Canva Sans"/>
              <a:ea typeface="Canva Sans"/>
              <a:cs typeface="Canva Sans"/>
              <a:sym typeface="Canv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93138" y="619442"/>
            <a:ext cx="13638383" cy="8981440"/>
          </a:xfrm>
          <a:prstGeom prst="rect">
            <a:avLst/>
          </a:prstGeom>
        </p:spPr>
        <p:txBody>
          <a:bodyPr lIns="0" tIns="0" rIns="0" bIns="0" rtlCol="0" anchor="t">
            <a:spAutoFit/>
          </a:bodyPr>
          <a:lstStyle/>
          <a:p>
            <a:pPr algn="l">
              <a:lnSpc>
                <a:spcPts val="4759"/>
              </a:lnSpc>
            </a:pPr>
            <a:r>
              <a:rPr lang="en-US" sz="3399" b="1">
                <a:solidFill>
                  <a:srgbClr val="FFFFFF"/>
                </a:solidFill>
                <a:latin typeface="Canva Sans Bold"/>
                <a:ea typeface="Canva Sans Bold"/>
                <a:cs typeface="Canva Sans Bold"/>
                <a:sym typeface="Canva Sans Bold"/>
              </a:rPr>
              <a:t>5. Performance Evaluation</a:t>
            </a:r>
          </a:p>
          <a:p>
            <a:pPr algn="l">
              <a:lnSpc>
                <a:spcPts val="4759"/>
              </a:lnSpc>
            </a:pPr>
            <a:r>
              <a:rPr lang="en-US" sz="3399">
                <a:solidFill>
                  <a:srgbClr val="FFFFFF"/>
                </a:solidFill>
                <a:latin typeface="Canva Sans"/>
                <a:ea typeface="Canva Sans"/>
                <a:cs typeface="Canva Sans"/>
                <a:sym typeface="Canva Sans"/>
              </a:rPr>
              <a:t>Evaluates:</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Alive nodes</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Average energy</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Network lifetime</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Packet delivery ratio</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Comparison with LEACH, DMHT-LEACH, EDMHT-LEACH</a:t>
            </a:r>
          </a:p>
          <a:p>
            <a:pPr algn="l">
              <a:lnSpc>
                <a:spcPts val="4759"/>
              </a:lnSpc>
            </a:pPr>
            <a:endParaRPr lang="en-US" sz="3399">
              <a:solidFill>
                <a:srgbClr val="FFFFFF"/>
              </a:solidFill>
              <a:latin typeface="Canva Sans"/>
              <a:ea typeface="Canva Sans"/>
              <a:cs typeface="Canva Sans"/>
              <a:sym typeface="Canva Sans"/>
            </a:endParaRPr>
          </a:p>
          <a:p>
            <a:pPr algn="l">
              <a:lnSpc>
                <a:spcPts val="4759"/>
              </a:lnSpc>
            </a:pPr>
            <a:r>
              <a:rPr lang="en-US" sz="3399" b="1">
                <a:solidFill>
                  <a:srgbClr val="FFFFFF"/>
                </a:solidFill>
                <a:latin typeface="Canva Sans Bold"/>
                <a:ea typeface="Canva Sans Bold"/>
                <a:cs typeface="Canva Sans Bold"/>
                <a:sym typeface="Canva Sans Bold"/>
              </a:rPr>
              <a:t>6. Results Visualization &amp; Analysis</a:t>
            </a:r>
          </a:p>
          <a:p>
            <a:pPr algn="l">
              <a:lnSpc>
                <a:spcPts val="4759"/>
              </a:lnSpc>
            </a:pPr>
            <a:r>
              <a:rPr lang="en-US" sz="3399">
                <a:solidFill>
                  <a:srgbClr val="FFFFFF"/>
                </a:solidFill>
                <a:latin typeface="Canva Sans"/>
                <a:ea typeface="Canva Sans"/>
                <a:cs typeface="Canva Sans"/>
                <a:sym typeface="Canva Sans"/>
              </a:rPr>
              <a:t>Generates:</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Alive nodes vs rounds</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Remaining energy vs rounds</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Packet received vs rounds</a:t>
            </a:r>
          </a:p>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Comparison charts</a:t>
            </a:r>
          </a:p>
          <a:p>
            <a:pPr algn="l">
              <a:lnSpc>
                <a:spcPts val="4759"/>
              </a:lnSpc>
            </a:pPr>
            <a:endParaRPr lang="en-US" sz="3399">
              <a:solidFill>
                <a:srgbClr val="FFFFFF"/>
              </a:solidFill>
              <a:latin typeface="Canva Sans"/>
              <a:ea typeface="Canva Sans"/>
              <a:cs typeface="Canva Sans"/>
              <a:sym typeface="Canv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827647" y="425474"/>
            <a:ext cx="9704552" cy="1082626"/>
          </a:xfrm>
          <a:prstGeom prst="rect">
            <a:avLst/>
          </a:prstGeom>
        </p:spPr>
        <p:txBody>
          <a:bodyPr lIns="0" tIns="0" rIns="0" bIns="0" rtlCol="0" anchor="t">
            <a:spAutoFit/>
          </a:bodyPr>
          <a:lstStyle/>
          <a:p>
            <a:pPr algn="ctr">
              <a:lnSpc>
                <a:spcPts val="8852"/>
              </a:lnSpc>
            </a:pPr>
            <a:r>
              <a:rPr lang="en-US" sz="6322" b="1">
                <a:solidFill>
                  <a:srgbClr val="FFFFFF"/>
                </a:solidFill>
                <a:latin typeface="Canva Sans Bold"/>
                <a:ea typeface="Canva Sans Bold"/>
                <a:cs typeface="Canva Sans Bold"/>
                <a:sym typeface="Canva Sans Bold"/>
              </a:rPr>
              <a:t>FUTURE ENHANCEMENT</a:t>
            </a:r>
          </a:p>
        </p:txBody>
      </p:sp>
      <p:sp>
        <p:nvSpPr>
          <p:cNvPr id="3" name="TextBox 3"/>
          <p:cNvSpPr txBox="1"/>
          <p:nvPr/>
        </p:nvSpPr>
        <p:spPr>
          <a:xfrm>
            <a:off x="827647" y="2345184"/>
            <a:ext cx="13127514" cy="6913116"/>
          </a:xfrm>
          <a:prstGeom prst="rect">
            <a:avLst/>
          </a:prstGeom>
        </p:spPr>
        <p:txBody>
          <a:bodyPr lIns="0" tIns="0" rIns="0" bIns="0" rtlCol="0" anchor="t">
            <a:spAutoFit/>
          </a:bodyPr>
          <a:lstStyle/>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Introduce Deep Q-Learning (DQN) for more intelligent routing</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Add mobile sensor node support</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Incorporate real-time environmental factors</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Integration with IoT cloud platforms</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Introduce anomaly detection for node failure prediction</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Enable adaptive sleep scheduling</a:t>
            </a:r>
          </a:p>
          <a:p>
            <a:pPr algn="r">
              <a:lnSpc>
                <a:spcPts val="4580"/>
              </a:lnSpc>
            </a:pPr>
            <a:endParaRPr lang="en-US" sz="3271">
              <a:solidFill>
                <a:srgbClr val="FFFFFF"/>
              </a:solidFill>
              <a:latin typeface="Canva Sans"/>
              <a:ea typeface="Canva Sans"/>
              <a:cs typeface="Canva Sans"/>
              <a:sym typeface="Canv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769784" y="523734"/>
            <a:ext cx="5859616" cy="3424014"/>
          </a:xfrm>
          <a:prstGeom prst="rect">
            <a:avLst/>
          </a:prstGeom>
        </p:spPr>
        <p:txBody>
          <a:bodyPr wrap="square" lIns="0" tIns="0" rIns="0" bIns="0" rtlCol="0" anchor="t">
            <a:spAutoFit/>
          </a:bodyPr>
          <a:lstStyle/>
          <a:p>
            <a:pPr algn="ctr">
              <a:lnSpc>
                <a:spcPts val="8878"/>
              </a:lnSpc>
            </a:pPr>
            <a:r>
              <a:rPr lang="en-US" sz="6342" b="1" dirty="0">
                <a:solidFill>
                  <a:srgbClr val="FFFFFF"/>
                </a:solidFill>
                <a:latin typeface="Canva Sans Bold"/>
                <a:ea typeface="Canva Sans Bold"/>
                <a:cs typeface="Canva Sans Bold"/>
                <a:sym typeface="Canva Sans Bold"/>
              </a:rPr>
              <a:t>CONCLUSION</a:t>
            </a:r>
          </a:p>
          <a:p>
            <a:pPr algn="ctr">
              <a:lnSpc>
                <a:spcPts val="8878"/>
              </a:lnSpc>
            </a:pPr>
            <a:endParaRPr lang="en-US" sz="6342" b="1" dirty="0">
              <a:solidFill>
                <a:srgbClr val="FFFFFF"/>
              </a:solidFill>
              <a:latin typeface="Canva Sans Bold"/>
              <a:ea typeface="Canva Sans Bold"/>
              <a:cs typeface="Canva Sans Bold"/>
              <a:sym typeface="Canva Sans Bold"/>
            </a:endParaRPr>
          </a:p>
          <a:p>
            <a:pPr algn="ctr">
              <a:lnSpc>
                <a:spcPts val="8878"/>
              </a:lnSpc>
            </a:pPr>
            <a:endParaRPr lang="en-US" sz="6342" b="1" dirty="0">
              <a:solidFill>
                <a:srgbClr val="FFFFFF"/>
              </a:solidFill>
              <a:latin typeface="Canva Sans Bold"/>
              <a:ea typeface="Canva Sans Bold"/>
              <a:cs typeface="Canva Sans Bold"/>
              <a:sym typeface="Canva Sans Bold"/>
            </a:endParaRPr>
          </a:p>
        </p:txBody>
      </p:sp>
      <p:sp>
        <p:nvSpPr>
          <p:cNvPr id="3" name="TextBox 3"/>
          <p:cNvSpPr txBox="1"/>
          <p:nvPr/>
        </p:nvSpPr>
        <p:spPr>
          <a:xfrm>
            <a:off x="769784" y="2657378"/>
            <a:ext cx="15928476" cy="4624215"/>
          </a:xfrm>
          <a:prstGeom prst="rect">
            <a:avLst/>
          </a:prstGeom>
        </p:spPr>
        <p:txBody>
          <a:bodyPr lIns="0" tIns="0" rIns="0" bIns="0" rtlCol="0" anchor="t">
            <a:spAutoFit/>
          </a:bodyPr>
          <a:lstStyle/>
          <a:p>
            <a:pPr algn="just">
              <a:lnSpc>
                <a:spcPct val="150000"/>
              </a:lnSpc>
            </a:pPr>
            <a:r>
              <a:rPr lang="en-US" sz="3399" dirty="0">
                <a:solidFill>
                  <a:srgbClr val="FFFFFF"/>
                </a:solidFill>
                <a:latin typeface="Canva Sans"/>
                <a:ea typeface="Canva Sans"/>
                <a:cs typeface="Canva Sans"/>
                <a:sym typeface="Canva Sans"/>
              </a:rPr>
              <a:t>The proposed K-Means + Q-Learning model provides an intelligent, adaptive, and energy-efficient routing solution for WSNs. It improves network lifetime, reduces energy consumption, and enhances communication reliability. Compared to existing LEACH-based protocols, it performs significantly better, especially in large networks. This shows that Artificial Intelligence is a powerful tool for optimizing wireless sensor communication.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904875"/>
            <a:ext cx="4696890" cy="1082519"/>
          </a:xfrm>
          <a:prstGeom prst="rect">
            <a:avLst/>
          </a:prstGeom>
        </p:spPr>
        <p:txBody>
          <a:bodyPr lIns="0" tIns="0" rIns="0" bIns="0" rtlCol="0" anchor="t">
            <a:spAutoFit/>
          </a:bodyPr>
          <a:lstStyle/>
          <a:p>
            <a:pPr algn="ctr">
              <a:lnSpc>
                <a:spcPts val="8851"/>
              </a:lnSpc>
            </a:pPr>
            <a:r>
              <a:rPr lang="en-US" sz="6322" b="1">
                <a:solidFill>
                  <a:srgbClr val="FFFFFF"/>
                </a:solidFill>
                <a:latin typeface="Canva Sans Bold"/>
                <a:ea typeface="Canva Sans Bold"/>
                <a:cs typeface="Canva Sans Bold"/>
                <a:sym typeface="Canva Sans Bold"/>
              </a:rPr>
              <a:t>REFERENCE</a:t>
            </a:r>
          </a:p>
        </p:txBody>
      </p:sp>
      <p:sp>
        <p:nvSpPr>
          <p:cNvPr id="3" name="TextBox 3"/>
          <p:cNvSpPr txBox="1"/>
          <p:nvPr/>
        </p:nvSpPr>
        <p:spPr>
          <a:xfrm>
            <a:off x="765572" y="2276529"/>
            <a:ext cx="16493728" cy="6581140"/>
          </a:xfrm>
          <a:prstGeom prst="rect">
            <a:avLst/>
          </a:prstGeom>
        </p:spPr>
        <p:txBody>
          <a:bodyPr lIns="0" tIns="0" rIns="0" bIns="0" rtlCol="0" anchor="t">
            <a:spAutoFit/>
          </a:bodyPr>
          <a:lstStyle/>
          <a:p>
            <a:pPr algn="just">
              <a:lnSpc>
                <a:spcPts val="4759"/>
              </a:lnSpc>
            </a:pPr>
            <a:r>
              <a:rPr lang="en-US" sz="3399">
                <a:solidFill>
                  <a:srgbClr val="FFFFFF"/>
                </a:solidFill>
                <a:latin typeface="Canva Sans"/>
                <a:ea typeface="Canva Sans"/>
                <a:cs typeface="Canva Sans"/>
                <a:sym typeface="Canva Sans"/>
              </a:rPr>
              <a:t>[1] Wan Kyu Yun a nd Sang Jo Yoo “Q Learning Based Data Aggregation Aware</a:t>
            </a:r>
          </a:p>
          <a:p>
            <a:pPr algn="just">
              <a:lnSpc>
                <a:spcPts val="4759"/>
              </a:lnSpc>
            </a:pPr>
            <a:r>
              <a:rPr lang="en-US" sz="3399">
                <a:solidFill>
                  <a:srgbClr val="FFFFFF"/>
                </a:solidFill>
                <a:latin typeface="Canva Sans"/>
                <a:ea typeface="Canva Sans"/>
                <a:cs typeface="Canva Sans"/>
                <a:sym typeface="Canva Sans"/>
              </a:rPr>
              <a:t>Energy Efficient Routing Protocol for Wireless Sensor Networks ”, IEEE</a:t>
            </a:r>
          </a:p>
          <a:p>
            <a:pPr algn="just">
              <a:lnSpc>
                <a:spcPts val="4759"/>
              </a:lnSpc>
            </a:pPr>
            <a:r>
              <a:rPr lang="en-US" sz="3399">
                <a:solidFill>
                  <a:srgbClr val="FFFFFF"/>
                </a:solidFill>
                <a:latin typeface="Canva Sans"/>
                <a:ea typeface="Canva Sans"/>
                <a:cs typeface="Canva Sans"/>
                <a:sym typeface="Canva Sans"/>
              </a:rPr>
              <a:t>International conference,2021.</a:t>
            </a:r>
          </a:p>
          <a:p>
            <a:pPr algn="just">
              <a:lnSpc>
                <a:spcPts val="4759"/>
              </a:lnSpc>
            </a:pPr>
            <a:endParaRPr lang="en-US" sz="3399">
              <a:solidFill>
                <a:srgbClr val="FFFFFF"/>
              </a:solidFill>
              <a:latin typeface="Canva Sans"/>
              <a:ea typeface="Canva Sans"/>
              <a:cs typeface="Canva Sans"/>
              <a:sym typeface="Canva Sans"/>
            </a:endParaRPr>
          </a:p>
          <a:p>
            <a:pPr algn="just">
              <a:lnSpc>
                <a:spcPts val="4759"/>
              </a:lnSpc>
            </a:pPr>
            <a:r>
              <a:rPr lang="en-US" sz="3399">
                <a:solidFill>
                  <a:srgbClr val="FFFFFF"/>
                </a:solidFill>
                <a:latin typeface="Canva Sans"/>
                <a:ea typeface="Canva Sans"/>
                <a:cs typeface="Canva Sans"/>
                <a:sym typeface="Canva Sans"/>
              </a:rPr>
              <a:t>[2] Muhammad Akram, Sibghat Ullah Bazai, Muhammad Imran , EEMLCR:</a:t>
            </a:r>
          </a:p>
          <a:p>
            <a:pPr algn="just">
              <a:lnSpc>
                <a:spcPts val="4759"/>
              </a:lnSpc>
            </a:pPr>
            <a:r>
              <a:rPr lang="en-US" sz="3399">
                <a:solidFill>
                  <a:srgbClr val="FFFFFF"/>
                </a:solidFill>
                <a:latin typeface="Canva Sans"/>
                <a:ea typeface="Canva Sans"/>
                <a:cs typeface="Canva Sans"/>
                <a:sym typeface="Canva Sans"/>
              </a:rPr>
              <a:t>Energy Efficient Machine Learning Based Clustering and Routing for Wireless</a:t>
            </a:r>
          </a:p>
          <a:p>
            <a:pPr algn="just">
              <a:lnSpc>
                <a:spcPts val="4759"/>
              </a:lnSpc>
            </a:pPr>
            <a:r>
              <a:rPr lang="en-US" sz="3399">
                <a:solidFill>
                  <a:srgbClr val="FFFFFF"/>
                </a:solidFill>
                <a:latin typeface="Canva Sans"/>
                <a:ea typeface="Canva Sans"/>
                <a:cs typeface="Canva Sans"/>
                <a:sym typeface="Canva Sans"/>
              </a:rPr>
              <a:t>Sensor Networks IEEE International conference,2025.</a:t>
            </a:r>
          </a:p>
          <a:p>
            <a:pPr algn="just">
              <a:lnSpc>
                <a:spcPts val="4759"/>
              </a:lnSpc>
            </a:pPr>
            <a:endParaRPr lang="en-US" sz="3399">
              <a:solidFill>
                <a:srgbClr val="FFFFFF"/>
              </a:solidFill>
              <a:latin typeface="Canva Sans"/>
              <a:ea typeface="Canva Sans"/>
              <a:cs typeface="Canva Sans"/>
              <a:sym typeface="Canva Sans"/>
            </a:endParaRPr>
          </a:p>
          <a:p>
            <a:pPr algn="just">
              <a:lnSpc>
                <a:spcPts val="4759"/>
              </a:lnSpc>
            </a:pPr>
            <a:r>
              <a:rPr lang="en-US" sz="3399">
                <a:solidFill>
                  <a:srgbClr val="FFFFFF"/>
                </a:solidFill>
                <a:latin typeface="Canva Sans"/>
                <a:ea typeface="Canva Sans"/>
                <a:cs typeface="Canva Sans"/>
                <a:sym typeface="Canva Sans"/>
              </a:rPr>
              <a:t>[3] Salim El Khediri, Awatef Benfradj, “ Integration of artificial intelligence (AI)</a:t>
            </a:r>
          </a:p>
          <a:p>
            <a:pPr algn="just">
              <a:lnSpc>
                <a:spcPts val="4759"/>
              </a:lnSpc>
            </a:pPr>
            <a:r>
              <a:rPr lang="en-US" sz="3399">
                <a:solidFill>
                  <a:srgbClr val="FFFFFF"/>
                </a:solidFill>
                <a:latin typeface="Canva Sans"/>
                <a:ea typeface="Canva Sans"/>
                <a:cs typeface="Canva Sans"/>
                <a:sym typeface="Canva Sans"/>
              </a:rPr>
              <a:t>with sensor networks: Trends, challenges, and future directions” Journal of King</a:t>
            </a:r>
          </a:p>
          <a:p>
            <a:pPr algn="just">
              <a:lnSpc>
                <a:spcPts val="4759"/>
              </a:lnSpc>
            </a:pPr>
            <a:r>
              <a:rPr lang="en-US" sz="3399">
                <a:solidFill>
                  <a:srgbClr val="FFFFFF"/>
                </a:solidFill>
                <a:latin typeface="Canva Sans"/>
                <a:ea typeface="Canva Sans"/>
                <a:cs typeface="Canva Sans"/>
                <a:sym typeface="Canva Sans"/>
              </a:rPr>
              <a:t>Saud University Computer and Information Sciences.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1587681"/>
            <a:ext cx="15948836" cy="6562155"/>
          </a:xfrm>
          <a:prstGeom prst="rect">
            <a:avLst/>
          </a:prstGeom>
        </p:spPr>
        <p:txBody>
          <a:bodyPr lIns="0" tIns="0" rIns="0" bIns="0" rtlCol="0" anchor="t">
            <a:spAutoFit/>
          </a:bodyPr>
          <a:lstStyle/>
          <a:p>
            <a:pPr algn="l">
              <a:lnSpc>
                <a:spcPts val="4746"/>
              </a:lnSpc>
            </a:pPr>
            <a:r>
              <a:rPr lang="en-US" sz="3390">
                <a:solidFill>
                  <a:srgbClr val="FFFFFF"/>
                </a:solidFill>
                <a:latin typeface="Canva Sans"/>
                <a:ea typeface="Canva Sans"/>
                <a:cs typeface="Canva Sans"/>
                <a:sym typeface="Canva Sans"/>
              </a:rPr>
              <a:t>[4] Huda Salih Abd , Asaad S Daghul, An Energy Efficient Scheduling and</a:t>
            </a:r>
          </a:p>
          <a:p>
            <a:pPr algn="l">
              <a:lnSpc>
                <a:spcPts val="4746"/>
              </a:lnSpc>
            </a:pPr>
            <a:r>
              <a:rPr lang="en-US" sz="3390">
                <a:solidFill>
                  <a:srgbClr val="FFFFFF"/>
                </a:solidFill>
                <a:latin typeface="Canva Sans"/>
                <a:ea typeface="Canva Sans"/>
                <a:cs typeface="Canva Sans"/>
                <a:sym typeface="Canva Sans"/>
              </a:rPr>
              <a:t>Routing Protocol Based on Q Learning for WSN Asian Journal of Computing</a:t>
            </a:r>
          </a:p>
          <a:p>
            <a:pPr algn="l">
              <a:lnSpc>
                <a:spcPts val="4746"/>
              </a:lnSpc>
            </a:pPr>
            <a:r>
              <a:rPr lang="en-US" sz="3390">
                <a:solidFill>
                  <a:srgbClr val="FFFFFF"/>
                </a:solidFill>
                <a:latin typeface="Canva Sans"/>
                <a:ea typeface="Canva Sans"/>
                <a:cs typeface="Canva Sans"/>
                <a:sym typeface="Canva Sans"/>
              </a:rPr>
              <a:t>and Engineering Technology.</a:t>
            </a:r>
          </a:p>
          <a:p>
            <a:pPr algn="l">
              <a:lnSpc>
                <a:spcPts val="4746"/>
              </a:lnSpc>
            </a:pPr>
            <a:endParaRPr lang="en-US" sz="3390">
              <a:solidFill>
                <a:srgbClr val="FFFFFF"/>
              </a:solidFill>
              <a:latin typeface="Canva Sans"/>
              <a:ea typeface="Canva Sans"/>
              <a:cs typeface="Canva Sans"/>
              <a:sym typeface="Canva Sans"/>
            </a:endParaRPr>
          </a:p>
          <a:p>
            <a:pPr algn="l">
              <a:lnSpc>
                <a:spcPts val="4746"/>
              </a:lnSpc>
            </a:pPr>
            <a:r>
              <a:rPr lang="en-US" sz="3390">
                <a:solidFill>
                  <a:srgbClr val="FFFFFF"/>
                </a:solidFill>
                <a:latin typeface="Canva Sans"/>
                <a:ea typeface="Canva Sans"/>
                <a:cs typeface="Canva Sans"/>
                <a:sym typeface="Canva Sans"/>
              </a:rPr>
              <a:t>[5] Yan Wang, Ke Deng, Yongli Ren , Jeffrey Chan, Reinforcement Learning for</a:t>
            </a:r>
          </a:p>
          <a:p>
            <a:pPr algn="l">
              <a:lnSpc>
                <a:spcPts val="4746"/>
              </a:lnSpc>
            </a:pPr>
            <a:r>
              <a:rPr lang="en-US" sz="3390">
                <a:solidFill>
                  <a:srgbClr val="FFFFFF"/>
                </a:solidFill>
                <a:latin typeface="Canva Sans"/>
                <a:ea typeface="Canva Sans"/>
                <a:cs typeface="Canva Sans"/>
                <a:sym typeface="Canva Sans"/>
              </a:rPr>
              <a:t>Tackling Energy saving and Energy balance Dilemma of Cluster based Routing</a:t>
            </a:r>
          </a:p>
          <a:p>
            <a:pPr algn="l">
              <a:lnSpc>
                <a:spcPts val="4746"/>
              </a:lnSpc>
            </a:pPr>
            <a:r>
              <a:rPr lang="en-US" sz="3390">
                <a:solidFill>
                  <a:srgbClr val="FFFFFF"/>
                </a:solidFill>
                <a:latin typeface="Canva Sans"/>
                <a:ea typeface="Canva Sans"/>
                <a:cs typeface="Canva Sans"/>
                <a:sym typeface="Canva Sans"/>
              </a:rPr>
              <a:t>Protocols in WSNs IEEE International confer ence,2024.</a:t>
            </a:r>
          </a:p>
          <a:p>
            <a:pPr algn="l">
              <a:lnSpc>
                <a:spcPts val="4746"/>
              </a:lnSpc>
            </a:pPr>
            <a:endParaRPr lang="en-US" sz="3390">
              <a:solidFill>
                <a:srgbClr val="FFFFFF"/>
              </a:solidFill>
              <a:latin typeface="Canva Sans"/>
              <a:ea typeface="Canva Sans"/>
              <a:cs typeface="Canva Sans"/>
              <a:sym typeface="Canva Sans"/>
            </a:endParaRPr>
          </a:p>
          <a:p>
            <a:pPr algn="l">
              <a:lnSpc>
                <a:spcPts val="4746"/>
              </a:lnSpc>
            </a:pPr>
            <a:r>
              <a:rPr lang="en-US" sz="3390">
                <a:solidFill>
                  <a:srgbClr val="FFFFFF"/>
                </a:solidFill>
                <a:latin typeface="Canva Sans"/>
                <a:ea typeface="Canva Sans"/>
                <a:cs typeface="Canva Sans"/>
                <a:sym typeface="Canva Sans"/>
              </a:rPr>
              <a:t>[6] F. A. Khan, M. Khan, M. Asif, A. Khalid, and I. U. Haq, ‘‘Hybrid and multi hop</a:t>
            </a:r>
          </a:p>
          <a:p>
            <a:pPr algn="l">
              <a:lnSpc>
                <a:spcPts val="4746"/>
              </a:lnSpc>
            </a:pPr>
            <a:r>
              <a:rPr lang="en-US" sz="3390">
                <a:solidFill>
                  <a:srgbClr val="FFFFFF"/>
                </a:solidFill>
                <a:latin typeface="Canva Sans"/>
                <a:ea typeface="Canva Sans"/>
                <a:cs typeface="Canva Sans"/>
                <a:sym typeface="Canva Sans"/>
              </a:rPr>
              <a:t>advanced zonal stable election protocol for wireless sensor networks,’’ IEEE</a:t>
            </a:r>
          </a:p>
          <a:p>
            <a:pPr algn="l">
              <a:lnSpc>
                <a:spcPts val="4746"/>
              </a:lnSpc>
            </a:pPr>
            <a:r>
              <a:rPr lang="en-US" sz="3390">
                <a:solidFill>
                  <a:srgbClr val="FFFFFF"/>
                </a:solidFill>
                <a:latin typeface="Canva Sans"/>
                <a:ea typeface="Canva Sans"/>
                <a:cs typeface="Canva Sans"/>
                <a:sym typeface="Canva Sans"/>
              </a:rPr>
              <a:t>Access,2019.</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3200400" y="3467100"/>
            <a:ext cx="12801600" cy="2410916"/>
          </a:xfrm>
          <a:prstGeom prst="rect">
            <a:avLst/>
          </a:prstGeom>
        </p:spPr>
        <p:txBody>
          <a:bodyPr wrap="square" lIns="0" tIns="0" rIns="0" bIns="0" rtlCol="0" anchor="t">
            <a:spAutoFit/>
          </a:bodyPr>
          <a:lstStyle/>
          <a:p>
            <a:pPr algn="ctr">
              <a:lnSpc>
                <a:spcPts val="18839"/>
              </a:lnSpc>
            </a:pPr>
            <a:r>
              <a:rPr lang="en-US" sz="13456" b="1" dirty="0">
                <a:solidFill>
                  <a:srgbClr val="FFFFFF"/>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1055</Words>
  <Application>Microsoft Office PowerPoint</Application>
  <PresentationFormat>Custom</PresentationFormat>
  <Paragraphs>182</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Telegraf Bold</vt:lpstr>
      <vt:lpstr>Canva Sans Bold</vt:lpstr>
      <vt:lpstr>Poppins</vt:lpstr>
      <vt:lpstr>Poppins Bold</vt:lpstr>
      <vt:lpstr>Calibri</vt:lpstr>
      <vt:lpstr>Wingdings</vt:lpstr>
      <vt:lpstr>Arimo</vt:lpstr>
      <vt:lpstr>Arimo Bold</vt:lpstr>
      <vt:lpstr>Arial</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Reena S</dc:creator>
  <cp:lastModifiedBy>Microsoft account</cp:lastModifiedBy>
  <cp:revision>12</cp:revision>
  <dcterms:created xsi:type="dcterms:W3CDTF">2006-08-16T00:00:00Z</dcterms:created>
  <dcterms:modified xsi:type="dcterms:W3CDTF">2026-02-26T09:53:38Z</dcterms:modified>
  <dc:identifier>DAG5zX5oqaI</dc:identifier>
</cp:coreProperties>
</file>