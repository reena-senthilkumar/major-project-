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Telegraf Bold" panose="020B0604020202020204" charset="0"/>
      <p:regular r:id="rId21"/>
    </p:embeddedFont>
    <p:embeddedFont>
      <p:font typeface="Canva Sans" panose="020B0604020202020204" charset="0"/>
      <p:regular r:id="rId22"/>
    </p:embeddedFont>
    <p:embeddedFont>
      <p:font typeface="Poppins" panose="020B0604020202020204" charset="0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Arimo" panose="020B0604020202020204" charset="0"/>
      <p:regular r:id="rId28"/>
    </p:embeddedFont>
    <p:embeddedFont>
      <p:font typeface="Poppins Bold" panose="020B0604020202020204" charset="0"/>
      <p:regular r:id="rId29"/>
    </p:embeddedFont>
    <p:embeddedFont>
      <p:font typeface="Canva Sans Bold" panose="020B0604020202020204" charset="0"/>
      <p:regular r:id="rId30"/>
    </p:embeddedFont>
    <p:embeddedFont>
      <p:font typeface="Arimo 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816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08744" y="216335"/>
            <a:ext cx="13496798" cy="4212790"/>
          </a:xfrm>
          <a:custGeom>
            <a:avLst/>
            <a:gdLst/>
            <a:ahLst/>
            <a:cxnLst/>
            <a:rect l="l" t="t" r="r" b="b"/>
            <a:pathLst>
              <a:path w="13496798" h="4212790">
                <a:moveTo>
                  <a:pt x="0" y="0"/>
                </a:moveTo>
                <a:lnTo>
                  <a:pt x="13496797" y="0"/>
                </a:lnTo>
                <a:lnTo>
                  <a:pt x="13496797" y="4212790"/>
                </a:lnTo>
                <a:lnTo>
                  <a:pt x="0" y="42127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49" b="-1128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58617" y="216335"/>
            <a:ext cx="3339425" cy="3084691"/>
          </a:xfrm>
          <a:custGeom>
            <a:avLst/>
            <a:gdLst/>
            <a:ahLst/>
            <a:cxnLst/>
            <a:rect l="l" t="t" r="r" b="b"/>
            <a:pathLst>
              <a:path w="3339425" h="3084691">
                <a:moveTo>
                  <a:pt x="0" y="0"/>
                </a:moveTo>
                <a:lnTo>
                  <a:pt x="3339426" y="0"/>
                </a:lnTo>
                <a:lnTo>
                  <a:pt x="3339426" y="3084691"/>
                </a:lnTo>
                <a:lnTo>
                  <a:pt x="0" y="3084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852" b="-9181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4981575"/>
            <a:ext cx="15961151" cy="1876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23"/>
              </a:lnSpc>
              <a:spcBef>
                <a:spcPct val="0"/>
              </a:spcBef>
            </a:pPr>
            <a:r>
              <a:rPr lang="en-US" sz="5230" b="1" spc="-235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DYNAMIC ROUTING AND POWER CONTROL IN WSNs WITH K-MEANS AND Q-LEARNING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57760" y="7429739"/>
            <a:ext cx="9247782" cy="869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27"/>
              </a:lnSpc>
            </a:pPr>
            <a:r>
              <a:rPr lang="en-US" sz="480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Domain: </a:t>
            </a:r>
            <a:r>
              <a:rPr lang="en-US" sz="480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95368" y="5067300"/>
            <a:ext cx="5412266" cy="1538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55"/>
              </a:lnSpc>
            </a:pPr>
            <a:r>
              <a:rPr lang="en-US" sz="4254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BATCH 3</a:t>
            </a:r>
          </a:p>
          <a:p>
            <a:pPr algn="ctr">
              <a:lnSpc>
                <a:spcPts val="5955"/>
              </a:lnSpc>
            </a:pPr>
            <a:r>
              <a:rPr lang="en-US" sz="4254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TEAM MEMBERS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596617" y="6808197"/>
            <a:ext cx="9409769" cy="3166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REENA S (8115U22CB044)</a:t>
            </a:r>
          </a:p>
          <a:p>
            <a:pPr algn="ctr">
              <a:lnSpc>
                <a:spcPts val="5040"/>
              </a:lnSpc>
            </a:pPr>
            <a:endParaRPr lang="en-US" sz="36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ctr">
              <a:lnSpc>
                <a:spcPts val="5040"/>
              </a:lnSpc>
            </a:pPr>
            <a:r>
              <a:rPr lang="en-US" sz="36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            SHREE HARINI S (8115U22CB050)</a:t>
            </a:r>
          </a:p>
          <a:p>
            <a:pPr algn="ctr">
              <a:lnSpc>
                <a:spcPts val="5040"/>
              </a:lnSpc>
            </a:pPr>
            <a:endParaRPr lang="en-US" sz="36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ctr">
              <a:lnSpc>
                <a:spcPts val="5040"/>
              </a:lnSpc>
            </a:pPr>
            <a:r>
              <a:rPr lang="en-US" sz="36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             SOUNDARYA A L (8115U22CB052)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70134" y="933450"/>
            <a:ext cx="426273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GUIDE NAME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26302" y="2426062"/>
            <a:ext cx="11846243" cy="2980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Mrs. P. UMA MAHESHWARI, M.E.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Assistant Professor,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Department of CSBS,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K. 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Ramakrishnan</a:t>
            </a: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College of Engineering (Autonomous)</a:t>
            </a:r>
          </a:p>
          <a:p>
            <a:pPr algn="ctr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81600" y="419100"/>
            <a:ext cx="6297572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96"/>
              </a:lnSpc>
            </a:pPr>
            <a:r>
              <a:rPr lang="en-US" sz="6354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LIST OF SLIDE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146643" y="1974870"/>
            <a:ext cx="5605165" cy="7624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1. Introduction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2. Literature Survey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3. Existing System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4. Disadvantages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5. Proposed System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6. Advantages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7. List of Modules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8. Modules Explanation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9. Future Enhancement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10. Conclusion</a:t>
            </a:r>
          </a:p>
          <a:p>
            <a:pPr algn="l">
              <a:lnSpc>
                <a:spcPts val="5528"/>
              </a:lnSpc>
            </a:pPr>
            <a:r>
              <a:rPr lang="en-US" sz="394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11. References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4950" y="207328"/>
            <a:ext cx="6775049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90"/>
              </a:lnSpc>
            </a:pPr>
            <a:r>
              <a:rPr lang="en-US" sz="635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INTRODUCTION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87325" y="1756262"/>
            <a:ext cx="17113351" cy="7502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67161" lvl="1" indent="-383581" algn="l">
              <a:lnSpc>
                <a:spcPts val="4974"/>
              </a:lnSpc>
              <a:buFont typeface="Arial"/>
              <a:buChar char="•"/>
            </a:pPr>
            <a:r>
              <a:rPr lang="en-US" sz="355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Wireless Sensor Networks (WSNs) consist of multiple low-power sensor nodes used to sense, process, and transmit data. </a:t>
            </a:r>
          </a:p>
          <a:p>
            <a:pPr algn="l">
              <a:lnSpc>
                <a:spcPts val="4974"/>
              </a:lnSpc>
            </a:pPr>
            <a:endParaRPr lang="en-US" sz="3553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67161" lvl="1" indent="-383581" algn="l">
              <a:lnSpc>
                <a:spcPts val="4974"/>
              </a:lnSpc>
              <a:buFont typeface="Arial"/>
              <a:buChar char="•"/>
            </a:pPr>
            <a:r>
              <a:rPr lang="en-US" sz="355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These nodes have limited battery power and processing capability, making energy efficiency a major challenge.</a:t>
            </a:r>
          </a:p>
          <a:p>
            <a:pPr algn="l">
              <a:lnSpc>
                <a:spcPts val="4974"/>
              </a:lnSpc>
            </a:pPr>
            <a:endParaRPr lang="en-US" sz="3553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67161" lvl="1" indent="-383581" algn="just">
              <a:lnSpc>
                <a:spcPts val="4974"/>
              </a:lnSpc>
              <a:buFont typeface="Arial"/>
              <a:buChar char="•"/>
            </a:pPr>
            <a:r>
              <a:rPr lang="en-US" sz="355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This project introduces an AI-based model that combines K-Means clustering and Q-Learning to improve routing and power control in WSNs.</a:t>
            </a:r>
          </a:p>
          <a:p>
            <a:pPr algn="just">
              <a:lnSpc>
                <a:spcPts val="4974"/>
              </a:lnSpc>
            </a:pPr>
            <a:endParaRPr lang="en-US" sz="3553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67161" lvl="1" indent="-383581" algn="just">
              <a:lnSpc>
                <a:spcPts val="4974"/>
              </a:lnSpc>
              <a:buFont typeface="Arial"/>
              <a:buChar char="•"/>
            </a:pPr>
            <a:r>
              <a:rPr lang="en-US" sz="355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K-Means reduces intra-cluster distance, and Q-Learning selects the most energy-efficient routes dynamically.</a:t>
            </a:r>
          </a:p>
          <a:p>
            <a:pPr algn="just">
              <a:lnSpc>
                <a:spcPts val="4974"/>
              </a:lnSpc>
            </a:pPr>
            <a:endParaRPr lang="en-US" sz="3553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028700" y="1657722"/>
          <a:ext cx="16299081" cy="8020228"/>
        </p:xfrm>
        <a:graphic>
          <a:graphicData uri="http://schemas.openxmlformats.org/drawingml/2006/table">
            <a:tbl>
              <a:tblPr/>
              <a:tblGrid>
                <a:gridCol w="5887545"/>
                <a:gridCol w="3795527"/>
                <a:gridCol w="6616009"/>
              </a:tblGrid>
              <a:tr h="1445140">
                <a:tc>
                  <a:txBody>
                    <a:bodyPr/>
                    <a:lstStyle/>
                    <a:p>
                      <a:pPr algn="ctr">
                        <a:lnSpc>
                          <a:spcPts val="5739"/>
                        </a:lnSpc>
                        <a:defRPr/>
                      </a:pPr>
                      <a:r>
                        <a:rPr lang="en-US" sz="40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339"/>
                        </a:lnSpc>
                        <a:defRPr/>
                      </a:pPr>
                      <a:r>
                        <a:rPr lang="en-US" sz="30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AUTHOR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ALGORITHM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44764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Q-Learning-Based Energy-Efficient Routing (2021)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Wan-Kyu Yun &amp; Sang-Jo Yoo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Q-Learning-Based Data Aggregation &amp; Energy-Efficient Routing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2737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EEMLCR using LEACH protocols  (2025)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Muhammad Akram, Sibghat Ullah Bazai, Muhammad Imran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5040"/>
                        </a:lnSpc>
                        <a:defRPr/>
                      </a:pPr>
                      <a:r>
                        <a:rPr lang="en-US" sz="3600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LEACH Protocol Algorithms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17587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AI in Sensor Networks (2024)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Salim El Khediri &amp; Awatef Benfradj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ML &amp; RL techniques for WSN optimization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1423318" y="-60890"/>
            <a:ext cx="8451813" cy="1089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6"/>
              </a:lnSpc>
            </a:pPr>
            <a:r>
              <a:rPr lang="en-US" sz="6368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LITERATURE SURVEY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712324" y="1626056"/>
          <a:ext cx="15249025" cy="6336704"/>
        </p:xfrm>
        <a:graphic>
          <a:graphicData uri="http://schemas.openxmlformats.org/drawingml/2006/table">
            <a:tbl>
              <a:tblPr/>
              <a:tblGrid>
                <a:gridCol w="5488752"/>
                <a:gridCol w="4300503"/>
                <a:gridCol w="5459770"/>
              </a:tblGrid>
              <a:tr h="2050836">
                <a:tc>
                  <a:txBody>
                    <a:bodyPr/>
                    <a:lstStyle/>
                    <a:p>
                      <a:pPr algn="ctr">
                        <a:lnSpc>
                          <a:spcPts val="6719"/>
                        </a:lnSpc>
                        <a:defRPr/>
                      </a:pPr>
                      <a:r>
                        <a:rPr lang="en-US" sz="48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880"/>
                        </a:lnSpc>
                        <a:defRPr/>
                      </a:pPr>
                      <a:r>
                        <a:rPr lang="en-US" sz="4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AUTHOR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880"/>
                        </a:lnSpc>
                        <a:defRPr/>
                      </a:pPr>
                      <a:r>
                        <a:rPr lang="en-US" sz="4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ALGORITHM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2934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="1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Energy-Efficient Q-Learning Routing (2025)</a:t>
                      </a:r>
                      <a:r>
                        <a:rPr lang="en-US" sz="2799">
                          <a:solidFill>
                            <a:srgbClr val="FFFFFF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Huda Salih Abd &amp; Asaad S. Daghul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Dynamic K-Means + Q-Learning + Sleep Scheduling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2934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Reinforcement Learning for WSN Optimization (2024)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Yan Wang, Ke Deng, Yongli Ren, Jeffrey Chan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Reinforcement Learning–Enhanced Cluster-Based Routing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571500"/>
            <a:ext cx="8767039" cy="2282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85"/>
              </a:lnSpc>
            </a:pPr>
            <a:r>
              <a:rPr lang="en-US" sz="634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EXISTING SYSTEM</a:t>
            </a:r>
          </a:p>
          <a:p>
            <a:pPr algn="ctr">
              <a:lnSpc>
                <a:spcPts val="8885"/>
              </a:lnSpc>
            </a:pPr>
            <a:endParaRPr lang="en-US" sz="6346" b="1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2236" y="2130594"/>
            <a:ext cx="16873999" cy="598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Existing WSN routing methods like LEACH, DMHT-LEACH, EDMHT-LEACH use static or probabilistic models.</a:t>
            </a: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They suffer from:</a:t>
            </a:r>
          </a:p>
          <a:p>
            <a:pPr algn="l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dynamic routing decisions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Poor scalability in large networks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Uneven energy distribution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High packet loss in long-distance communication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Early node death due to inefficient cluster head selection</a:t>
            </a:r>
          </a:p>
          <a:p>
            <a:pPr algn="l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67389" y="423599"/>
            <a:ext cx="16001630" cy="1086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6"/>
              </a:lnSpc>
            </a:pPr>
            <a:r>
              <a:rPr lang="en-US" sz="6347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DISADVANTAGES OF EXISTING SYSTEM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37720" y="2426049"/>
            <a:ext cx="10116734" cy="4974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Static cluster head selection</a:t>
            </a:r>
          </a:p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learning-based optimization</a:t>
            </a:r>
          </a:p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High energy consumption</a:t>
            </a:r>
          </a:p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Poor adaptability to network changes</a:t>
            </a:r>
          </a:p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Limited lifetime of sensor nodes</a:t>
            </a:r>
          </a:p>
          <a:p>
            <a:pPr marL="873893" lvl="1" indent="-436946" algn="l">
              <a:lnSpc>
                <a:spcPts val="5666"/>
              </a:lnSpc>
              <a:buFont typeface="Arial"/>
              <a:buChar char="•"/>
            </a:pPr>
            <a:r>
              <a:rPr lang="en-US" sz="404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intelligent multi-hop routing</a:t>
            </a:r>
          </a:p>
          <a:p>
            <a:pPr algn="l">
              <a:lnSpc>
                <a:spcPts val="5666"/>
              </a:lnSpc>
            </a:pPr>
            <a:endParaRPr lang="en-US" sz="4047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46134" y="246479"/>
            <a:ext cx="9031266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99"/>
              </a:lnSpc>
            </a:pPr>
            <a:r>
              <a:rPr lang="en-US" sz="635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PROPOSED SYSTEM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6134" y="1819592"/>
            <a:ext cx="16995732" cy="838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✔ </a:t>
            </a: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K-Means Clustering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Groups nodes based on location, creates balanced clusters, and reduces communication distance.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✔</a:t>
            </a: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Q-Learning Routing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Learns optimal multi-hop routes using rewards based on energy, hop count, and successful delivery.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✔ </a:t>
            </a: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Energy Model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Tracks transmission, reception, and aggregation energy.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✔ </a:t>
            </a: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Performance Evaluation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Compares with LEACH, DMHT-LEACH, and modern methods like EECDA.</a:t>
            </a:r>
          </a:p>
          <a:p>
            <a:pPr algn="ctr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99059" y="422064"/>
            <a:ext cx="15114006" cy="1089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4"/>
              </a:lnSpc>
            </a:pPr>
            <a:r>
              <a:rPr lang="en-US" sz="6367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ADVANTAGES OF PROPOSED SYSTEM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16857" y="2410142"/>
            <a:ext cx="10216510" cy="6129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Increased network lifetime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Reduced energy consumption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Balanced load distribution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Better packet delivery rate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Adaptive routing with learning behavior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Supports large-scale WSN deployments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Minimal packet loss</a:t>
            </a:r>
          </a:p>
          <a:p>
            <a:pPr marL="836135" lvl="1" indent="-418068" algn="l">
              <a:lnSpc>
                <a:spcPts val="5421"/>
              </a:lnSpc>
              <a:buFont typeface="Arial"/>
              <a:buChar char="•"/>
            </a:pPr>
            <a:r>
              <a:rPr lang="en-US" sz="387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Optimized energy usage across nodes</a:t>
            </a:r>
          </a:p>
          <a:p>
            <a:pPr algn="l">
              <a:lnSpc>
                <a:spcPts val="5421"/>
              </a:lnSpc>
            </a:pPr>
            <a:endParaRPr lang="en-US" sz="3872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4985" y="2264837"/>
            <a:ext cx="3086100" cy="1827886"/>
            <a:chOff x="0" y="0"/>
            <a:chExt cx="812800" cy="4814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481419"/>
            </a:xfrm>
            <a:custGeom>
              <a:avLst/>
              <a:gdLst/>
              <a:ahLst/>
              <a:cxnLst/>
              <a:rect l="l" t="t" r="r" b="b"/>
              <a:pathLst>
                <a:path w="812800" h="481419">
                  <a:moveTo>
                    <a:pt x="609600" y="0"/>
                  </a:moveTo>
                  <a:cubicBezTo>
                    <a:pt x="721824" y="0"/>
                    <a:pt x="812800" y="107769"/>
                    <a:pt x="812800" y="240709"/>
                  </a:cubicBezTo>
                  <a:cubicBezTo>
                    <a:pt x="812800" y="373649"/>
                    <a:pt x="721824" y="481419"/>
                    <a:pt x="609600" y="481419"/>
                  </a:cubicBezTo>
                  <a:lnTo>
                    <a:pt x="203200" y="481419"/>
                  </a:lnTo>
                  <a:cubicBezTo>
                    <a:pt x="90976" y="481419"/>
                    <a:pt x="0" y="373649"/>
                    <a:pt x="0" y="240709"/>
                  </a:cubicBezTo>
                  <a:cubicBezTo>
                    <a:pt x="0" y="10776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812800" cy="5385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79"/>
                </a:lnSpc>
                <a:spcBef>
                  <a:spcPct val="0"/>
                </a:spcBef>
              </a:pPr>
              <a:r>
                <a:rPr lang="en-US" sz="31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Data Collection &amp; Initialization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094472" y="2264837"/>
            <a:ext cx="3086100" cy="1827887"/>
            <a:chOff x="0" y="0"/>
            <a:chExt cx="812800" cy="48141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481419"/>
            </a:xfrm>
            <a:custGeom>
              <a:avLst/>
              <a:gdLst/>
              <a:ahLst/>
              <a:cxnLst/>
              <a:rect l="l" t="t" r="r" b="b"/>
              <a:pathLst>
                <a:path w="812800" h="481419">
                  <a:moveTo>
                    <a:pt x="609600" y="0"/>
                  </a:moveTo>
                  <a:cubicBezTo>
                    <a:pt x="721824" y="0"/>
                    <a:pt x="812800" y="107769"/>
                    <a:pt x="812800" y="240709"/>
                  </a:cubicBezTo>
                  <a:cubicBezTo>
                    <a:pt x="812800" y="373650"/>
                    <a:pt x="721824" y="481419"/>
                    <a:pt x="609600" y="481419"/>
                  </a:cubicBezTo>
                  <a:lnTo>
                    <a:pt x="203200" y="481419"/>
                  </a:lnTo>
                  <a:cubicBezTo>
                    <a:pt x="90976" y="481419"/>
                    <a:pt x="0" y="373650"/>
                    <a:pt x="0" y="240709"/>
                  </a:cubicBezTo>
                  <a:cubicBezTo>
                    <a:pt x="0" y="10776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812800" cy="5385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K-Means Clustering</a:t>
              </a:r>
            </a:p>
            <a:p>
              <a:pPr algn="ctr">
                <a:lnSpc>
                  <a:spcPts val="4480"/>
                </a:lnSpc>
                <a:spcBef>
                  <a:spcPct val="0"/>
                </a:spcBef>
              </a:pPr>
              <a:endParaRPr lang="en-US" sz="32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 rot="14396">
            <a:off x="13103659" y="2407255"/>
            <a:ext cx="3086100" cy="1543050"/>
            <a:chOff x="0" y="0"/>
            <a:chExt cx="812800" cy="406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cubicBezTo>
                    <a:pt x="721824" y="0"/>
                    <a:pt x="812800" y="90976"/>
                    <a:pt x="812800" y="203200"/>
                  </a:cubicBezTo>
                  <a:cubicBezTo>
                    <a:pt x="812800" y="315424"/>
                    <a:pt x="721824" y="406400"/>
                    <a:pt x="60960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812800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Q-Learning-Based Routing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70758">
            <a:off x="13088393" y="5587180"/>
            <a:ext cx="3086100" cy="1827887"/>
            <a:chOff x="0" y="0"/>
            <a:chExt cx="812800" cy="4814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481419"/>
            </a:xfrm>
            <a:custGeom>
              <a:avLst/>
              <a:gdLst/>
              <a:ahLst/>
              <a:cxnLst/>
              <a:rect l="l" t="t" r="r" b="b"/>
              <a:pathLst>
                <a:path w="812800" h="481419">
                  <a:moveTo>
                    <a:pt x="609600" y="0"/>
                  </a:moveTo>
                  <a:cubicBezTo>
                    <a:pt x="721824" y="0"/>
                    <a:pt x="812800" y="107769"/>
                    <a:pt x="812800" y="240709"/>
                  </a:cubicBezTo>
                  <a:cubicBezTo>
                    <a:pt x="812800" y="373650"/>
                    <a:pt x="721824" y="481419"/>
                    <a:pt x="609600" y="481419"/>
                  </a:cubicBezTo>
                  <a:lnTo>
                    <a:pt x="203200" y="481419"/>
                  </a:lnTo>
                  <a:cubicBezTo>
                    <a:pt x="90976" y="481419"/>
                    <a:pt x="0" y="373650"/>
                    <a:pt x="0" y="240709"/>
                  </a:cubicBezTo>
                  <a:cubicBezTo>
                    <a:pt x="0" y="10776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812800" cy="5385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Energy Consumption Analysis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 rot="-78141">
            <a:off x="7245559" y="5552344"/>
            <a:ext cx="3086100" cy="1827887"/>
            <a:chOff x="0" y="0"/>
            <a:chExt cx="737617" cy="43688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37617" cy="436888"/>
            </a:xfrm>
            <a:custGeom>
              <a:avLst/>
              <a:gdLst/>
              <a:ahLst/>
              <a:cxnLst/>
              <a:rect l="l" t="t" r="r" b="b"/>
              <a:pathLst>
                <a:path w="737617" h="436888">
                  <a:moveTo>
                    <a:pt x="534417" y="0"/>
                  </a:moveTo>
                  <a:cubicBezTo>
                    <a:pt x="646641" y="0"/>
                    <a:pt x="737617" y="97801"/>
                    <a:pt x="737617" y="218444"/>
                  </a:cubicBezTo>
                  <a:cubicBezTo>
                    <a:pt x="737617" y="339087"/>
                    <a:pt x="646641" y="436888"/>
                    <a:pt x="534417" y="436888"/>
                  </a:cubicBezTo>
                  <a:lnTo>
                    <a:pt x="203200" y="436888"/>
                  </a:lnTo>
                  <a:cubicBezTo>
                    <a:pt x="90976" y="436888"/>
                    <a:pt x="0" y="339087"/>
                    <a:pt x="0" y="218444"/>
                  </a:cubicBezTo>
                  <a:cubicBezTo>
                    <a:pt x="0" y="9780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737617" cy="494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Performance Evaluation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44985" y="5587180"/>
            <a:ext cx="3086100" cy="1827887"/>
            <a:chOff x="0" y="0"/>
            <a:chExt cx="812800" cy="4814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81419"/>
            </a:xfrm>
            <a:custGeom>
              <a:avLst/>
              <a:gdLst/>
              <a:ahLst/>
              <a:cxnLst/>
              <a:rect l="l" t="t" r="r" b="b"/>
              <a:pathLst>
                <a:path w="812800" h="481419">
                  <a:moveTo>
                    <a:pt x="609600" y="0"/>
                  </a:moveTo>
                  <a:cubicBezTo>
                    <a:pt x="721824" y="0"/>
                    <a:pt x="812800" y="107769"/>
                    <a:pt x="812800" y="240709"/>
                  </a:cubicBezTo>
                  <a:cubicBezTo>
                    <a:pt x="812800" y="373650"/>
                    <a:pt x="721824" y="481419"/>
                    <a:pt x="609600" y="481419"/>
                  </a:cubicBezTo>
                  <a:lnTo>
                    <a:pt x="203200" y="481419"/>
                  </a:lnTo>
                  <a:cubicBezTo>
                    <a:pt x="90976" y="481419"/>
                    <a:pt x="0" y="373650"/>
                    <a:pt x="0" y="240709"/>
                  </a:cubicBezTo>
                  <a:cubicBezTo>
                    <a:pt x="0" y="10776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1A1B3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812800" cy="5385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Results Visualization &amp; Analysis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36277" y="425438"/>
            <a:ext cx="7774323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52"/>
              </a:lnSpc>
            </a:pPr>
            <a:r>
              <a:rPr lang="en-US" sz="6323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LIST OF MODULES</a:t>
            </a:r>
          </a:p>
        </p:txBody>
      </p:sp>
      <p:sp>
        <p:nvSpPr>
          <p:cNvPr id="21" name="AutoShape 21"/>
          <p:cNvSpPr/>
          <p:nvPr/>
        </p:nvSpPr>
        <p:spPr>
          <a:xfrm flipV="1">
            <a:off x="4431085" y="3178781"/>
            <a:ext cx="2663386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2" name="AutoShape 22"/>
          <p:cNvSpPr/>
          <p:nvPr/>
        </p:nvSpPr>
        <p:spPr>
          <a:xfrm>
            <a:off x="4431085" y="6501123"/>
            <a:ext cx="2814872" cy="23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AutoShape 23"/>
          <p:cNvSpPr/>
          <p:nvPr/>
        </p:nvSpPr>
        <p:spPr>
          <a:xfrm flipV="1">
            <a:off x="10180572" y="3172318"/>
            <a:ext cx="2923100" cy="646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24"/>
          <p:cNvSpPr/>
          <p:nvPr/>
        </p:nvSpPr>
        <p:spPr>
          <a:xfrm>
            <a:off x="10331260" y="6431217"/>
            <a:ext cx="2757459" cy="38148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AutoShape 25"/>
          <p:cNvSpPr/>
          <p:nvPr/>
        </p:nvSpPr>
        <p:spPr>
          <a:xfrm flipH="1" flipV="1">
            <a:off x="14643478" y="3950298"/>
            <a:ext cx="6775" cy="16370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4502" y="425223"/>
            <a:ext cx="10984097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56"/>
              </a:lnSpc>
            </a:pPr>
            <a:r>
              <a:rPr lang="en-US" sz="632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MODULES EXPLANATION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4503" y="2328893"/>
            <a:ext cx="14422851" cy="692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14"/>
              </a:lnSpc>
            </a:pPr>
            <a:r>
              <a:rPr lang="en-US" sz="3581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1. Data Collection &amp; Initialization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Deploys nodes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Assigns initial energy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Defines simulation parameters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Sets base station location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endParaRPr lang="en-US" sz="358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5014"/>
              </a:lnSpc>
            </a:pPr>
            <a:r>
              <a:rPr lang="en-US" sz="3581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2. K-Means Clustering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Calculates cluster centers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Groups nearest nodes</a:t>
            </a:r>
          </a:p>
          <a:p>
            <a:pPr marL="773303" lvl="1" indent="-386651" algn="l">
              <a:lnSpc>
                <a:spcPts val="5014"/>
              </a:lnSpc>
              <a:buFont typeface="Arial"/>
              <a:buChar char="•"/>
            </a:pPr>
            <a:r>
              <a:rPr lang="en-US" sz="358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Selects cluster head using distance + energy</a:t>
            </a:r>
          </a:p>
          <a:p>
            <a:pPr algn="l">
              <a:lnSpc>
                <a:spcPts val="5014"/>
              </a:lnSpc>
            </a:pPr>
            <a:endParaRPr lang="en-US" sz="358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25511"/>
            <a:ext cx="13527144" cy="854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5"/>
              </a:lnSpc>
            </a:pPr>
            <a:r>
              <a:rPr lang="en-US" sz="4054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3. Q-Learning Routing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States: distance, energy, neighbors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Action: choose next-hop node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Reward: energy saved + successful delivery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Updated Q-table selects best route</a:t>
            </a:r>
          </a:p>
          <a:p>
            <a:pPr algn="l">
              <a:lnSpc>
                <a:spcPts val="5675"/>
              </a:lnSpc>
            </a:pPr>
            <a:endParaRPr lang="en-US" sz="4054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5675"/>
              </a:lnSpc>
            </a:pPr>
            <a:r>
              <a:rPr lang="en-US" sz="4054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4. Energy Consumption Analysis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Transmission energy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Reception energy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Data aggregation cost</a:t>
            </a:r>
          </a:p>
          <a:p>
            <a:pPr marL="875313" lvl="1" indent="-437657" algn="l">
              <a:lnSpc>
                <a:spcPts val="5675"/>
              </a:lnSpc>
              <a:buFont typeface="Arial"/>
              <a:buChar char="•"/>
            </a:pPr>
            <a:r>
              <a:rPr lang="en-US" sz="405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Updates remaining node energy</a:t>
            </a:r>
          </a:p>
          <a:p>
            <a:pPr algn="ctr">
              <a:lnSpc>
                <a:spcPts val="5675"/>
              </a:lnSpc>
            </a:pPr>
            <a:endParaRPr lang="en-US" sz="4054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3138" y="619442"/>
            <a:ext cx="13638383" cy="8981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5. Performance Evaluation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Evaluates: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Alive nodes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Average energy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Network lifetime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Packet delivery ratio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Comparison with LEACH, DMHT-LEACH, EDMHT-LEACH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6. Results Visualization &amp; Analysis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Generates: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Alive nodes vs rounds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Remaining energy vs rounds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Packet received vs rounds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Comparison charts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27647" y="425474"/>
            <a:ext cx="9704552" cy="1082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52"/>
              </a:lnSpc>
            </a:pPr>
            <a:r>
              <a:rPr lang="en-US" sz="6322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FUTURE ENHANCEMENT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27647" y="2345184"/>
            <a:ext cx="13127514" cy="6913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Introduce Deep Q-Learning (DQN) for more intelligent routing</a:t>
            </a:r>
          </a:p>
          <a:p>
            <a:pPr algn="l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Add mobile sensor node support</a:t>
            </a:r>
          </a:p>
          <a:p>
            <a:pPr algn="l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Incorporate real-time environmental factors</a:t>
            </a:r>
          </a:p>
          <a:p>
            <a:pPr algn="l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Integration with IoT cloud platforms</a:t>
            </a:r>
          </a:p>
          <a:p>
            <a:pPr algn="l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Introduce anomaly detection for node failure prediction</a:t>
            </a:r>
          </a:p>
          <a:p>
            <a:pPr algn="l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06398" lvl="1" indent="-353199" algn="l">
              <a:lnSpc>
                <a:spcPts val="4580"/>
              </a:lnSpc>
              <a:buFont typeface="Arial"/>
              <a:buChar char="•"/>
            </a:pPr>
            <a:r>
              <a:rPr lang="en-US" sz="327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Enable adaptive sleep scheduling</a:t>
            </a:r>
          </a:p>
          <a:p>
            <a:pPr algn="r">
              <a:lnSpc>
                <a:spcPts val="4580"/>
              </a:lnSpc>
            </a:pPr>
            <a:endParaRPr lang="en-US" sz="3271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9784" y="523734"/>
            <a:ext cx="5859616" cy="3424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78"/>
              </a:lnSpc>
            </a:pPr>
            <a:r>
              <a:rPr lang="en-US" sz="634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</a:t>
            </a:r>
          </a:p>
          <a:p>
            <a:pPr algn="ctr">
              <a:lnSpc>
                <a:spcPts val="8878"/>
              </a:lnSpc>
            </a:pPr>
            <a:endParaRPr lang="en-US" sz="6342" b="1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8878"/>
              </a:lnSpc>
            </a:pPr>
            <a:endParaRPr lang="en-US" sz="6342" b="1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769784" y="2657378"/>
            <a:ext cx="15928476" cy="358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 proposed K-Means + Q-Learning model provides an intelligent, adaptive, and energy-efficient routing solution for WSNs. It improves network lifetime, reduces energy consumption, and enhances communication reliability. Compared to existing LEACH-based protocols, it performs significantly better, especially in large networks. This shows that Artificial Intelligence is a powerful tool for optimizing wireless sensor communication.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04875"/>
            <a:ext cx="4696890" cy="1082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51"/>
              </a:lnSpc>
            </a:pPr>
            <a:r>
              <a:rPr lang="en-US" sz="6322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5572" y="2276529"/>
            <a:ext cx="16493728" cy="6581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[1] Wan Kyu Yun a nd Sang Jo Yoo “Q Learning Based Data Aggregation Aware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Energy Efficient Routing Protocol for Wireless Sensor Networks ”, IEEE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International conference,2021.</a:t>
            </a:r>
          </a:p>
          <a:p>
            <a:pPr algn="just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[2] Muhammad Akram, Sibghat Ullah Bazai, Muhammad Imran , EEMLCR: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Energy Efficient Machine Learning Based Clustering and Routing for Wireless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Sensor Networks IEEE International conference,2025.</a:t>
            </a:r>
          </a:p>
          <a:p>
            <a:pPr algn="just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[3] Salim El Khediri, Awatef Benfradj, “ Integration of artificial intelligence (AI)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with sensor networks: Trends, challenges, and future directions” Journal of King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Saud University Computer and Information Sciences.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87681"/>
            <a:ext cx="15948836" cy="656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[4] Huda Salih Abd , Asaad S Daghul, An Energy Efficient Scheduling and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Routing Protocol Based on Q Learning for WSN Asian Journal of Computing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and Engineering Technology.</a:t>
            </a:r>
          </a:p>
          <a:p>
            <a:pPr algn="l">
              <a:lnSpc>
                <a:spcPts val="4746"/>
              </a:lnSpc>
            </a:pPr>
            <a:endParaRPr lang="en-US" sz="339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[5] Yan Wang, Ke Deng, Yongli Ren , Jeffrey Chan, Reinforcement Learning for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Tackling Energy saving and Energy balance Dilemma of Cluster based Routing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Protocols in WSNs IEEE International confer ence,2024.</a:t>
            </a:r>
          </a:p>
          <a:p>
            <a:pPr algn="l">
              <a:lnSpc>
                <a:spcPts val="4746"/>
              </a:lnSpc>
            </a:pPr>
            <a:endParaRPr lang="en-US" sz="339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[6] F. A. Khan, M. Khan, M. Asif, A. Khalid, and I. U. Haq, ‘‘Hybrid and multi hop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advanced zonal stable election protocol for wireless sensor networks,’’ IEEE</a:t>
            </a:r>
          </a:p>
          <a:p>
            <a:pPr algn="l">
              <a:lnSpc>
                <a:spcPts val="4746"/>
              </a:lnSpc>
            </a:pPr>
            <a:r>
              <a:rPr lang="en-US" sz="339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Access,2019.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09033D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0" y="3467100"/>
            <a:ext cx="1280160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839"/>
              </a:lnSpc>
            </a:pPr>
            <a:r>
              <a:rPr lang="en-US" sz="1345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941</Words>
  <Application>Microsoft Office PowerPoint</Application>
  <PresentationFormat>Custom</PresentationFormat>
  <Paragraphs>174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Telegraf Bold</vt:lpstr>
      <vt:lpstr>Canva Sans</vt:lpstr>
      <vt:lpstr>Poppins</vt:lpstr>
      <vt:lpstr>Calibri</vt:lpstr>
      <vt:lpstr>Arimo</vt:lpstr>
      <vt:lpstr>Poppins Bold</vt:lpstr>
      <vt:lpstr>Canva Sans Bold</vt:lpstr>
      <vt:lpstr>Arimo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Reena S</dc:creator>
  <cp:lastModifiedBy>REENA</cp:lastModifiedBy>
  <cp:revision>5</cp:revision>
  <dcterms:created xsi:type="dcterms:W3CDTF">2006-08-16T00:00:00Z</dcterms:created>
  <dcterms:modified xsi:type="dcterms:W3CDTF">2025-11-27T05:00:21Z</dcterms:modified>
  <dc:identifier>DAG5zX5oqaI</dc:identifier>
</cp:coreProperties>
</file>