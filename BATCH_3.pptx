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76" r:id="rId6"/>
    <p:sldId id="260" r:id="rId7"/>
    <p:sldId id="261" r:id="rId8"/>
    <p:sldId id="262" r:id="rId9"/>
    <p:sldId id="263" r:id="rId10"/>
    <p:sldId id="275" r:id="rId11"/>
    <p:sldId id="264" r:id="rId12"/>
    <p:sldId id="265" r:id="rId13"/>
    <p:sldId id="266" r:id="rId14"/>
    <p:sldId id="267" r:id="rId15"/>
    <p:sldId id="277" r:id="rId16"/>
    <p:sldId id="278" r:id="rId17"/>
    <p:sldId id="292" r:id="rId18"/>
    <p:sldId id="279" r:id="rId19"/>
    <p:sldId id="280" r:id="rId20"/>
    <p:sldId id="281" r:id="rId21"/>
    <p:sldId id="293" r:id="rId22"/>
    <p:sldId id="268" r:id="rId23"/>
    <p:sldId id="282" r:id="rId24"/>
    <p:sldId id="283" r:id="rId25"/>
    <p:sldId id="294" r:id="rId26"/>
    <p:sldId id="284" r:id="rId27"/>
    <p:sldId id="285" r:id="rId28"/>
    <p:sldId id="286" r:id="rId29"/>
    <p:sldId id="295" r:id="rId30"/>
    <p:sldId id="269" r:id="rId31"/>
    <p:sldId id="287" r:id="rId32"/>
    <p:sldId id="288" r:id="rId33"/>
    <p:sldId id="297" r:id="rId34"/>
    <p:sldId id="289" r:id="rId35"/>
    <p:sldId id="290" r:id="rId36"/>
    <p:sldId id="291" r:id="rId37"/>
    <p:sldId id="296" r:id="rId38"/>
    <p:sldId id="270" r:id="rId39"/>
    <p:sldId id="271" r:id="rId40"/>
    <p:sldId id="272" r:id="rId41"/>
    <p:sldId id="273" r:id="rId42"/>
    <p:sldId id="274" r:id="rId43"/>
  </p:sldIdLst>
  <p:sldSz cx="18288000" cy="10287000"/>
  <p:notesSz cx="6858000" cy="9144000"/>
  <p:embeddedFontLst>
    <p:embeddedFont>
      <p:font typeface="Calibri" panose="020F0502020204030204" pitchFamily="34" charset="0"/>
      <p:regular r:id="rId44"/>
      <p:bold r:id="rId45"/>
      <p:italic r:id="rId46"/>
      <p:boldItalic r:id="rId47"/>
    </p:embeddedFont>
    <p:embeddedFont>
      <p:font typeface="Telegraf Bold" panose="020B0604020202020204" charset="0"/>
      <p:regular r:id="rId48"/>
    </p:embeddedFont>
    <p:embeddedFont>
      <p:font typeface="Arimo" panose="020B0604020202020204" charset="0"/>
      <p:regular r:id="rId49"/>
    </p:embeddedFont>
    <p:embeddedFont>
      <p:font typeface="Canva Sans Bold" panose="020B0604020202020204" charset="0"/>
      <p:regular r:id="rId50"/>
    </p:embeddedFont>
    <p:embeddedFont>
      <p:font typeface="Arimo Bold" panose="020B0604020202020204" charset="0"/>
      <p:regular r:id="rId51"/>
    </p:embeddedFont>
    <p:embeddedFont>
      <p:font typeface="Poppins" panose="020B0604020202020204" charset="0"/>
      <p:regular r:id="rId52"/>
    </p:embeddedFont>
    <p:embeddedFont>
      <p:font typeface="Poppins Bold" panose="020B0604020202020204" charset="0"/>
      <p:regular r:id="rId53"/>
    </p:embeddedFont>
    <p:embeddedFont>
      <p:font typeface="Canva Sans" panose="020B0604020202020204" charset="0"/>
      <p:regular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1776" autoAdjust="0"/>
  </p:normalViewPr>
  <p:slideViewPr>
    <p:cSldViewPr>
      <p:cViewPr varScale="1">
        <p:scale>
          <a:sx n="44" d="100"/>
          <a:sy n="44" d="100"/>
        </p:scale>
        <p:origin x="87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2.fntdata"/><Relationship Id="rId53" Type="http://schemas.openxmlformats.org/officeDocument/2006/relationships/font" Target="fonts/font10.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5.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6.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fntdata"/><Relationship Id="rId52" Type="http://schemas.openxmlformats.org/officeDocument/2006/relationships/font" Target="fonts/font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Freeform 2"/>
          <p:cNvSpPr/>
          <p:nvPr/>
        </p:nvSpPr>
        <p:spPr>
          <a:xfrm>
            <a:off x="708744" y="216335"/>
            <a:ext cx="13496798" cy="4212790"/>
          </a:xfrm>
          <a:custGeom>
            <a:avLst/>
            <a:gdLst/>
            <a:ahLst/>
            <a:cxnLst/>
            <a:rect l="l" t="t" r="r" b="b"/>
            <a:pathLst>
              <a:path w="13496798" h="4212790">
                <a:moveTo>
                  <a:pt x="0" y="0"/>
                </a:moveTo>
                <a:lnTo>
                  <a:pt x="13496797" y="0"/>
                </a:lnTo>
                <a:lnTo>
                  <a:pt x="13496797" y="4212790"/>
                </a:lnTo>
                <a:lnTo>
                  <a:pt x="0" y="4212790"/>
                </a:lnTo>
                <a:lnTo>
                  <a:pt x="0" y="0"/>
                </a:lnTo>
                <a:close/>
              </a:path>
            </a:pathLst>
          </a:custGeom>
          <a:blipFill>
            <a:blip r:embed="rId2"/>
            <a:stretch>
              <a:fillRect t="-949" b="-11284"/>
            </a:stretch>
          </a:blipFill>
        </p:spPr>
      </p:sp>
      <p:sp>
        <p:nvSpPr>
          <p:cNvPr id="3" name="Freeform 3"/>
          <p:cNvSpPr/>
          <p:nvPr/>
        </p:nvSpPr>
        <p:spPr>
          <a:xfrm>
            <a:off x="14358617" y="216335"/>
            <a:ext cx="3339425" cy="3084691"/>
          </a:xfrm>
          <a:custGeom>
            <a:avLst/>
            <a:gdLst/>
            <a:ahLst/>
            <a:cxnLst/>
            <a:rect l="l" t="t" r="r" b="b"/>
            <a:pathLst>
              <a:path w="3339425" h="3084691">
                <a:moveTo>
                  <a:pt x="0" y="0"/>
                </a:moveTo>
                <a:lnTo>
                  <a:pt x="3339426" y="0"/>
                </a:lnTo>
                <a:lnTo>
                  <a:pt x="3339426" y="3084691"/>
                </a:lnTo>
                <a:lnTo>
                  <a:pt x="0" y="3084691"/>
                </a:lnTo>
                <a:lnTo>
                  <a:pt x="0" y="0"/>
                </a:lnTo>
                <a:close/>
              </a:path>
            </a:pathLst>
          </a:custGeom>
          <a:blipFill>
            <a:blip r:embed="rId3"/>
            <a:stretch>
              <a:fillRect r="-852" b="-9181"/>
            </a:stretch>
          </a:blipFill>
        </p:spPr>
      </p:sp>
      <p:sp>
        <p:nvSpPr>
          <p:cNvPr id="4" name="TextBox 4"/>
          <p:cNvSpPr txBox="1"/>
          <p:nvPr/>
        </p:nvSpPr>
        <p:spPr>
          <a:xfrm>
            <a:off x="1028700" y="4981575"/>
            <a:ext cx="15961151" cy="1876664"/>
          </a:xfrm>
          <a:prstGeom prst="rect">
            <a:avLst/>
          </a:prstGeom>
        </p:spPr>
        <p:txBody>
          <a:bodyPr lIns="0" tIns="0" rIns="0" bIns="0" rtlCol="0" anchor="t">
            <a:spAutoFit/>
          </a:bodyPr>
          <a:lstStyle/>
          <a:p>
            <a:pPr algn="ctr">
              <a:lnSpc>
                <a:spcPts val="7323"/>
              </a:lnSpc>
              <a:spcBef>
                <a:spcPct val="0"/>
              </a:spcBef>
            </a:pPr>
            <a:r>
              <a:rPr lang="en-US" sz="5230" b="1" spc="-235">
                <a:solidFill>
                  <a:srgbClr val="FFFFFF"/>
                </a:solidFill>
                <a:latin typeface="Telegraf Bold"/>
                <a:ea typeface="Telegraf Bold"/>
                <a:cs typeface="Telegraf Bold"/>
                <a:sym typeface="Telegraf Bold"/>
              </a:rPr>
              <a:t>DYNAMIC ROUTING AND POWER CONTROL IN WSNs WITH K-MEANS AND Q-LEARNING </a:t>
            </a:r>
          </a:p>
        </p:txBody>
      </p:sp>
      <p:sp>
        <p:nvSpPr>
          <p:cNvPr id="5" name="TextBox 5"/>
          <p:cNvSpPr txBox="1"/>
          <p:nvPr/>
        </p:nvSpPr>
        <p:spPr>
          <a:xfrm>
            <a:off x="4957760" y="7429739"/>
            <a:ext cx="9247782" cy="869520"/>
          </a:xfrm>
          <a:prstGeom prst="rect">
            <a:avLst/>
          </a:prstGeom>
        </p:spPr>
        <p:txBody>
          <a:bodyPr lIns="0" tIns="0" rIns="0" bIns="0" rtlCol="0" anchor="t">
            <a:spAutoFit/>
          </a:bodyPr>
          <a:lstStyle/>
          <a:p>
            <a:pPr algn="l">
              <a:lnSpc>
                <a:spcPts val="6727"/>
              </a:lnSpc>
            </a:pPr>
            <a:r>
              <a:rPr lang="en-US" sz="4805" b="1">
                <a:solidFill>
                  <a:srgbClr val="FFFFFF"/>
                </a:solidFill>
                <a:latin typeface="Poppins Bold"/>
                <a:ea typeface="Poppins Bold"/>
                <a:cs typeface="Poppins Bold"/>
                <a:sym typeface="Poppins Bold"/>
              </a:rPr>
              <a:t>Domain: </a:t>
            </a:r>
            <a:r>
              <a:rPr lang="en-US" sz="4805">
                <a:solidFill>
                  <a:srgbClr val="FFFFFF"/>
                </a:solidFill>
                <a:latin typeface="Poppins"/>
                <a:ea typeface="Poppins"/>
                <a:cs typeface="Poppins"/>
                <a:sym typeface="Poppins"/>
              </a:rPr>
              <a:t>Artificial Intelligence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595368" y="4790557"/>
            <a:ext cx="5412266" cy="1309333"/>
          </a:xfrm>
          <a:prstGeom prst="rect">
            <a:avLst/>
          </a:prstGeom>
        </p:spPr>
        <p:txBody>
          <a:bodyPr wrap="square" lIns="0" tIns="0" rIns="0" bIns="0" rtlCol="0" anchor="t">
            <a:spAutoFit/>
          </a:bodyPr>
          <a:lstStyle/>
          <a:p>
            <a:pPr algn="ctr"/>
            <a:r>
              <a:rPr lang="en-US" sz="4254" b="1" dirty="0">
                <a:solidFill>
                  <a:srgbClr val="FFFFFF"/>
                </a:solidFill>
                <a:latin typeface="Canva Sans Bold"/>
                <a:ea typeface="Canva Sans Bold"/>
                <a:cs typeface="Canva Sans Bold"/>
                <a:sym typeface="Canva Sans Bold"/>
              </a:rPr>
              <a:t>BATCH 3</a:t>
            </a:r>
          </a:p>
          <a:p>
            <a:pPr algn="ctr"/>
            <a:r>
              <a:rPr lang="en-US" sz="4254" b="1" dirty="0">
                <a:solidFill>
                  <a:srgbClr val="FFFFFF"/>
                </a:solidFill>
                <a:latin typeface="Canva Sans Bold"/>
                <a:ea typeface="Canva Sans Bold"/>
                <a:cs typeface="Canva Sans Bold"/>
                <a:sym typeface="Canva Sans Bold"/>
              </a:rPr>
              <a:t>TEAM MEMBERS</a:t>
            </a:r>
          </a:p>
        </p:txBody>
      </p:sp>
      <p:sp>
        <p:nvSpPr>
          <p:cNvPr id="3" name="TextBox 3"/>
          <p:cNvSpPr txBox="1"/>
          <p:nvPr/>
        </p:nvSpPr>
        <p:spPr>
          <a:xfrm>
            <a:off x="3276600" y="6626124"/>
            <a:ext cx="9409769" cy="1661993"/>
          </a:xfrm>
          <a:prstGeom prst="rect">
            <a:avLst/>
          </a:prstGeom>
        </p:spPr>
        <p:txBody>
          <a:bodyPr lIns="0" tIns="0" rIns="0" bIns="0" rtlCol="0" anchor="t">
            <a:spAutoFit/>
          </a:bodyPr>
          <a:lstStyle/>
          <a:p>
            <a:pPr algn="ctr"/>
            <a:r>
              <a:rPr lang="en-US" sz="3600" dirty="0">
                <a:solidFill>
                  <a:srgbClr val="FFFFFF"/>
                </a:solidFill>
                <a:latin typeface="Canva Sans"/>
                <a:ea typeface="Canva Sans"/>
                <a:cs typeface="Canva Sans"/>
                <a:sym typeface="Canva Sans"/>
              </a:rPr>
              <a:t>REENA S (</a:t>
            </a:r>
            <a:r>
              <a:rPr lang="en-US" sz="3600" dirty="0" smtClean="0">
                <a:solidFill>
                  <a:srgbClr val="FFFFFF"/>
                </a:solidFill>
                <a:latin typeface="Canva Sans"/>
                <a:ea typeface="Canva Sans"/>
                <a:cs typeface="Canva Sans"/>
                <a:sym typeface="Canva Sans"/>
              </a:rPr>
              <a:t>8115U22CB044)</a:t>
            </a:r>
          </a:p>
          <a:p>
            <a:pPr algn="ctr"/>
            <a:r>
              <a:rPr lang="en-US" sz="3600" dirty="0" smtClean="0">
                <a:solidFill>
                  <a:srgbClr val="FFFFFF"/>
                </a:solidFill>
                <a:latin typeface="Canva Sans"/>
                <a:ea typeface="Canva Sans"/>
                <a:cs typeface="Canva Sans"/>
                <a:sym typeface="Canva Sans"/>
              </a:rPr>
              <a:t>              SHREE </a:t>
            </a:r>
            <a:r>
              <a:rPr lang="en-US" sz="3600" dirty="0">
                <a:solidFill>
                  <a:srgbClr val="FFFFFF"/>
                </a:solidFill>
                <a:latin typeface="Canva Sans"/>
                <a:ea typeface="Canva Sans"/>
                <a:cs typeface="Canva Sans"/>
                <a:sym typeface="Canva Sans"/>
              </a:rPr>
              <a:t>HARINI S (8115U22CB050)</a:t>
            </a:r>
          </a:p>
          <a:p>
            <a:pPr algn="ctr"/>
            <a:r>
              <a:rPr lang="en-US" sz="3600" dirty="0" smtClean="0">
                <a:solidFill>
                  <a:srgbClr val="FFFFFF"/>
                </a:solidFill>
                <a:latin typeface="Canva Sans"/>
                <a:ea typeface="Canva Sans"/>
                <a:cs typeface="Canva Sans"/>
                <a:sym typeface="Canva Sans"/>
              </a:rPr>
              <a:t>               SOUNDARYA </a:t>
            </a:r>
            <a:r>
              <a:rPr lang="en-US" sz="3600" dirty="0">
                <a:solidFill>
                  <a:srgbClr val="FFFFFF"/>
                </a:solidFill>
                <a:latin typeface="Canva Sans"/>
                <a:ea typeface="Canva Sans"/>
                <a:cs typeface="Canva Sans"/>
                <a:sym typeface="Canva Sans"/>
              </a:rPr>
              <a:t>A L (8115U22CB052)</a:t>
            </a:r>
          </a:p>
        </p:txBody>
      </p:sp>
      <p:sp>
        <p:nvSpPr>
          <p:cNvPr id="4" name="TextBox 4"/>
          <p:cNvSpPr txBox="1"/>
          <p:nvPr/>
        </p:nvSpPr>
        <p:spPr>
          <a:xfrm>
            <a:off x="6170134" y="933450"/>
            <a:ext cx="4262735" cy="887095"/>
          </a:xfrm>
          <a:prstGeom prst="rect">
            <a:avLst/>
          </a:prstGeom>
        </p:spPr>
        <p:txBody>
          <a:bodyPr lIns="0" tIns="0" rIns="0" bIns="0" rtlCol="0" anchor="t">
            <a:spAutoFit/>
          </a:bodyPr>
          <a:lstStyle/>
          <a:p>
            <a:pPr algn="ctr">
              <a:lnSpc>
                <a:spcPts val="7279"/>
              </a:lnSpc>
            </a:pPr>
            <a:r>
              <a:rPr lang="en-US" sz="5199" b="1">
                <a:solidFill>
                  <a:srgbClr val="FFFFFF"/>
                </a:solidFill>
                <a:latin typeface="Canva Sans Bold"/>
                <a:ea typeface="Canva Sans Bold"/>
                <a:cs typeface="Canva Sans Bold"/>
                <a:sym typeface="Canva Sans Bold"/>
              </a:rPr>
              <a:t>GUIDE NAME</a:t>
            </a:r>
          </a:p>
        </p:txBody>
      </p:sp>
      <p:sp>
        <p:nvSpPr>
          <p:cNvPr id="5" name="TextBox 5"/>
          <p:cNvSpPr txBox="1"/>
          <p:nvPr/>
        </p:nvSpPr>
        <p:spPr>
          <a:xfrm>
            <a:off x="2667000" y="2123993"/>
            <a:ext cx="11846243" cy="2707921"/>
          </a:xfrm>
          <a:prstGeom prst="rect">
            <a:avLst/>
          </a:prstGeom>
        </p:spPr>
        <p:txBody>
          <a:bodyPr lIns="0" tIns="0" rIns="0" bIns="0" rtlCol="0" anchor="t">
            <a:spAutoFit/>
          </a:bodyPr>
          <a:lstStyle/>
          <a:p>
            <a:pPr algn="ctr"/>
            <a:r>
              <a:rPr lang="en-US" sz="3399" b="1" dirty="0">
                <a:solidFill>
                  <a:srgbClr val="FFFFFF"/>
                </a:solidFill>
                <a:latin typeface="Canva Sans Bold"/>
                <a:ea typeface="Canva Sans Bold"/>
                <a:cs typeface="Canva Sans Bold"/>
                <a:sym typeface="Canva Sans Bold"/>
              </a:rPr>
              <a:t>Mrs. P. UMA MAHESHWARI, M.E.</a:t>
            </a:r>
          </a:p>
          <a:p>
            <a:pPr algn="ctr"/>
            <a:r>
              <a:rPr lang="en-US" sz="3399" dirty="0">
                <a:solidFill>
                  <a:srgbClr val="FFFFFF"/>
                </a:solidFill>
                <a:latin typeface="Canva Sans"/>
                <a:ea typeface="Canva Sans"/>
                <a:cs typeface="Canva Sans"/>
                <a:sym typeface="Canva Sans"/>
              </a:rPr>
              <a:t> Assistant Professor,</a:t>
            </a:r>
          </a:p>
          <a:p>
            <a:pPr algn="ctr"/>
            <a:r>
              <a:rPr lang="en-US" sz="3399" dirty="0">
                <a:solidFill>
                  <a:srgbClr val="FFFFFF"/>
                </a:solidFill>
                <a:latin typeface="Canva Sans"/>
                <a:ea typeface="Canva Sans"/>
                <a:cs typeface="Canva Sans"/>
                <a:sym typeface="Canva Sans"/>
              </a:rPr>
              <a:t> Department of CSBS,</a:t>
            </a:r>
          </a:p>
          <a:p>
            <a:pPr algn="ctr"/>
            <a:r>
              <a:rPr lang="en-US" sz="3399" dirty="0">
                <a:solidFill>
                  <a:srgbClr val="FFFFFF"/>
                </a:solidFill>
                <a:latin typeface="Canva Sans"/>
                <a:ea typeface="Canva Sans"/>
                <a:cs typeface="Canva Sans"/>
                <a:sym typeface="Canva Sans"/>
              </a:rPr>
              <a:t> </a:t>
            </a:r>
            <a:r>
              <a:rPr lang="en-US" sz="3399" dirty="0" err="1" smtClean="0">
                <a:solidFill>
                  <a:srgbClr val="FFFFFF"/>
                </a:solidFill>
                <a:latin typeface="Canva Sans"/>
                <a:ea typeface="Canva Sans"/>
                <a:cs typeface="Canva Sans"/>
                <a:sym typeface="Canva Sans"/>
              </a:rPr>
              <a:t>K.Ramakrishnan</a:t>
            </a:r>
            <a:r>
              <a:rPr lang="en-US" sz="3399" dirty="0" smtClean="0">
                <a:solidFill>
                  <a:srgbClr val="FFFFFF"/>
                </a:solidFill>
                <a:latin typeface="Canva Sans"/>
                <a:ea typeface="Canva Sans"/>
                <a:cs typeface="Canva Sans"/>
                <a:sym typeface="Canva Sans"/>
              </a:rPr>
              <a:t> </a:t>
            </a:r>
            <a:r>
              <a:rPr lang="en-US" sz="3399" dirty="0">
                <a:solidFill>
                  <a:srgbClr val="FFFFFF"/>
                </a:solidFill>
                <a:latin typeface="Canva Sans"/>
                <a:ea typeface="Canva Sans"/>
                <a:cs typeface="Canva Sans"/>
                <a:sym typeface="Canva Sans"/>
              </a:rPr>
              <a:t>College of Engineering (Autonomous)</a:t>
            </a:r>
          </a:p>
          <a:p>
            <a:pPr algn="ctr">
              <a:lnSpc>
                <a:spcPts val="4759"/>
              </a:lnSpc>
            </a:pPr>
            <a:endParaRPr lang="en-US" sz="3399" dirty="0">
              <a:solidFill>
                <a:srgbClr val="FFFFFF"/>
              </a:solidFill>
              <a:latin typeface="Canva Sans"/>
              <a:ea typeface="Canva Sans"/>
              <a:cs typeface="Canva Sans"/>
              <a:sym typeface="Canva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181600" y="419100"/>
            <a:ext cx="6297572" cy="1141338"/>
          </a:xfrm>
          <a:prstGeom prst="rect">
            <a:avLst/>
          </a:prstGeom>
        </p:spPr>
        <p:txBody>
          <a:bodyPr wrap="square" lIns="0" tIns="0" rIns="0" bIns="0" rtlCol="0" anchor="t">
            <a:spAutoFit/>
          </a:bodyPr>
          <a:lstStyle/>
          <a:p>
            <a:pPr algn="ctr">
              <a:lnSpc>
                <a:spcPts val="8896"/>
              </a:lnSpc>
            </a:pPr>
            <a:r>
              <a:rPr lang="en-US" sz="6354" b="1" dirty="0">
                <a:solidFill>
                  <a:srgbClr val="FFFFFF"/>
                </a:solidFill>
                <a:latin typeface="Canva Sans Bold"/>
                <a:ea typeface="Canva Sans Bold"/>
                <a:cs typeface="Canva Sans Bold"/>
                <a:sym typeface="Canva Sans Bold"/>
              </a:rPr>
              <a:t>LIST OF SLIDE</a:t>
            </a:r>
          </a:p>
        </p:txBody>
      </p:sp>
      <p:sp>
        <p:nvSpPr>
          <p:cNvPr id="3" name="TextBox 3"/>
          <p:cNvSpPr txBox="1"/>
          <p:nvPr/>
        </p:nvSpPr>
        <p:spPr>
          <a:xfrm>
            <a:off x="2286000" y="2576621"/>
            <a:ext cx="7340757" cy="6127703"/>
          </a:xfrm>
          <a:prstGeom prst="rect">
            <a:avLst/>
          </a:prstGeom>
        </p:spPr>
        <p:txBody>
          <a:bodyPr wrap="square" lIns="0" tIns="0" rIns="0" bIns="0" rtlCol="0" anchor="t">
            <a:spAutoFit/>
          </a:bodyPr>
          <a:lstStyle/>
          <a:p>
            <a:pPr marL="742950" indent="-74295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Introduction</a:t>
            </a:r>
          </a:p>
          <a:p>
            <a:pPr marL="742950" indent="-74295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Abstract</a:t>
            </a:r>
            <a:endParaRPr lang="en-US" sz="3948" dirty="0">
              <a:solidFill>
                <a:srgbClr val="FFFFFF"/>
              </a:solidFill>
              <a:latin typeface="Canva Sans"/>
              <a:ea typeface="Canva Sans"/>
              <a:cs typeface="Canva Sans"/>
              <a:sym typeface="Canva Sans"/>
            </a:endParaRP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Literature </a:t>
            </a:r>
            <a:r>
              <a:rPr lang="en-US" sz="3948" dirty="0">
                <a:solidFill>
                  <a:srgbClr val="FFFFFF"/>
                </a:solidFill>
                <a:latin typeface="Canva Sans"/>
                <a:ea typeface="Canva Sans"/>
                <a:cs typeface="Canva Sans"/>
                <a:sym typeface="Canva Sans"/>
              </a:rPr>
              <a:t>Survey</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Existing </a:t>
            </a:r>
            <a:r>
              <a:rPr lang="en-US" sz="3948" dirty="0">
                <a:solidFill>
                  <a:srgbClr val="FFFFFF"/>
                </a:solidFill>
                <a:latin typeface="Canva Sans"/>
                <a:ea typeface="Canva Sans"/>
                <a:cs typeface="Canva Sans"/>
                <a:sym typeface="Canva Sans"/>
              </a:rPr>
              <a:t>System</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Disadvantages</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Problem Statement</a:t>
            </a:r>
            <a:endParaRPr lang="en-US" sz="3948" dirty="0">
              <a:solidFill>
                <a:srgbClr val="FFFFFF"/>
              </a:solidFill>
              <a:latin typeface="Canva Sans"/>
              <a:ea typeface="Canva Sans"/>
              <a:cs typeface="Canva Sans"/>
              <a:sym typeface="Canva Sans"/>
            </a:endParaRPr>
          </a:p>
          <a:p>
            <a:pPr algn="l">
              <a:lnSpc>
                <a:spcPts val="5528"/>
              </a:lnSpc>
            </a:pPr>
            <a:endParaRPr lang="en-US" sz="3948" dirty="0">
              <a:solidFill>
                <a:srgbClr val="FFFFFF"/>
              </a:solidFill>
              <a:latin typeface="Canva Sans"/>
              <a:ea typeface="Canva Sans"/>
              <a:cs typeface="Canva Sans"/>
              <a:sym typeface="Canva Sans"/>
            </a:endParaRPr>
          </a:p>
        </p:txBody>
      </p:sp>
      <p:sp>
        <p:nvSpPr>
          <p:cNvPr id="4" name="TextBox 3"/>
          <p:cNvSpPr txBox="1"/>
          <p:nvPr/>
        </p:nvSpPr>
        <p:spPr>
          <a:xfrm>
            <a:off x="9906000" y="2499357"/>
            <a:ext cx="7340757" cy="6282233"/>
          </a:xfrm>
          <a:prstGeom prst="rect">
            <a:avLst/>
          </a:prstGeom>
        </p:spPr>
        <p:txBody>
          <a:bodyPr wrap="square" lIns="0" tIns="0" rIns="0" bIns="0" rtlCol="0" anchor="t">
            <a:spAutoFit/>
          </a:bodyPr>
          <a:lstStyle/>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Proposed </a:t>
            </a:r>
            <a:r>
              <a:rPr lang="en-US" sz="3948" dirty="0">
                <a:solidFill>
                  <a:srgbClr val="FFFFFF"/>
                </a:solidFill>
                <a:latin typeface="Canva Sans"/>
                <a:ea typeface="Canva Sans"/>
                <a:cs typeface="Canva Sans"/>
                <a:sym typeface="Canva Sans"/>
              </a:rPr>
              <a:t>System</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Advantages</a:t>
            </a:r>
            <a:endParaRPr lang="en-US" sz="3948" dirty="0">
              <a:solidFill>
                <a:srgbClr val="FFFFFF"/>
              </a:solidFill>
              <a:latin typeface="Canva Sans"/>
              <a:ea typeface="Canva Sans"/>
              <a:cs typeface="Canva Sans"/>
              <a:sym typeface="Canva Sans"/>
            </a:endParaRP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List </a:t>
            </a:r>
            <a:r>
              <a:rPr lang="en-US" sz="3948" dirty="0">
                <a:solidFill>
                  <a:srgbClr val="FFFFFF"/>
                </a:solidFill>
                <a:latin typeface="Canva Sans"/>
                <a:ea typeface="Canva Sans"/>
                <a:cs typeface="Canva Sans"/>
                <a:sym typeface="Canva Sans"/>
              </a:rPr>
              <a:t>of Modules</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Modules </a:t>
            </a:r>
            <a:r>
              <a:rPr lang="en-US" sz="3948" dirty="0">
                <a:solidFill>
                  <a:srgbClr val="FFFFFF"/>
                </a:solidFill>
                <a:latin typeface="Canva Sans"/>
                <a:ea typeface="Canva Sans"/>
                <a:cs typeface="Canva Sans"/>
                <a:sym typeface="Canva Sans"/>
              </a:rPr>
              <a:t>Explanation</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Future </a:t>
            </a:r>
            <a:r>
              <a:rPr lang="en-US" sz="3948" dirty="0">
                <a:solidFill>
                  <a:srgbClr val="FFFFFF"/>
                </a:solidFill>
                <a:latin typeface="Canva Sans"/>
                <a:ea typeface="Canva Sans"/>
                <a:cs typeface="Canva Sans"/>
                <a:sym typeface="Canva Sans"/>
              </a:rPr>
              <a:t>Enhancement</a:t>
            </a: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Conclusion</a:t>
            </a:r>
            <a:endParaRPr lang="en-US" sz="3948" dirty="0">
              <a:solidFill>
                <a:srgbClr val="FFFFFF"/>
              </a:solidFill>
              <a:latin typeface="Canva Sans"/>
              <a:ea typeface="Canva Sans"/>
              <a:cs typeface="Canva Sans"/>
              <a:sym typeface="Canva Sans"/>
            </a:endParaRPr>
          </a:p>
          <a:p>
            <a:pPr marL="571500" indent="-571500" algn="l">
              <a:lnSpc>
                <a:spcPct val="150000"/>
              </a:lnSpc>
              <a:buFont typeface="Wingdings" panose="05000000000000000000" pitchFamily="2" charset="2"/>
              <a:buChar char="q"/>
            </a:pPr>
            <a:r>
              <a:rPr lang="en-US" sz="3948" dirty="0" smtClean="0">
                <a:solidFill>
                  <a:srgbClr val="FFFFFF"/>
                </a:solidFill>
                <a:latin typeface="Canva Sans"/>
                <a:ea typeface="Canva Sans"/>
                <a:cs typeface="Canva Sans"/>
                <a:sym typeface="Canva Sans"/>
              </a:rPr>
              <a:t> </a:t>
            </a:r>
            <a:r>
              <a:rPr lang="en-US" sz="3948" dirty="0">
                <a:solidFill>
                  <a:srgbClr val="FFFFFF"/>
                </a:solidFill>
                <a:latin typeface="Canva Sans"/>
                <a:ea typeface="Canva Sans"/>
                <a:cs typeface="Canva Sans"/>
                <a:sym typeface="Canva Sans"/>
              </a:rPr>
              <a:t>References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844950" y="207328"/>
            <a:ext cx="6775049" cy="1141338"/>
          </a:xfrm>
          <a:prstGeom prst="rect">
            <a:avLst/>
          </a:prstGeom>
        </p:spPr>
        <p:txBody>
          <a:bodyPr wrap="square" lIns="0" tIns="0" rIns="0" bIns="0" rtlCol="0" anchor="t">
            <a:spAutoFit/>
          </a:bodyPr>
          <a:lstStyle/>
          <a:p>
            <a:pPr algn="ctr">
              <a:lnSpc>
                <a:spcPts val="8890"/>
              </a:lnSpc>
            </a:pPr>
            <a:r>
              <a:rPr lang="en-US" sz="6350" b="1" dirty="0">
                <a:solidFill>
                  <a:srgbClr val="FFFFFF"/>
                </a:solidFill>
                <a:latin typeface="Canva Sans Bold"/>
                <a:ea typeface="Canva Sans Bold"/>
                <a:cs typeface="Canva Sans Bold"/>
                <a:sym typeface="Canva Sans Bold"/>
              </a:rPr>
              <a:t>INTRODUCTION</a:t>
            </a:r>
          </a:p>
        </p:txBody>
      </p:sp>
      <p:sp>
        <p:nvSpPr>
          <p:cNvPr id="3" name="TextBox 3"/>
          <p:cNvSpPr txBox="1"/>
          <p:nvPr/>
        </p:nvSpPr>
        <p:spPr>
          <a:xfrm>
            <a:off x="587325" y="1756262"/>
            <a:ext cx="17113351" cy="7651775"/>
          </a:xfrm>
          <a:prstGeom prst="rect">
            <a:avLst/>
          </a:prstGeom>
        </p:spPr>
        <p:txBody>
          <a:bodyPr lIns="0" tIns="0" rIns="0" bIns="0" rtlCol="0" anchor="t">
            <a:spAutoFit/>
          </a:bodyPr>
          <a:lstStyle/>
          <a:p>
            <a:pPr marL="767161" lvl="1" indent="-383581" algn="just">
              <a:lnSpc>
                <a:spcPts val="4974"/>
              </a:lnSpc>
              <a:buFont typeface="Arial"/>
              <a:buChar char="•"/>
            </a:pPr>
            <a:r>
              <a:rPr lang="en-US" sz="3553" dirty="0">
                <a:solidFill>
                  <a:srgbClr val="FFFFFF"/>
                </a:solidFill>
                <a:latin typeface="Canva Sans"/>
                <a:ea typeface="Canva Sans"/>
                <a:cs typeface="Canva Sans"/>
                <a:sym typeface="Canva Sans"/>
              </a:rPr>
              <a:t>Wireless Sensor Networks (WSNs) consist of multiple low-power sensor nodes used to sense, process, and transmit data. </a:t>
            </a:r>
          </a:p>
          <a:p>
            <a:pPr algn="just">
              <a:lnSpc>
                <a:spcPts val="4974"/>
              </a:lnSpc>
            </a:pPr>
            <a:endParaRPr lang="en-US" sz="3553" dirty="0">
              <a:solidFill>
                <a:srgbClr val="FFFFFF"/>
              </a:solidFill>
              <a:latin typeface="Canva Sans"/>
              <a:ea typeface="Canva Sans"/>
              <a:cs typeface="Canva Sans"/>
              <a:sym typeface="Canva Sans"/>
            </a:endParaRPr>
          </a:p>
          <a:p>
            <a:pPr marL="767161" lvl="1" indent="-383581" algn="just">
              <a:lnSpc>
                <a:spcPts val="4974"/>
              </a:lnSpc>
              <a:buFont typeface="Arial"/>
              <a:buChar char="•"/>
            </a:pPr>
            <a:r>
              <a:rPr lang="en-US" sz="3553" dirty="0">
                <a:solidFill>
                  <a:srgbClr val="FFFFFF"/>
                </a:solidFill>
                <a:latin typeface="Canva Sans"/>
                <a:ea typeface="Canva Sans"/>
                <a:cs typeface="Canva Sans"/>
                <a:sym typeface="Canva Sans"/>
              </a:rPr>
              <a:t>These nodes have limited battery power and processing capability, making energy efficiency a major challenge.</a:t>
            </a:r>
          </a:p>
          <a:p>
            <a:pPr algn="just">
              <a:lnSpc>
                <a:spcPts val="4974"/>
              </a:lnSpc>
            </a:pPr>
            <a:endParaRPr lang="en-US" sz="3553" dirty="0">
              <a:solidFill>
                <a:srgbClr val="FFFFFF"/>
              </a:solidFill>
              <a:latin typeface="Canva Sans"/>
              <a:ea typeface="Canva Sans"/>
              <a:cs typeface="Canva Sans"/>
              <a:sym typeface="Canva Sans"/>
            </a:endParaRPr>
          </a:p>
          <a:p>
            <a:pPr marL="767161" lvl="1" indent="-383581" algn="just">
              <a:lnSpc>
                <a:spcPts val="4974"/>
              </a:lnSpc>
              <a:buFont typeface="Arial"/>
              <a:buChar char="•"/>
            </a:pPr>
            <a:r>
              <a:rPr lang="en-US" sz="3553" dirty="0">
                <a:solidFill>
                  <a:srgbClr val="FFFFFF"/>
                </a:solidFill>
                <a:latin typeface="Canva Sans"/>
                <a:ea typeface="Canva Sans"/>
                <a:cs typeface="Canva Sans"/>
                <a:sym typeface="Canva Sans"/>
              </a:rPr>
              <a:t>This project introduces an AI-based model that combines K-Means clustering and Q-Learning to improve routing and power control in WSNs.</a:t>
            </a:r>
          </a:p>
          <a:p>
            <a:pPr algn="just">
              <a:lnSpc>
                <a:spcPts val="4974"/>
              </a:lnSpc>
            </a:pPr>
            <a:endParaRPr lang="en-US" sz="3553" dirty="0">
              <a:solidFill>
                <a:srgbClr val="FFFFFF"/>
              </a:solidFill>
              <a:latin typeface="Canva Sans"/>
              <a:ea typeface="Canva Sans"/>
              <a:cs typeface="Canva Sans"/>
              <a:sym typeface="Canva Sans"/>
            </a:endParaRPr>
          </a:p>
          <a:p>
            <a:pPr marL="767161" lvl="1" indent="-383581" algn="just">
              <a:lnSpc>
                <a:spcPts val="4974"/>
              </a:lnSpc>
              <a:buFont typeface="Arial"/>
              <a:buChar char="•"/>
            </a:pPr>
            <a:r>
              <a:rPr lang="en-US" sz="3553" dirty="0">
                <a:solidFill>
                  <a:srgbClr val="FFFFFF"/>
                </a:solidFill>
                <a:latin typeface="Canva Sans"/>
                <a:ea typeface="Canva Sans"/>
                <a:cs typeface="Canva Sans"/>
                <a:sym typeface="Canva Sans"/>
              </a:rPr>
              <a:t>K-Means reduces intra-cluster distance, and Q-Learning selects the most energy-efficient routes dynamically.</a:t>
            </a:r>
          </a:p>
          <a:p>
            <a:pPr algn="just">
              <a:lnSpc>
                <a:spcPts val="4974"/>
              </a:lnSpc>
            </a:pPr>
            <a:endParaRPr lang="en-US" sz="3553" dirty="0">
              <a:solidFill>
                <a:srgbClr val="FFFFFF"/>
              </a:solidFill>
              <a:latin typeface="Canva Sans"/>
              <a:ea typeface="Canva Sans"/>
              <a:cs typeface="Canva Sans"/>
              <a:sym typeface="Canv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52400" y="723900"/>
            <a:ext cx="6775049" cy="1066254"/>
          </a:xfrm>
          <a:prstGeom prst="rect">
            <a:avLst/>
          </a:prstGeom>
        </p:spPr>
        <p:txBody>
          <a:bodyPr wrap="square" lIns="0" tIns="0" rIns="0" bIns="0" rtlCol="0" anchor="t">
            <a:spAutoFit/>
          </a:bodyPr>
          <a:lstStyle/>
          <a:p>
            <a:pPr algn="ctr">
              <a:lnSpc>
                <a:spcPts val="8890"/>
              </a:lnSpc>
            </a:pPr>
            <a:r>
              <a:rPr lang="en-US" sz="6350" b="1" dirty="0" smtClean="0">
                <a:solidFill>
                  <a:srgbClr val="FFFFFF"/>
                </a:solidFill>
                <a:latin typeface="Canva Sans Bold"/>
                <a:ea typeface="Canva Sans Bold"/>
                <a:cs typeface="Canva Sans Bold"/>
                <a:sym typeface="Canva Sans Bold"/>
              </a:rPr>
              <a:t>ABSTRACT</a:t>
            </a:r>
            <a:endParaRPr lang="en-US" sz="6350" b="1" dirty="0">
              <a:solidFill>
                <a:srgbClr val="FFFFFF"/>
              </a:solidFill>
              <a:latin typeface="Canva Sans Bold"/>
              <a:ea typeface="Canva Sans Bold"/>
              <a:cs typeface="Canva Sans Bold"/>
              <a:sym typeface="Canva Sans Bold"/>
            </a:endParaRPr>
          </a:p>
        </p:txBody>
      </p:sp>
      <p:sp>
        <p:nvSpPr>
          <p:cNvPr id="3" name="TextBox 3"/>
          <p:cNvSpPr txBox="1"/>
          <p:nvPr/>
        </p:nvSpPr>
        <p:spPr>
          <a:xfrm>
            <a:off x="609600" y="2019300"/>
            <a:ext cx="17113351" cy="7290586"/>
          </a:xfrm>
          <a:prstGeom prst="rect">
            <a:avLst/>
          </a:prstGeom>
        </p:spPr>
        <p:txBody>
          <a:bodyPr lIns="0" tIns="0" rIns="0" bIns="0" rtlCol="0" anchor="t">
            <a:spAutoFit/>
          </a:bodyPr>
          <a:lstStyle/>
          <a:p>
            <a:pPr marL="383580" lvl="1" algn="just">
              <a:lnSpc>
                <a:spcPct val="150000"/>
              </a:lnSpc>
            </a:pPr>
            <a:r>
              <a:rPr lang="en-US" sz="4000" dirty="0">
                <a:solidFill>
                  <a:schemeClr val="bg1"/>
                </a:solidFill>
              </a:rPr>
              <a:t>Wireless Sensor Networks (WSNs) suffer from limited battery power and high energy consumption due to inefficient routing. This project proposes an intelligent energy-efficient communication model using K-Means clustering and Q-Learning. Sensor nodes are grouped into clusters, and cluster heads are selected based on distance and residual energy. Q-Learning dynamically determines the optimal routing path to the base station. Power control and sleep scheduling further reduce unnecessary energy usage. The proposed approach improves energy efficiency and extends overall network lifetime.</a:t>
            </a:r>
            <a:endParaRPr lang="en-US" sz="4000" dirty="0">
              <a:solidFill>
                <a:schemeClr val="bg1"/>
              </a:solidFill>
              <a:latin typeface="Canva Sans"/>
              <a:ea typeface="Canva Sans"/>
              <a:cs typeface="Canva Sans"/>
              <a:sym typeface="Canva Sans"/>
            </a:endParaRPr>
          </a:p>
        </p:txBody>
      </p:sp>
    </p:spTree>
    <p:extLst>
      <p:ext uri="{BB962C8B-B14F-4D97-AF65-F5344CB8AC3E}">
        <p14:creationId xmlns:p14="http://schemas.microsoft.com/office/powerpoint/2010/main" val="2550266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028700" y="1657722"/>
          <a:ext cx="16299081" cy="8020228"/>
        </p:xfrm>
        <a:graphic>
          <a:graphicData uri="http://schemas.openxmlformats.org/drawingml/2006/table">
            <a:tbl>
              <a:tblPr/>
              <a:tblGrid>
                <a:gridCol w="5887545"/>
                <a:gridCol w="3795527"/>
                <a:gridCol w="6616009"/>
              </a:tblGrid>
              <a:tr h="1445140">
                <a:tc>
                  <a:txBody>
                    <a:bodyPr/>
                    <a:lstStyle/>
                    <a:p>
                      <a:pPr algn="ctr">
                        <a:lnSpc>
                          <a:spcPts val="5739"/>
                        </a:lnSpc>
                        <a:defRPr/>
                      </a:pPr>
                      <a:r>
                        <a:rPr lang="en-US" sz="4099">
                          <a:solidFill>
                            <a:srgbClr val="FFFFFF"/>
                          </a:solidFill>
                          <a:latin typeface="Poppins"/>
                          <a:ea typeface="Poppins"/>
                          <a:cs typeface="Poppins"/>
                          <a:sym typeface="Poppins"/>
                        </a:rPr>
                        <a:t>Title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4339"/>
                        </a:lnSpc>
                        <a:defRPr/>
                      </a:pPr>
                      <a:r>
                        <a:rPr lang="en-US" sz="3099">
                          <a:solidFill>
                            <a:srgbClr val="FFFFFF"/>
                          </a:solidFill>
                          <a:latin typeface="Poppins"/>
                          <a:ea typeface="Poppins"/>
                          <a:cs typeface="Poppins"/>
                          <a:sym typeface="Poppins"/>
                        </a:rPr>
                        <a:t>AUTHOR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Poppins"/>
                          <a:ea typeface="Poppins"/>
                          <a:cs typeface="Poppins"/>
                          <a:sym typeface="Poppins"/>
                        </a:rPr>
                        <a:t>ALGORITHM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2344764">
                <a:tc>
                  <a:txBody>
                    <a:bodyPr/>
                    <a:lstStyle/>
                    <a:p>
                      <a:pPr algn="ctr">
                        <a:lnSpc>
                          <a:spcPts val="3919"/>
                        </a:lnSpc>
                        <a:defRPr/>
                      </a:pPr>
                      <a:r>
                        <a:rPr lang="en-US" sz="2799">
                          <a:solidFill>
                            <a:srgbClr val="FFFFFF"/>
                          </a:solidFill>
                          <a:latin typeface="Poppins"/>
                          <a:ea typeface="Poppins"/>
                          <a:cs typeface="Poppins"/>
                          <a:sym typeface="Poppins"/>
                        </a:rPr>
                        <a:t>Q-Learning-Based Energy-Efficient Routing (2021)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Poppins"/>
                          <a:ea typeface="Poppins"/>
                          <a:cs typeface="Poppins"/>
                          <a:sym typeface="Poppins"/>
                        </a:rPr>
                        <a:t>Wan-Kyu Yun &amp; Sang-Jo Yoo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4480"/>
                        </a:lnSpc>
                        <a:defRPr/>
                      </a:pPr>
                      <a:r>
                        <a:rPr lang="en-US" sz="3200">
                          <a:solidFill>
                            <a:srgbClr val="FFFFFF"/>
                          </a:solidFill>
                          <a:latin typeface="Poppins"/>
                          <a:ea typeface="Poppins"/>
                          <a:cs typeface="Poppins"/>
                          <a:sym typeface="Poppins"/>
                        </a:rPr>
                        <a:t>Q-Learning-Based Data Aggregation &amp; Energy-Efficient Routing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2612737">
                <a:tc>
                  <a:txBody>
                    <a:bodyPr/>
                    <a:lstStyle/>
                    <a:p>
                      <a:pPr algn="ctr">
                        <a:lnSpc>
                          <a:spcPts val="3919"/>
                        </a:lnSpc>
                        <a:defRPr/>
                      </a:pPr>
                      <a:r>
                        <a:rPr lang="en-US" sz="2799">
                          <a:solidFill>
                            <a:srgbClr val="FFFFFF"/>
                          </a:solidFill>
                          <a:latin typeface="Poppins"/>
                          <a:ea typeface="Poppins"/>
                          <a:cs typeface="Poppins"/>
                          <a:sym typeface="Poppins"/>
                        </a:rPr>
                        <a:t>EEMLCR using LEACH protocols  (2025)</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Poppins"/>
                          <a:ea typeface="Poppins"/>
                          <a:cs typeface="Poppins"/>
                          <a:sym typeface="Poppins"/>
                        </a:rPr>
                        <a:t> Muhammad Akram, Sibghat Ullah Bazai, Muhammad Imran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l">
                        <a:lnSpc>
                          <a:spcPts val="5040"/>
                        </a:lnSpc>
                        <a:defRPr/>
                      </a:pPr>
                      <a:r>
                        <a:rPr lang="en-US" sz="3600">
                          <a:solidFill>
                            <a:srgbClr val="FFFFFF"/>
                          </a:solidFill>
                          <a:latin typeface="Canva Sans"/>
                          <a:ea typeface="Canva Sans"/>
                          <a:cs typeface="Canva Sans"/>
                          <a:sym typeface="Canva Sans"/>
                        </a:rPr>
                        <a:t>LEACH Protocol Algorithms</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1617587">
                <a:tc>
                  <a:txBody>
                    <a:bodyPr/>
                    <a:lstStyle/>
                    <a:p>
                      <a:pPr algn="ctr">
                        <a:lnSpc>
                          <a:spcPts val="3919"/>
                        </a:lnSpc>
                        <a:defRPr/>
                      </a:pPr>
                      <a:r>
                        <a:rPr lang="en-US" sz="2799">
                          <a:solidFill>
                            <a:srgbClr val="FFFFFF"/>
                          </a:solidFill>
                          <a:latin typeface="Poppins"/>
                          <a:ea typeface="Poppins"/>
                          <a:cs typeface="Poppins"/>
                          <a:sym typeface="Poppins"/>
                        </a:rPr>
                        <a:t>AI in Sensor Networks (2024)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Poppins"/>
                          <a:ea typeface="Poppins"/>
                          <a:cs typeface="Poppins"/>
                          <a:sym typeface="Poppins"/>
                        </a:rPr>
                        <a:t> Salim El Khediri &amp; Awatef Benfradj</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Poppins"/>
                          <a:ea typeface="Poppins"/>
                          <a:cs typeface="Poppins"/>
                          <a:sym typeface="Poppins"/>
                        </a:rPr>
                        <a:t>ML &amp; RL techniques for WSN optimization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bl>
          </a:graphicData>
        </a:graphic>
      </p:graphicFrame>
      <p:sp>
        <p:nvSpPr>
          <p:cNvPr id="3" name="TextBox 3"/>
          <p:cNvSpPr txBox="1"/>
          <p:nvPr/>
        </p:nvSpPr>
        <p:spPr>
          <a:xfrm>
            <a:off x="1423318" y="-60890"/>
            <a:ext cx="8451813" cy="1089590"/>
          </a:xfrm>
          <a:prstGeom prst="rect">
            <a:avLst/>
          </a:prstGeom>
        </p:spPr>
        <p:txBody>
          <a:bodyPr lIns="0" tIns="0" rIns="0" bIns="0" rtlCol="0" anchor="t">
            <a:spAutoFit/>
          </a:bodyPr>
          <a:lstStyle/>
          <a:p>
            <a:pPr algn="ctr">
              <a:lnSpc>
                <a:spcPts val="8916"/>
              </a:lnSpc>
            </a:pPr>
            <a:r>
              <a:rPr lang="en-US" sz="6368" b="1">
                <a:solidFill>
                  <a:srgbClr val="FFFFFF"/>
                </a:solidFill>
                <a:latin typeface="Canva Sans Bold"/>
                <a:ea typeface="Canva Sans Bold"/>
                <a:cs typeface="Canva Sans Bold"/>
                <a:sym typeface="Canva Sans Bold"/>
              </a:rPr>
              <a:t>LITERATURE SURVEY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712324" y="1626056"/>
          <a:ext cx="15249025" cy="6336704"/>
        </p:xfrm>
        <a:graphic>
          <a:graphicData uri="http://schemas.openxmlformats.org/drawingml/2006/table">
            <a:tbl>
              <a:tblPr/>
              <a:tblGrid>
                <a:gridCol w="5488752"/>
                <a:gridCol w="4300503"/>
                <a:gridCol w="5459770"/>
              </a:tblGrid>
              <a:tr h="2050836">
                <a:tc>
                  <a:txBody>
                    <a:bodyPr/>
                    <a:lstStyle/>
                    <a:p>
                      <a:pPr algn="ctr">
                        <a:lnSpc>
                          <a:spcPts val="6719"/>
                        </a:lnSpc>
                        <a:defRPr/>
                      </a:pPr>
                      <a:r>
                        <a:rPr lang="en-US" sz="4800" b="1">
                          <a:solidFill>
                            <a:srgbClr val="FFFFFF"/>
                          </a:solidFill>
                          <a:latin typeface="Canva Sans Bold"/>
                          <a:ea typeface="Canva Sans Bold"/>
                          <a:cs typeface="Canva Sans Bold"/>
                          <a:sym typeface="Canva Sans Bold"/>
                        </a:rPr>
                        <a:t>Title</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5880"/>
                        </a:lnSpc>
                        <a:defRPr/>
                      </a:pPr>
                      <a:r>
                        <a:rPr lang="en-US" sz="4200" b="1">
                          <a:solidFill>
                            <a:srgbClr val="FFFFFF"/>
                          </a:solidFill>
                          <a:latin typeface="Canva Sans Bold"/>
                          <a:ea typeface="Canva Sans Bold"/>
                          <a:cs typeface="Canva Sans Bold"/>
                          <a:sym typeface="Canva Sans Bold"/>
                        </a:rPr>
                        <a:t>AUTHOR</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5880"/>
                        </a:lnSpc>
                        <a:defRPr/>
                      </a:pPr>
                      <a:r>
                        <a:rPr lang="en-US" sz="4200" b="1">
                          <a:solidFill>
                            <a:srgbClr val="FFFFFF"/>
                          </a:solidFill>
                          <a:latin typeface="Canva Sans Bold"/>
                          <a:ea typeface="Canva Sans Bold"/>
                          <a:cs typeface="Canva Sans Bold"/>
                          <a:sym typeface="Canva Sans Bold"/>
                        </a:rPr>
                        <a:t>ALGORITHM</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2142934">
                <a:tc>
                  <a:txBody>
                    <a:bodyPr/>
                    <a:lstStyle/>
                    <a:p>
                      <a:pPr algn="ctr">
                        <a:lnSpc>
                          <a:spcPts val="3919"/>
                        </a:lnSpc>
                        <a:defRPr/>
                      </a:pPr>
                      <a:r>
                        <a:rPr lang="en-US" sz="2799" b="1">
                          <a:solidFill>
                            <a:srgbClr val="FFFFFF"/>
                          </a:solidFill>
                          <a:latin typeface="Arimo Bold"/>
                          <a:ea typeface="Arimo Bold"/>
                          <a:cs typeface="Arimo Bold"/>
                          <a:sym typeface="Arimo Bold"/>
                        </a:rPr>
                        <a:t>Energy-Efficient Q-Learning Routing (2025)</a:t>
                      </a:r>
                      <a:r>
                        <a:rPr lang="en-US" sz="2799">
                          <a:solidFill>
                            <a:srgbClr val="FFFFFF"/>
                          </a:solidFill>
                          <a:latin typeface="Arimo"/>
                          <a:ea typeface="Arimo"/>
                          <a:cs typeface="Arimo"/>
                          <a:sym typeface="Arimo"/>
                        </a:rPr>
                        <a:t> </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Canva Sans"/>
                          <a:ea typeface="Canva Sans"/>
                          <a:cs typeface="Canva Sans"/>
                          <a:sym typeface="Canva Sans"/>
                        </a:rPr>
                        <a:t>Huda Salih Abd &amp; Asaad S. Daghul</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Canva Sans"/>
                          <a:ea typeface="Canva Sans"/>
                          <a:cs typeface="Canva Sans"/>
                          <a:sym typeface="Canva Sans"/>
                        </a:rPr>
                        <a:t>Dynamic K-Means + Q-Learning + Sleep Scheduling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r h="2142934">
                <a:tc>
                  <a:txBody>
                    <a:bodyPr/>
                    <a:lstStyle/>
                    <a:p>
                      <a:pPr algn="ctr">
                        <a:lnSpc>
                          <a:spcPts val="3919"/>
                        </a:lnSpc>
                        <a:defRPr/>
                      </a:pPr>
                      <a:r>
                        <a:rPr lang="en-US" sz="2799">
                          <a:solidFill>
                            <a:srgbClr val="FFFFFF"/>
                          </a:solidFill>
                          <a:latin typeface="Canva Sans"/>
                          <a:ea typeface="Canva Sans"/>
                          <a:cs typeface="Canva Sans"/>
                          <a:sym typeface="Canva Sans"/>
                        </a:rPr>
                        <a:t>Reinforcement Learning for WSN Optimization (2024)</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Canva Sans"/>
                          <a:ea typeface="Canva Sans"/>
                          <a:cs typeface="Canva Sans"/>
                          <a:sym typeface="Canva Sans"/>
                        </a:rPr>
                        <a:t>Yan Wang, Ke Deng, Yongli Ren, Jeffrey Chan</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c>
                  <a:txBody>
                    <a:bodyPr/>
                    <a:lstStyle/>
                    <a:p>
                      <a:pPr algn="ctr">
                        <a:lnSpc>
                          <a:spcPts val="3919"/>
                        </a:lnSpc>
                        <a:defRPr/>
                      </a:pPr>
                      <a:r>
                        <a:rPr lang="en-US" sz="2799">
                          <a:solidFill>
                            <a:srgbClr val="FFFFFF"/>
                          </a:solidFill>
                          <a:latin typeface="Canva Sans"/>
                          <a:ea typeface="Canva Sans"/>
                          <a:cs typeface="Canva Sans"/>
                          <a:sym typeface="Canva Sans"/>
                        </a:rPr>
                        <a:t>Reinforcement Learning–Enhanced Cluster-Based Routing</a:t>
                      </a:r>
                      <a:endParaRPr lang="en-US" sz="1100"/>
                    </a:p>
                  </a:txBody>
                  <a:tcPr marL="190500" marR="190500" marT="190500" marB="190500" anchor="ctr">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0" y="571500"/>
            <a:ext cx="8767039" cy="2282676"/>
          </a:xfrm>
          <a:prstGeom prst="rect">
            <a:avLst/>
          </a:prstGeom>
        </p:spPr>
        <p:txBody>
          <a:bodyPr wrap="square" lIns="0" tIns="0" rIns="0" bIns="0" rtlCol="0" anchor="t">
            <a:spAutoFit/>
          </a:bodyPr>
          <a:lstStyle/>
          <a:p>
            <a:pPr algn="ctr">
              <a:lnSpc>
                <a:spcPts val="8885"/>
              </a:lnSpc>
            </a:pPr>
            <a:r>
              <a:rPr lang="en-US" sz="6346" b="1" dirty="0">
                <a:solidFill>
                  <a:srgbClr val="FFFFFF"/>
                </a:solidFill>
                <a:latin typeface="Canva Sans Bold"/>
                <a:ea typeface="Canva Sans Bold"/>
                <a:cs typeface="Canva Sans Bold"/>
                <a:sym typeface="Canva Sans Bold"/>
              </a:rPr>
              <a:t>EXISTING SYSTEM</a:t>
            </a:r>
          </a:p>
          <a:p>
            <a:pPr algn="ctr">
              <a:lnSpc>
                <a:spcPts val="8885"/>
              </a:lnSpc>
            </a:pPr>
            <a:endParaRPr lang="en-US" sz="6346" b="1" dirty="0">
              <a:solidFill>
                <a:srgbClr val="FFFFFF"/>
              </a:solidFill>
              <a:latin typeface="Canva Sans Bold"/>
              <a:ea typeface="Canva Sans Bold"/>
              <a:cs typeface="Canva Sans Bold"/>
              <a:sym typeface="Canva Sans Bold"/>
            </a:endParaRPr>
          </a:p>
        </p:txBody>
      </p:sp>
      <p:sp>
        <p:nvSpPr>
          <p:cNvPr id="3" name="TextBox 3"/>
          <p:cNvSpPr txBox="1"/>
          <p:nvPr/>
        </p:nvSpPr>
        <p:spPr>
          <a:xfrm>
            <a:off x="914400" y="2247900"/>
            <a:ext cx="16873999" cy="5981065"/>
          </a:xfrm>
          <a:prstGeom prst="rect">
            <a:avLst/>
          </a:prstGeom>
        </p:spPr>
        <p:txBody>
          <a:bodyPr lIns="0" tIns="0" rIns="0" bIns="0" rtlCol="0" anchor="t">
            <a:spAutoFit/>
          </a:bodyPr>
          <a:lstStyle/>
          <a:p>
            <a:pPr algn="l">
              <a:lnSpc>
                <a:spcPts val="4759"/>
              </a:lnSpc>
            </a:pPr>
            <a:r>
              <a:rPr lang="en-US" sz="3399" dirty="0">
                <a:solidFill>
                  <a:srgbClr val="FFFFFF"/>
                </a:solidFill>
                <a:latin typeface="Canva Sans"/>
                <a:ea typeface="Canva Sans"/>
                <a:cs typeface="Canva Sans"/>
                <a:sym typeface="Canva Sans"/>
              </a:rPr>
              <a:t>Existing WSN routing methods like LEACH, DMHT-LEACH, EDMHT-LEACH use static or probabilistic models.</a:t>
            </a:r>
          </a:p>
          <a:p>
            <a:pPr algn="l">
              <a:lnSpc>
                <a:spcPts val="4759"/>
              </a:lnSpc>
            </a:pPr>
            <a:r>
              <a:rPr lang="en-US" sz="3399" dirty="0">
                <a:solidFill>
                  <a:srgbClr val="FFFFFF"/>
                </a:solidFill>
                <a:latin typeface="Canva Sans"/>
                <a:ea typeface="Canva Sans"/>
                <a:cs typeface="Canva Sans"/>
                <a:sym typeface="Canva Sans"/>
              </a:rPr>
              <a:t>They suffer from:</a:t>
            </a:r>
          </a:p>
          <a:p>
            <a:pPr algn="l">
              <a:lnSpc>
                <a:spcPts val="4759"/>
              </a:lnSpc>
            </a:pPr>
            <a:endParaRPr lang="en-US" sz="3399" dirty="0">
              <a:solidFill>
                <a:srgbClr val="FFFFFF"/>
              </a:solidFill>
              <a:latin typeface="Canva Sans"/>
              <a:ea typeface="Canva Sans"/>
              <a:cs typeface="Canva Sans"/>
              <a:sym typeface="Canva Sans"/>
            </a:endParaRPr>
          </a:p>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No dynamic routing decisions</a:t>
            </a:r>
          </a:p>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Poor scalability in large networks</a:t>
            </a:r>
          </a:p>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Uneven energy distribution</a:t>
            </a:r>
          </a:p>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High packet loss in long-distance communication</a:t>
            </a:r>
          </a:p>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Early node death due to inefficient cluster head selection</a:t>
            </a:r>
          </a:p>
          <a:p>
            <a:pPr algn="l">
              <a:lnSpc>
                <a:spcPts val="4759"/>
              </a:lnSpc>
            </a:pPr>
            <a:endParaRPr lang="en-US" sz="3399" dirty="0">
              <a:solidFill>
                <a:srgbClr val="FFFFFF"/>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67389" y="423599"/>
            <a:ext cx="16001630" cy="1086377"/>
          </a:xfrm>
          <a:prstGeom prst="rect">
            <a:avLst/>
          </a:prstGeom>
        </p:spPr>
        <p:txBody>
          <a:bodyPr lIns="0" tIns="0" rIns="0" bIns="0" rtlCol="0" anchor="t">
            <a:spAutoFit/>
          </a:bodyPr>
          <a:lstStyle/>
          <a:p>
            <a:pPr algn="ctr">
              <a:lnSpc>
                <a:spcPts val="8886"/>
              </a:lnSpc>
            </a:pPr>
            <a:r>
              <a:rPr lang="en-US" sz="6347" b="1">
                <a:solidFill>
                  <a:srgbClr val="FFFFFF"/>
                </a:solidFill>
                <a:latin typeface="Canva Sans Bold"/>
                <a:ea typeface="Canva Sans Bold"/>
                <a:cs typeface="Canva Sans Bold"/>
                <a:sym typeface="Canva Sans Bold"/>
              </a:rPr>
              <a:t>DISADVANTAGES OF EXISTING SYSTEM</a:t>
            </a:r>
          </a:p>
        </p:txBody>
      </p:sp>
      <p:sp>
        <p:nvSpPr>
          <p:cNvPr id="3" name="TextBox 3"/>
          <p:cNvSpPr txBox="1"/>
          <p:nvPr/>
        </p:nvSpPr>
        <p:spPr>
          <a:xfrm>
            <a:off x="1337720" y="2426049"/>
            <a:ext cx="10116734" cy="4974084"/>
          </a:xfrm>
          <a:prstGeom prst="rect">
            <a:avLst/>
          </a:prstGeom>
        </p:spPr>
        <p:txBody>
          <a:bodyPr lIns="0" tIns="0" rIns="0" bIns="0" rtlCol="0" anchor="t">
            <a:spAutoFit/>
          </a:bodyPr>
          <a:lstStyle/>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Static cluster head selection</a:t>
            </a:r>
          </a:p>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No learning-based optimization</a:t>
            </a:r>
          </a:p>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High energy consumption</a:t>
            </a:r>
          </a:p>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Poor adaptability to network changes</a:t>
            </a:r>
          </a:p>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Limited lifetime of sensor nodes</a:t>
            </a:r>
          </a:p>
          <a:p>
            <a:pPr marL="873893" lvl="1" indent="-436946" algn="l">
              <a:lnSpc>
                <a:spcPts val="5666"/>
              </a:lnSpc>
              <a:buFont typeface="Arial"/>
              <a:buChar char="•"/>
            </a:pPr>
            <a:r>
              <a:rPr lang="en-US" sz="4047">
                <a:solidFill>
                  <a:srgbClr val="FFFFFF"/>
                </a:solidFill>
                <a:latin typeface="Canva Sans"/>
                <a:ea typeface="Canva Sans"/>
                <a:cs typeface="Canva Sans"/>
                <a:sym typeface="Canva Sans"/>
              </a:rPr>
              <a:t>No intelligent multi-hop routing</a:t>
            </a:r>
          </a:p>
          <a:p>
            <a:pPr algn="l">
              <a:lnSpc>
                <a:spcPts val="5666"/>
              </a:lnSpc>
            </a:pPr>
            <a:endParaRPr lang="en-US" sz="4047">
              <a:solidFill>
                <a:srgbClr val="FFFFFF"/>
              </a:solidFill>
              <a:latin typeface="Canva Sans"/>
              <a:ea typeface="Canva Sans"/>
              <a:cs typeface="Canva Sans"/>
              <a:sym typeface="Canv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447800" y="3238500"/>
            <a:ext cx="15506700" cy="4219104"/>
          </a:xfrm>
          <a:prstGeom prst="rect">
            <a:avLst/>
          </a:prstGeom>
        </p:spPr>
        <p:txBody>
          <a:bodyPr wrap="square" lIns="0" tIns="0" rIns="0" bIns="0" rtlCol="0" anchor="t">
            <a:spAutoFit/>
          </a:bodyPr>
          <a:lstStyle/>
          <a:p>
            <a:pPr marL="571500" indent="-571500">
              <a:lnSpc>
                <a:spcPts val="4746"/>
              </a:lnSpc>
              <a:buFont typeface="Arial" panose="020B0604020202020204" pitchFamily="34" charset="0"/>
              <a:buChar char="•"/>
            </a:pPr>
            <a:r>
              <a:rPr lang="en-US" sz="4000" dirty="0">
                <a:solidFill>
                  <a:schemeClr val="bg1"/>
                </a:solidFill>
              </a:rPr>
              <a:t>Sensor nodes in WSNs have limited battery power</a:t>
            </a:r>
            <a:r>
              <a:rPr lang="en-US" sz="4000" dirty="0" smtClean="0">
                <a:solidFill>
                  <a:schemeClr val="bg1"/>
                </a:solidFill>
              </a:rPr>
              <a:t>.</a:t>
            </a:r>
          </a:p>
          <a:p>
            <a:pPr marL="571500" indent="-571500">
              <a:lnSpc>
                <a:spcPts val="4746"/>
              </a:lnSpc>
              <a:buFont typeface="Arial" panose="020B0604020202020204" pitchFamily="34" charset="0"/>
              <a:buChar char="•"/>
            </a:pPr>
            <a:endParaRPr lang="en-US" sz="4000" dirty="0" smtClean="0">
              <a:solidFill>
                <a:schemeClr val="bg1"/>
              </a:solidFill>
            </a:endParaRPr>
          </a:p>
          <a:p>
            <a:pPr marL="571500" indent="-571500">
              <a:lnSpc>
                <a:spcPts val="4746"/>
              </a:lnSpc>
              <a:buFont typeface="Arial" panose="020B0604020202020204" pitchFamily="34" charset="0"/>
              <a:buChar char="•"/>
            </a:pPr>
            <a:r>
              <a:rPr lang="en-US" sz="4000" dirty="0" smtClean="0">
                <a:solidFill>
                  <a:schemeClr val="bg1"/>
                </a:solidFill>
              </a:rPr>
              <a:t>Traditional </a:t>
            </a:r>
            <a:r>
              <a:rPr lang="en-US" sz="4000" dirty="0">
                <a:solidFill>
                  <a:schemeClr val="bg1"/>
                </a:solidFill>
              </a:rPr>
              <a:t>static routing methods cause high energy consumption and early node failure. </a:t>
            </a:r>
            <a:endParaRPr lang="en-US" sz="4000" dirty="0" smtClean="0">
              <a:solidFill>
                <a:schemeClr val="bg1"/>
              </a:solidFill>
            </a:endParaRPr>
          </a:p>
          <a:p>
            <a:pPr marL="571500" indent="-571500">
              <a:lnSpc>
                <a:spcPts val="4746"/>
              </a:lnSpc>
              <a:buFont typeface="Arial" panose="020B0604020202020204" pitchFamily="34" charset="0"/>
              <a:buChar char="•"/>
            </a:pPr>
            <a:endParaRPr lang="en-US" sz="4000" dirty="0" smtClean="0">
              <a:solidFill>
                <a:schemeClr val="bg1"/>
              </a:solidFill>
            </a:endParaRPr>
          </a:p>
          <a:p>
            <a:pPr marL="571500" indent="-571500">
              <a:lnSpc>
                <a:spcPts val="4746"/>
              </a:lnSpc>
              <a:buFont typeface="Arial" panose="020B0604020202020204" pitchFamily="34" charset="0"/>
              <a:buChar char="•"/>
            </a:pPr>
            <a:r>
              <a:rPr lang="en-US" sz="4000" dirty="0" smtClean="0">
                <a:solidFill>
                  <a:schemeClr val="bg1"/>
                </a:solidFill>
              </a:rPr>
              <a:t>An </a:t>
            </a:r>
            <a:r>
              <a:rPr lang="en-US" sz="4000" dirty="0">
                <a:solidFill>
                  <a:schemeClr val="bg1"/>
                </a:solidFill>
              </a:rPr>
              <a:t>intelligent, adaptive routing and clustering mechanism is required to optimize energy usage and improve network lifetime.</a:t>
            </a:r>
            <a:endParaRPr lang="en-US" sz="4000" dirty="0">
              <a:solidFill>
                <a:schemeClr val="bg1"/>
              </a:solidFill>
              <a:latin typeface="Canva Sans"/>
              <a:ea typeface="Canva Sans"/>
              <a:cs typeface="Canva Sans"/>
              <a:sym typeface="Canva Sans"/>
            </a:endParaRPr>
          </a:p>
        </p:txBody>
      </p:sp>
      <p:sp>
        <p:nvSpPr>
          <p:cNvPr id="3" name="TextBox 2"/>
          <p:cNvSpPr txBox="1"/>
          <p:nvPr/>
        </p:nvSpPr>
        <p:spPr>
          <a:xfrm>
            <a:off x="1447800" y="1562100"/>
            <a:ext cx="15506700" cy="670568"/>
          </a:xfrm>
          <a:prstGeom prst="rect">
            <a:avLst/>
          </a:prstGeom>
        </p:spPr>
        <p:txBody>
          <a:bodyPr wrap="square" lIns="0" tIns="0" rIns="0" bIns="0" rtlCol="0" anchor="t">
            <a:spAutoFit/>
          </a:bodyPr>
          <a:lstStyle/>
          <a:p>
            <a:pPr>
              <a:lnSpc>
                <a:spcPts val="4746"/>
              </a:lnSpc>
            </a:pPr>
            <a:r>
              <a:rPr lang="en-US" sz="6600" b="1" dirty="0" smtClean="0">
                <a:solidFill>
                  <a:schemeClr val="bg1"/>
                </a:solidFill>
                <a:latin typeface="Canva Sans"/>
                <a:ea typeface="Canva Sans"/>
                <a:cs typeface="Canva Sans"/>
                <a:sym typeface="Canva Sans"/>
              </a:rPr>
              <a:t>PROBLEM STATEMENT</a:t>
            </a:r>
            <a:endParaRPr lang="en-US" sz="6600" b="1" dirty="0">
              <a:solidFill>
                <a:schemeClr val="bg1"/>
              </a:solidFill>
              <a:latin typeface="Canva Sans"/>
              <a:ea typeface="Canva Sans"/>
              <a:cs typeface="Canva Sans"/>
              <a:sym typeface="Canva Sans"/>
            </a:endParaRPr>
          </a:p>
        </p:txBody>
      </p:sp>
    </p:spTree>
    <p:extLst>
      <p:ext uri="{BB962C8B-B14F-4D97-AF65-F5344CB8AC3E}">
        <p14:creationId xmlns:p14="http://schemas.microsoft.com/office/powerpoint/2010/main" val="3222524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46134" y="246479"/>
            <a:ext cx="9031266" cy="1141338"/>
          </a:xfrm>
          <a:prstGeom prst="rect">
            <a:avLst/>
          </a:prstGeom>
        </p:spPr>
        <p:txBody>
          <a:bodyPr wrap="square" lIns="0" tIns="0" rIns="0" bIns="0" rtlCol="0" anchor="t">
            <a:spAutoFit/>
          </a:bodyPr>
          <a:lstStyle/>
          <a:p>
            <a:pPr algn="ctr">
              <a:lnSpc>
                <a:spcPts val="8899"/>
              </a:lnSpc>
            </a:pPr>
            <a:r>
              <a:rPr lang="en-US" sz="6356" b="1" dirty="0">
                <a:solidFill>
                  <a:srgbClr val="FFFFFF"/>
                </a:solidFill>
                <a:latin typeface="Canva Sans Bold"/>
                <a:ea typeface="Canva Sans Bold"/>
                <a:cs typeface="Canva Sans Bold"/>
                <a:sym typeface="Canva Sans Bold"/>
              </a:rPr>
              <a:t>PROPOSED SYSTEM</a:t>
            </a:r>
          </a:p>
        </p:txBody>
      </p:sp>
      <p:sp>
        <p:nvSpPr>
          <p:cNvPr id="3" name="TextBox 3"/>
          <p:cNvSpPr txBox="1"/>
          <p:nvPr/>
        </p:nvSpPr>
        <p:spPr>
          <a:xfrm>
            <a:off x="646134" y="1819592"/>
            <a:ext cx="16995732" cy="8381365"/>
          </a:xfrm>
          <a:prstGeom prst="rect">
            <a:avLst/>
          </a:prstGeom>
        </p:spPr>
        <p:txBody>
          <a:bodyPr lIns="0" tIns="0" rIns="0" bIns="0" rtlCol="0" anchor="t">
            <a:spAutoFit/>
          </a:bodyPr>
          <a:lstStyle/>
          <a:p>
            <a:pPr algn="l">
              <a:lnSpc>
                <a:spcPts val="4759"/>
              </a:lnSpc>
            </a:pPr>
            <a:r>
              <a:rPr lang="en-US" sz="3399">
                <a:solidFill>
                  <a:srgbClr val="FFFFFF"/>
                </a:solidFill>
                <a:latin typeface="Canva Sans"/>
                <a:ea typeface="Canva Sans"/>
                <a:cs typeface="Canva Sans"/>
                <a:sym typeface="Canva Sans"/>
              </a:rPr>
              <a:t>✔ </a:t>
            </a:r>
            <a:r>
              <a:rPr lang="en-US" sz="3399" b="1">
                <a:solidFill>
                  <a:srgbClr val="FFFFFF"/>
                </a:solidFill>
                <a:latin typeface="Canva Sans Bold"/>
                <a:ea typeface="Canva Sans Bold"/>
                <a:cs typeface="Canva Sans Bold"/>
                <a:sym typeface="Canva Sans Bold"/>
              </a:rPr>
              <a:t>K-Means Clustering</a:t>
            </a:r>
          </a:p>
          <a:p>
            <a:pPr algn="l">
              <a:lnSpc>
                <a:spcPts val="4759"/>
              </a:lnSpc>
            </a:pPr>
            <a:r>
              <a:rPr lang="en-US" sz="3399">
                <a:solidFill>
                  <a:srgbClr val="FFFFFF"/>
                </a:solidFill>
                <a:latin typeface="Canva Sans"/>
                <a:ea typeface="Canva Sans"/>
                <a:cs typeface="Canva Sans"/>
                <a:sym typeface="Canva Sans"/>
              </a:rPr>
              <a:t>Groups nodes based on location, creates balanced clusters, and reduces communication distance.</a:t>
            </a:r>
          </a:p>
          <a:p>
            <a:pPr algn="l">
              <a:lnSpc>
                <a:spcPts val="4759"/>
              </a:lnSpc>
            </a:pPr>
            <a:endParaRPr lang="en-US" sz="3399">
              <a:solidFill>
                <a:srgbClr val="FFFFFF"/>
              </a:solidFill>
              <a:latin typeface="Canva Sans"/>
              <a:ea typeface="Canva Sans"/>
              <a:cs typeface="Canva Sans"/>
              <a:sym typeface="Canva Sans"/>
            </a:endParaRPr>
          </a:p>
          <a:p>
            <a:pPr algn="l">
              <a:lnSpc>
                <a:spcPts val="4759"/>
              </a:lnSpc>
            </a:pPr>
            <a:r>
              <a:rPr lang="en-US" sz="3399">
                <a:solidFill>
                  <a:srgbClr val="FFFFFF"/>
                </a:solidFill>
                <a:latin typeface="Canva Sans"/>
                <a:ea typeface="Canva Sans"/>
                <a:cs typeface="Canva Sans"/>
                <a:sym typeface="Canva Sans"/>
              </a:rPr>
              <a:t>✔</a:t>
            </a:r>
            <a:r>
              <a:rPr lang="en-US" sz="3399" b="1">
                <a:solidFill>
                  <a:srgbClr val="FFFFFF"/>
                </a:solidFill>
                <a:latin typeface="Canva Sans Bold"/>
                <a:ea typeface="Canva Sans Bold"/>
                <a:cs typeface="Canva Sans Bold"/>
                <a:sym typeface="Canva Sans Bold"/>
              </a:rPr>
              <a:t> Q-Learning Routing</a:t>
            </a:r>
          </a:p>
          <a:p>
            <a:pPr algn="l">
              <a:lnSpc>
                <a:spcPts val="4759"/>
              </a:lnSpc>
            </a:pPr>
            <a:r>
              <a:rPr lang="en-US" sz="3399">
                <a:solidFill>
                  <a:srgbClr val="FFFFFF"/>
                </a:solidFill>
                <a:latin typeface="Canva Sans"/>
                <a:ea typeface="Canva Sans"/>
                <a:cs typeface="Canva Sans"/>
                <a:sym typeface="Canva Sans"/>
              </a:rPr>
              <a:t>Learns optimal multi-hop routes using rewards based on energy, hop count, and successful delivery.</a:t>
            </a:r>
          </a:p>
          <a:p>
            <a:pPr algn="l">
              <a:lnSpc>
                <a:spcPts val="4759"/>
              </a:lnSpc>
            </a:pPr>
            <a:endParaRPr lang="en-US" sz="3399">
              <a:solidFill>
                <a:srgbClr val="FFFFFF"/>
              </a:solidFill>
              <a:latin typeface="Canva Sans"/>
              <a:ea typeface="Canva Sans"/>
              <a:cs typeface="Canva Sans"/>
              <a:sym typeface="Canva Sans"/>
            </a:endParaRPr>
          </a:p>
          <a:p>
            <a:pPr algn="l">
              <a:lnSpc>
                <a:spcPts val="4759"/>
              </a:lnSpc>
            </a:pPr>
            <a:r>
              <a:rPr lang="en-US" sz="3399">
                <a:solidFill>
                  <a:srgbClr val="FFFFFF"/>
                </a:solidFill>
                <a:latin typeface="Canva Sans"/>
                <a:ea typeface="Canva Sans"/>
                <a:cs typeface="Canva Sans"/>
                <a:sym typeface="Canva Sans"/>
              </a:rPr>
              <a:t>✔ </a:t>
            </a:r>
            <a:r>
              <a:rPr lang="en-US" sz="3399" b="1">
                <a:solidFill>
                  <a:srgbClr val="FFFFFF"/>
                </a:solidFill>
                <a:latin typeface="Canva Sans Bold"/>
                <a:ea typeface="Canva Sans Bold"/>
                <a:cs typeface="Canva Sans Bold"/>
                <a:sym typeface="Canva Sans Bold"/>
              </a:rPr>
              <a:t>Energy Model</a:t>
            </a:r>
          </a:p>
          <a:p>
            <a:pPr algn="l">
              <a:lnSpc>
                <a:spcPts val="4759"/>
              </a:lnSpc>
            </a:pPr>
            <a:r>
              <a:rPr lang="en-US" sz="3399">
                <a:solidFill>
                  <a:srgbClr val="FFFFFF"/>
                </a:solidFill>
                <a:latin typeface="Canva Sans"/>
                <a:ea typeface="Canva Sans"/>
                <a:cs typeface="Canva Sans"/>
                <a:sym typeface="Canva Sans"/>
              </a:rPr>
              <a:t>Tracks transmission, reception, and aggregation energy.</a:t>
            </a:r>
          </a:p>
          <a:p>
            <a:pPr algn="l">
              <a:lnSpc>
                <a:spcPts val="4759"/>
              </a:lnSpc>
            </a:pPr>
            <a:endParaRPr lang="en-US" sz="3399">
              <a:solidFill>
                <a:srgbClr val="FFFFFF"/>
              </a:solidFill>
              <a:latin typeface="Canva Sans"/>
              <a:ea typeface="Canva Sans"/>
              <a:cs typeface="Canva Sans"/>
              <a:sym typeface="Canva Sans"/>
            </a:endParaRPr>
          </a:p>
          <a:p>
            <a:pPr algn="l">
              <a:lnSpc>
                <a:spcPts val="4759"/>
              </a:lnSpc>
            </a:pPr>
            <a:r>
              <a:rPr lang="en-US" sz="3399">
                <a:solidFill>
                  <a:srgbClr val="FFFFFF"/>
                </a:solidFill>
                <a:latin typeface="Canva Sans"/>
                <a:ea typeface="Canva Sans"/>
                <a:cs typeface="Canva Sans"/>
                <a:sym typeface="Canva Sans"/>
              </a:rPr>
              <a:t>✔ </a:t>
            </a:r>
            <a:r>
              <a:rPr lang="en-US" sz="3399" b="1">
                <a:solidFill>
                  <a:srgbClr val="FFFFFF"/>
                </a:solidFill>
                <a:latin typeface="Canva Sans Bold"/>
                <a:ea typeface="Canva Sans Bold"/>
                <a:cs typeface="Canva Sans Bold"/>
                <a:sym typeface="Canva Sans Bold"/>
              </a:rPr>
              <a:t>Performance Evaluation</a:t>
            </a:r>
          </a:p>
          <a:p>
            <a:pPr algn="l">
              <a:lnSpc>
                <a:spcPts val="4759"/>
              </a:lnSpc>
            </a:pPr>
            <a:r>
              <a:rPr lang="en-US" sz="3399">
                <a:solidFill>
                  <a:srgbClr val="FFFFFF"/>
                </a:solidFill>
                <a:latin typeface="Canva Sans"/>
                <a:ea typeface="Canva Sans"/>
                <a:cs typeface="Canva Sans"/>
                <a:sym typeface="Canva Sans"/>
              </a:rPr>
              <a:t>Compares with LEACH, DMHT-LEACH, and modern methods like EECDA.</a:t>
            </a:r>
          </a:p>
          <a:p>
            <a:pPr algn="ctr">
              <a:lnSpc>
                <a:spcPts val="4759"/>
              </a:lnSpc>
            </a:pPr>
            <a:endParaRPr lang="en-US" sz="3399">
              <a:solidFill>
                <a:srgbClr val="FFFFFF"/>
              </a:solidFill>
              <a:latin typeface="Canva Sans"/>
              <a:ea typeface="Canva Sans"/>
              <a:cs typeface="Canva Sans"/>
              <a:sym typeface="Canv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499059" y="422064"/>
            <a:ext cx="15114006" cy="1089447"/>
          </a:xfrm>
          <a:prstGeom prst="rect">
            <a:avLst/>
          </a:prstGeom>
        </p:spPr>
        <p:txBody>
          <a:bodyPr lIns="0" tIns="0" rIns="0" bIns="0" rtlCol="0" anchor="t">
            <a:spAutoFit/>
          </a:bodyPr>
          <a:lstStyle/>
          <a:p>
            <a:pPr algn="ctr">
              <a:lnSpc>
                <a:spcPts val="8914"/>
              </a:lnSpc>
            </a:pPr>
            <a:r>
              <a:rPr lang="en-US" sz="6367" b="1">
                <a:solidFill>
                  <a:srgbClr val="FFFFFF"/>
                </a:solidFill>
                <a:latin typeface="Canva Sans Bold"/>
                <a:ea typeface="Canva Sans Bold"/>
                <a:cs typeface="Canva Sans Bold"/>
                <a:sym typeface="Canva Sans Bold"/>
              </a:rPr>
              <a:t>ADVANTAGES OF PROPOSED SYSTEM</a:t>
            </a:r>
          </a:p>
        </p:txBody>
      </p:sp>
      <p:sp>
        <p:nvSpPr>
          <p:cNvPr id="3" name="TextBox 3"/>
          <p:cNvSpPr txBox="1"/>
          <p:nvPr/>
        </p:nvSpPr>
        <p:spPr>
          <a:xfrm>
            <a:off x="1416857" y="2410142"/>
            <a:ext cx="10216510" cy="6129504"/>
          </a:xfrm>
          <a:prstGeom prst="rect">
            <a:avLst/>
          </a:prstGeom>
        </p:spPr>
        <p:txBody>
          <a:bodyPr lIns="0" tIns="0" rIns="0" bIns="0" rtlCol="0" anchor="t">
            <a:spAutoFit/>
          </a:bodyPr>
          <a:lstStyle/>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Increased network lifetime</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Reduced energy consumption</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Balanced load distribution</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Better packet delivery rate</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Adaptive routing with learning behavior</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Supports large-scale WSN deployments</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Minimal packet loss</a:t>
            </a:r>
          </a:p>
          <a:p>
            <a:pPr marL="836135" lvl="1" indent="-418068" algn="l">
              <a:lnSpc>
                <a:spcPts val="5421"/>
              </a:lnSpc>
              <a:buFont typeface="Arial"/>
              <a:buChar char="•"/>
            </a:pPr>
            <a:r>
              <a:rPr lang="en-US" sz="3872">
                <a:solidFill>
                  <a:srgbClr val="FFFFFF"/>
                </a:solidFill>
                <a:latin typeface="Canva Sans"/>
                <a:ea typeface="Canva Sans"/>
                <a:cs typeface="Canva Sans"/>
                <a:sym typeface="Canva Sans"/>
              </a:rPr>
              <a:t>Optimized energy usage across nodes</a:t>
            </a:r>
          </a:p>
          <a:p>
            <a:pPr algn="l">
              <a:lnSpc>
                <a:spcPts val="5421"/>
              </a:lnSpc>
            </a:pPr>
            <a:endParaRPr lang="en-US" sz="3872">
              <a:solidFill>
                <a:srgbClr val="FFFFFF"/>
              </a:solidFill>
              <a:latin typeface="Canva Sans"/>
              <a:ea typeface="Canva Sans"/>
              <a:cs typeface="Canva Sans"/>
              <a:sym typeface="Canv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1344985" y="2264837"/>
            <a:ext cx="3086100" cy="1827886"/>
            <a:chOff x="0" y="0"/>
            <a:chExt cx="812800" cy="481419"/>
          </a:xfrm>
        </p:grpSpPr>
        <p:sp>
          <p:nvSpPr>
            <p:cNvPr id="3" name="Freeform 3"/>
            <p:cNvSpPr/>
            <p:nvPr/>
          </p:nvSpPr>
          <p:spPr>
            <a:xfrm>
              <a:off x="0" y="0"/>
              <a:ext cx="812800" cy="481419"/>
            </a:xfrm>
            <a:custGeom>
              <a:avLst/>
              <a:gdLst/>
              <a:ahLst/>
              <a:cxnLst/>
              <a:rect l="l" t="t" r="r" b="b"/>
              <a:pathLst>
                <a:path w="812800" h="481419">
                  <a:moveTo>
                    <a:pt x="609600" y="0"/>
                  </a:moveTo>
                  <a:cubicBezTo>
                    <a:pt x="721824" y="0"/>
                    <a:pt x="812800" y="107769"/>
                    <a:pt x="812800" y="240709"/>
                  </a:cubicBezTo>
                  <a:cubicBezTo>
                    <a:pt x="812800" y="373649"/>
                    <a:pt x="721824" y="481419"/>
                    <a:pt x="609600" y="481419"/>
                  </a:cubicBezTo>
                  <a:lnTo>
                    <a:pt x="203200" y="481419"/>
                  </a:lnTo>
                  <a:cubicBezTo>
                    <a:pt x="90976" y="481419"/>
                    <a:pt x="0" y="373649"/>
                    <a:pt x="0" y="240709"/>
                  </a:cubicBezTo>
                  <a:cubicBezTo>
                    <a:pt x="0" y="107769"/>
                    <a:pt x="90976" y="0"/>
                    <a:pt x="203200" y="0"/>
                  </a:cubicBezTo>
                  <a:close/>
                </a:path>
              </a:pathLst>
            </a:custGeom>
            <a:solidFill>
              <a:srgbClr val="1A1B39"/>
            </a:solidFill>
          </p:spPr>
        </p:sp>
        <p:sp>
          <p:nvSpPr>
            <p:cNvPr id="4" name="TextBox 4"/>
            <p:cNvSpPr txBox="1"/>
            <p:nvPr/>
          </p:nvSpPr>
          <p:spPr>
            <a:xfrm>
              <a:off x="0" y="-57150"/>
              <a:ext cx="812800" cy="538569"/>
            </a:xfrm>
            <a:prstGeom prst="rect">
              <a:avLst/>
            </a:prstGeom>
          </p:spPr>
          <p:txBody>
            <a:bodyPr lIns="50800" tIns="50800" rIns="50800" bIns="50800" rtlCol="0" anchor="ctr"/>
            <a:lstStyle/>
            <a:p>
              <a:pPr algn="ctr">
                <a:lnSpc>
                  <a:spcPts val="4479"/>
                </a:lnSpc>
                <a:spcBef>
                  <a:spcPct val="0"/>
                </a:spcBef>
              </a:pPr>
              <a:r>
                <a:rPr lang="en-US" sz="3199">
                  <a:solidFill>
                    <a:srgbClr val="FFFFFF"/>
                  </a:solidFill>
                  <a:latin typeface="Canva Sans"/>
                  <a:ea typeface="Canva Sans"/>
                  <a:cs typeface="Canva Sans"/>
                  <a:sym typeface="Canva Sans"/>
                </a:rPr>
                <a:t>Data Collection &amp; Initialization</a:t>
              </a:r>
            </a:p>
          </p:txBody>
        </p:sp>
      </p:grpSp>
      <p:grpSp>
        <p:nvGrpSpPr>
          <p:cNvPr id="5" name="Group 5"/>
          <p:cNvGrpSpPr/>
          <p:nvPr/>
        </p:nvGrpSpPr>
        <p:grpSpPr>
          <a:xfrm>
            <a:off x="7094472" y="2264837"/>
            <a:ext cx="3086100" cy="1827887"/>
            <a:chOff x="0" y="0"/>
            <a:chExt cx="812800" cy="481419"/>
          </a:xfrm>
        </p:grpSpPr>
        <p:sp>
          <p:nvSpPr>
            <p:cNvPr id="6" name="Freeform 6"/>
            <p:cNvSpPr/>
            <p:nvPr/>
          </p:nvSpPr>
          <p:spPr>
            <a:xfrm>
              <a:off x="0" y="0"/>
              <a:ext cx="812800" cy="481419"/>
            </a:xfrm>
            <a:custGeom>
              <a:avLst/>
              <a:gdLst/>
              <a:ahLst/>
              <a:cxnLst/>
              <a:rect l="l" t="t" r="r" b="b"/>
              <a:pathLst>
                <a:path w="812800" h="481419">
                  <a:moveTo>
                    <a:pt x="609600" y="0"/>
                  </a:moveTo>
                  <a:cubicBezTo>
                    <a:pt x="721824" y="0"/>
                    <a:pt x="812800" y="107769"/>
                    <a:pt x="812800" y="240709"/>
                  </a:cubicBezTo>
                  <a:cubicBezTo>
                    <a:pt x="812800" y="373650"/>
                    <a:pt x="721824" y="481419"/>
                    <a:pt x="609600" y="481419"/>
                  </a:cubicBezTo>
                  <a:lnTo>
                    <a:pt x="203200" y="481419"/>
                  </a:lnTo>
                  <a:cubicBezTo>
                    <a:pt x="90976" y="481419"/>
                    <a:pt x="0" y="373650"/>
                    <a:pt x="0" y="240709"/>
                  </a:cubicBezTo>
                  <a:cubicBezTo>
                    <a:pt x="0" y="107769"/>
                    <a:pt x="90976" y="0"/>
                    <a:pt x="203200" y="0"/>
                  </a:cubicBezTo>
                  <a:close/>
                </a:path>
              </a:pathLst>
            </a:custGeom>
            <a:solidFill>
              <a:srgbClr val="1A1B39"/>
            </a:solidFill>
          </p:spPr>
        </p:sp>
        <p:sp>
          <p:nvSpPr>
            <p:cNvPr id="7" name="TextBox 7"/>
            <p:cNvSpPr txBox="1"/>
            <p:nvPr/>
          </p:nvSpPr>
          <p:spPr>
            <a:xfrm>
              <a:off x="0" y="-57150"/>
              <a:ext cx="812800" cy="538569"/>
            </a:xfrm>
            <a:prstGeom prst="rect">
              <a:avLst/>
            </a:prstGeom>
          </p:spPr>
          <p:txBody>
            <a:bodyPr lIns="50800" tIns="50800" rIns="50800" bIns="50800" rtlCol="0" anchor="ctr"/>
            <a:lstStyle/>
            <a:p>
              <a:pPr algn="ctr">
                <a:lnSpc>
                  <a:spcPts val="4480"/>
                </a:lnSpc>
              </a:pPr>
              <a:r>
                <a:rPr lang="en-US" sz="3200">
                  <a:solidFill>
                    <a:srgbClr val="FFFFFF"/>
                  </a:solidFill>
                  <a:latin typeface="Canva Sans"/>
                  <a:ea typeface="Canva Sans"/>
                  <a:cs typeface="Canva Sans"/>
                  <a:sym typeface="Canva Sans"/>
                </a:rPr>
                <a:t>K-Means Clustering</a:t>
              </a:r>
            </a:p>
            <a:p>
              <a:pPr algn="ctr">
                <a:lnSpc>
                  <a:spcPts val="4480"/>
                </a:lnSpc>
                <a:spcBef>
                  <a:spcPct val="0"/>
                </a:spcBef>
              </a:pPr>
              <a:endParaRPr lang="en-US" sz="3200">
                <a:solidFill>
                  <a:srgbClr val="FFFFFF"/>
                </a:solidFill>
                <a:latin typeface="Canva Sans"/>
                <a:ea typeface="Canva Sans"/>
                <a:cs typeface="Canva Sans"/>
                <a:sym typeface="Canva Sans"/>
              </a:endParaRPr>
            </a:p>
          </p:txBody>
        </p:sp>
      </p:grpSp>
      <p:grpSp>
        <p:nvGrpSpPr>
          <p:cNvPr id="8" name="Group 8"/>
          <p:cNvGrpSpPr/>
          <p:nvPr/>
        </p:nvGrpSpPr>
        <p:grpSpPr>
          <a:xfrm rot="14396">
            <a:off x="13103659" y="2407255"/>
            <a:ext cx="3086100" cy="1543050"/>
            <a:chOff x="0" y="0"/>
            <a:chExt cx="812800" cy="406400"/>
          </a:xfrm>
        </p:grpSpPr>
        <p:sp>
          <p:nvSpPr>
            <p:cNvPr id="9" name="Freeform 9"/>
            <p:cNvSpPr/>
            <p:nvPr/>
          </p:nvSpPr>
          <p:spPr>
            <a:xfrm>
              <a:off x="0" y="0"/>
              <a:ext cx="812800" cy="406400"/>
            </a:xfrm>
            <a:custGeom>
              <a:avLst/>
              <a:gdLst/>
              <a:ahLst/>
              <a:cxnLst/>
              <a:rect l="l" t="t" r="r" b="b"/>
              <a:pathLst>
                <a:path w="812800" h="4064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solidFill>
              <a:srgbClr val="1A1B39"/>
            </a:solidFill>
          </p:spPr>
        </p:sp>
        <p:sp>
          <p:nvSpPr>
            <p:cNvPr id="10" name="TextBox 10"/>
            <p:cNvSpPr txBox="1"/>
            <p:nvPr/>
          </p:nvSpPr>
          <p:spPr>
            <a:xfrm>
              <a:off x="0" y="-57150"/>
              <a:ext cx="812800" cy="463550"/>
            </a:xfrm>
            <a:prstGeom prst="rect">
              <a:avLst/>
            </a:prstGeom>
          </p:spPr>
          <p:txBody>
            <a:bodyPr lIns="50800" tIns="50800" rIns="50800" bIns="50800" rtlCol="0" anchor="ctr"/>
            <a:lstStyle/>
            <a:p>
              <a:pPr algn="ctr">
                <a:lnSpc>
                  <a:spcPts val="4480"/>
                </a:lnSpc>
              </a:pPr>
              <a:r>
                <a:rPr lang="en-US" sz="3200">
                  <a:solidFill>
                    <a:srgbClr val="FFFFFF"/>
                  </a:solidFill>
                  <a:latin typeface="Canva Sans"/>
                  <a:ea typeface="Canva Sans"/>
                  <a:cs typeface="Canva Sans"/>
                  <a:sym typeface="Canva Sans"/>
                </a:rPr>
                <a:t>Q-Learning-Based Routing</a:t>
              </a:r>
            </a:p>
          </p:txBody>
        </p:sp>
      </p:grpSp>
      <p:grpSp>
        <p:nvGrpSpPr>
          <p:cNvPr id="11" name="Group 11"/>
          <p:cNvGrpSpPr/>
          <p:nvPr/>
        </p:nvGrpSpPr>
        <p:grpSpPr>
          <a:xfrm rot="70758">
            <a:off x="13088393" y="5587180"/>
            <a:ext cx="3086100" cy="1827887"/>
            <a:chOff x="0" y="0"/>
            <a:chExt cx="812800" cy="481419"/>
          </a:xfrm>
        </p:grpSpPr>
        <p:sp>
          <p:nvSpPr>
            <p:cNvPr id="12" name="Freeform 12"/>
            <p:cNvSpPr/>
            <p:nvPr/>
          </p:nvSpPr>
          <p:spPr>
            <a:xfrm>
              <a:off x="0" y="0"/>
              <a:ext cx="812800" cy="481419"/>
            </a:xfrm>
            <a:custGeom>
              <a:avLst/>
              <a:gdLst/>
              <a:ahLst/>
              <a:cxnLst/>
              <a:rect l="l" t="t" r="r" b="b"/>
              <a:pathLst>
                <a:path w="812800" h="481419">
                  <a:moveTo>
                    <a:pt x="609600" y="0"/>
                  </a:moveTo>
                  <a:cubicBezTo>
                    <a:pt x="721824" y="0"/>
                    <a:pt x="812800" y="107769"/>
                    <a:pt x="812800" y="240709"/>
                  </a:cubicBezTo>
                  <a:cubicBezTo>
                    <a:pt x="812800" y="373650"/>
                    <a:pt x="721824" y="481419"/>
                    <a:pt x="609600" y="481419"/>
                  </a:cubicBezTo>
                  <a:lnTo>
                    <a:pt x="203200" y="481419"/>
                  </a:lnTo>
                  <a:cubicBezTo>
                    <a:pt x="90976" y="481419"/>
                    <a:pt x="0" y="373650"/>
                    <a:pt x="0" y="240709"/>
                  </a:cubicBezTo>
                  <a:cubicBezTo>
                    <a:pt x="0" y="107769"/>
                    <a:pt x="90976" y="0"/>
                    <a:pt x="203200" y="0"/>
                  </a:cubicBezTo>
                  <a:close/>
                </a:path>
              </a:pathLst>
            </a:custGeom>
            <a:solidFill>
              <a:srgbClr val="1A1B39"/>
            </a:solidFill>
          </p:spPr>
        </p:sp>
        <p:sp>
          <p:nvSpPr>
            <p:cNvPr id="13" name="TextBox 13"/>
            <p:cNvSpPr txBox="1"/>
            <p:nvPr/>
          </p:nvSpPr>
          <p:spPr>
            <a:xfrm>
              <a:off x="0" y="-57150"/>
              <a:ext cx="812800" cy="538569"/>
            </a:xfrm>
            <a:prstGeom prst="rect">
              <a:avLst/>
            </a:prstGeom>
          </p:spPr>
          <p:txBody>
            <a:bodyPr lIns="50800" tIns="50800" rIns="50800" bIns="50800" rtlCol="0" anchor="ctr"/>
            <a:lstStyle/>
            <a:p>
              <a:pPr algn="ctr">
                <a:lnSpc>
                  <a:spcPts val="4480"/>
                </a:lnSpc>
              </a:pPr>
              <a:r>
                <a:rPr lang="en-US" sz="3200">
                  <a:solidFill>
                    <a:srgbClr val="FFFFFF"/>
                  </a:solidFill>
                  <a:latin typeface="Canva Sans"/>
                  <a:ea typeface="Canva Sans"/>
                  <a:cs typeface="Canva Sans"/>
                  <a:sym typeface="Canva Sans"/>
                </a:rPr>
                <a:t>Energy Consumption Analysis</a:t>
              </a:r>
            </a:p>
          </p:txBody>
        </p:sp>
      </p:grpSp>
      <p:grpSp>
        <p:nvGrpSpPr>
          <p:cNvPr id="14" name="Group 14"/>
          <p:cNvGrpSpPr/>
          <p:nvPr/>
        </p:nvGrpSpPr>
        <p:grpSpPr>
          <a:xfrm rot="-78141">
            <a:off x="7245559" y="5552344"/>
            <a:ext cx="3086100" cy="1827887"/>
            <a:chOff x="0" y="0"/>
            <a:chExt cx="737617" cy="436888"/>
          </a:xfrm>
        </p:grpSpPr>
        <p:sp>
          <p:nvSpPr>
            <p:cNvPr id="15" name="Freeform 15"/>
            <p:cNvSpPr/>
            <p:nvPr/>
          </p:nvSpPr>
          <p:spPr>
            <a:xfrm>
              <a:off x="0" y="0"/>
              <a:ext cx="737617" cy="436888"/>
            </a:xfrm>
            <a:custGeom>
              <a:avLst/>
              <a:gdLst/>
              <a:ahLst/>
              <a:cxnLst/>
              <a:rect l="l" t="t" r="r" b="b"/>
              <a:pathLst>
                <a:path w="737617" h="436888">
                  <a:moveTo>
                    <a:pt x="534417" y="0"/>
                  </a:moveTo>
                  <a:cubicBezTo>
                    <a:pt x="646641" y="0"/>
                    <a:pt x="737617" y="97801"/>
                    <a:pt x="737617" y="218444"/>
                  </a:cubicBezTo>
                  <a:cubicBezTo>
                    <a:pt x="737617" y="339087"/>
                    <a:pt x="646641" y="436888"/>
                    <a:pt x="534417" y="436888"/>
                  </a:cubicBezTo>
                  <a:lnTo>
                    <a:pt x="203200" y="436888"/>
                  </a:lnTo>
                  <a:cubicBezTo>
                    <a:pt x="90976" y="436888"/>
                    <a:pt x="0" y="339087"/>
                    <a:pt x="0" y="218444"/>
                  </a:cubicBezTo>
                  <a:cubicBezTo>
                    <a:pt x="0" y="97801"/>
                    <a:pt x="90976" y="0"/>
                    <a:pt x="203200" y="0"/>
                  </a:cubicBezTo>
                  <a:close/>
                </a:path>
              </a:pathLst>
            </a:custGeom>
            <a:solidFill>
              <a:srgbClr val="1A1B39"/>
            </a:solidFill>
          </p:spPr>
        </p:sp>
        <p:sp>
          <p:nvSpPr>
            <p:cNvPr id="16" name="TextBox 16"/>
            <p:cNvSpPr txBox="1"/>
            <p:nvPr/>
          </p:nvSpPr>
          <p:spPr>
            <a:xfrm>
              <a:off x="0" y="-57150"/>
              <a:ext cx="737617" cy="494038"/>
            </a:xfrm>
            <a:prstGeom prst="rect">
              <a:avLst/>
            </a:prstGeom>
          </p:spPr>
          <p:txBody>
            <a:bodyPr lIns="50800" tIns="50800" rIns="50800" bIns="50800" rtlCol="0" anchor="ctr"/>
            <a:lstStyle/>
            <a:p>
              <a:pPr algn="ctr">
                <a:lnSpc>
                  <a:spcPts val="4480"/>
                </a:lnSpc>
              </a:pPr>
              <a:r>
                <a:rPr lang="en-US" sz="3200">
                  <a:solidFill>
                    <a:srgbClr val="FFFFFF"/>
                  </a:solidFill>
                  <a:latin typeface="Canva Sans"/>
                  <a:ea typeface="Canva Sans"/>
                  <a:cs typeface="Canva Sans"/>
                  <a:sym typeface="Canva Sans"/>
                </a:rPr>
                <a:t>Performance Evaluation</a:t>
              </a:r>
            </a:p>
          </p:txBody>
        </p:sp>
      </p:grpSp>
      <p:grpSp>
        <p:nvGrpSpPr>
          <p:cNvPr id="17" name="Group 17"/>
          <p:cNvGrpSpPr/>
          <p:nvPr/>
        </p:nvGrpSpPr>
        <p:grpSpPr>
          <a:xfrm>
            <a:off x="1344985" y="5587180"/>
            <a:ext cx="3086100" cy="1827887"/>
            <a:chOff x="0" y="0"/>
            <a:chExt cx="812800" cy="481419"/>
          </a:xfrm>
        </p:grpSpPr>
        <p:sp>
          <p:nvSpPr>
            <p:cNvPr id="18" name="Freeform 18"/>
            <p:cNvSpPr/>
            <p:nvPr/>
          </p:nvSpPr>
          <p:spPr>
            <a:xfrm>
              <a:off x="0" y="0"/>
              <a:ext cx="812800" cy="481419"/>
            </a:xfrm>
            <a:custGeom>
              <a:avLst/>
              <a:gdLst/>
              <a:ahLst/>
              <a:cxnLst/>
              <a:rect l="l" t="t" r="r" b="b"/>
              <a:pathLst>
                <a:path w="812800" h="481419">
                  <a:moveTo>
                    <a:pt x="609600" y="0"/>
                  </a:moveTo>
                  <a:cubicBezTo>
                    <a:pt x="721824" y="0"/>
                    <a:pt x="812800" y="107769"/>
                    <a:pt x="812800" y="240709"/>
                  </a:cubicBezTo>
                  <a:cubicBezTo>
                    <a:pt x="812800" y="373650"/>
                    <a:pt x="721824" y="481419"/>
                    <a:pt x="609600" y="481419"/>
                  </a:cubicBezTo>
                  <a:lnTo>
                    <a:pt x="203200" y="481419"/>
                  </a:lnTo>
                  <a:cubicBezTo>
                    <a:pt x="90976" y="481419"/>
                    <a:pt x="0" y="373650"/>
                    <a:pt x="0" y="240709"/>
                  </a:cubicBezTo>
                  <a:cubicBezTo>
                    <a:pt x="0" y="107769"/>
                    <a:pt x="90976" y="0"/>
                    <a:pt x="203200" y="0"/>
                  </a:cubicBezTo>
                  <a:close/>
                </a:path>
              </a:pathLst>
            </a:custGeom>
            <a:solidFill>
              <a:srgbClr val="1A1B39"/>
            </a:solidFill>
          </p:spPr>
        </p:sp>
        <p:sp>
          <p:nvSpPr>
            <p:cNvPr id="19" name="TextBox 19"/>
            <p:cNvSpPr txBox="1"/>
            <p:nvPr/>
          </p:nvSpPr>
          <p:spPr>
            <a:xfrm>
              <a:off x="0" y="-57150"/>
              <a:ext cx="812800" cy="538569"/>
            </a:xfrm>
            <a:prstGeom prst="rect">
              <a:avLst/>
            </a:prstGeom>
          </p:spPr>
          <p:txBody>
            <a:bodyPr lIns="50800" tIns="50800" rIns="50800" bIns="50800" rtlCol="0" anchor="ctr"/>
            <a:lstStyle/>
            <a:p>
              <a:pPr algn="ctr">
                <a:lnSpc>
                  <a:spcPts val="4480"/>
                </a:lnSpc>
              </a:pPr>
              <a:r>
                <a:rPr lang="en-US" sz="3200">
                  <a:solidFill>
                    <a:srgbClr val="FFFFFF"/>
                  </a:solidFill>
                  <a:latin typeface="Canva Sans"/>
                  <a:ea typeface="Canva Sans"/>
                  <a:cs typeface="Canva Sans"/>
                  <a:sym typeface="Canva Sans"/>
                </a:rPr>
                <a:t>Results Visualization &amp; Analysis</a:t>
              </a:r>
            </a:p>
          </p:txBody>
        </p:sp>
      </p:grpSp>
      <p:sp>
        <p:nvSpPr>
          <p:cNvPr id="20" name="TextBox 20"/>
          <p:cNvSpPr txBox="1"/>
          <p:nvPr/>
        </p:nvSpPr>
        <p:spPr>
          <a:xfrm>
            <a:off x="836277" y="425438"/>
            <a:ext cx="7774323" cy="1141338"/>
          </a:xfrm>
          <a:prstGeom prst="rect">
            <a:avLst/>
          </a:prstGeom>
        </p:spPr>
        <p:txBody>
          <a:bodyPr wrap="square" lIns="0" tIns="0" rIns="0" bIns="0" rtlCol="0" anchor="t">
            <a:spAutoFit/>
          </a:bodyPr>
          <a:lstStyle/>
          <a:p>
            <a:pPr algn="ctr">
              <a:lnSpc>
                <a:spcPts val="8852"/>
              </a:lnSpc>
            </a:pPr>
            <a:r>
              <a:rPr lang="en-US" sz="6323" b="1" dirty="0">
                <a:solidFill>
                  <a:srgbClr val="FFFFFF"/>
                </a:solidFill>
                <a:latin typeface="Canva Sans Bold"/>
                <a:ea typeface="Canva Sans Bold"/>
                <a:cs typeface="Canva Sans Bold"/>
                <a:sym typeface="Canva Sans Bold"/>
              </a:rPr>
              <a:t>LIST OF MODULES</a:t>
            </a:r>
          </a:p>
        </p:txBody>
      </p:sp>
      <p:sp>
        <p:nvSpPr>
          <p:cNvPr id="21" name="AutoShape 21"/>
          <p:cNvSpPr/>
          <p:nvPr/>
        </p:nvSpPr>
        <p:spPr>
          <a:xfrm flipV="1">
            <a:off x="4431085" y="3178781"/>
            <a:ext cx="2663386" cy="19050"/>
          </a:xfrm>
          <a:prstGeom prst="line">
            <a:avLst/>
          </a:prstGeom>
          <a:ln w="38100" cap="flat">
            <a:solidFill>
              <a:srgbClr val="FFFFFF"/>
            </a:solidFill>
            <a:prstDash val="solid"/>
            <a:headEnd type="none" w="sm" len="sm"/>
            <a:tailEnd type="none" w="sm" len="sm"/>
          </a:ln>
        </p:spPr>
      </p:sp>
      <p:sp>
        <p:nvSpPr>
          <p:cNvPr id="22" name="AutoShape 22"/>
          <p:cNvSpPr/>
          <p:nvPr/>
        </p:nvSpPr>
        <p:spPr>
          <a:xfrm>
            <a:off x="4431085" y="6501123"/>
            <a:ext cx="2814872" cy="236"/>
          </a:xfrm>
          <a:prstGeom prst="line">
            <a:avLst/>
          </a:prstGeom>
          <a:ln w="38100" cap="flat">
            <a:solidFill>
              <a:srgbClr val="FFFFFF"/>
            </a:solidFill>
            <a:prstDash val="solid"/>
            <a:headEnd type="none" w="sm" len="sm"/>
            <a:tailEnd type="none" w="sm" len="sm"/>
          </a:ln>
        </p:spPr>
      </p:sp>
      <p:sp>
        <p:nvSpPr>
          <p:cNvPr id="23" name="AutoShape 23"/>
          <p:cNvSpPr/>
          <p:nvPr/>
        </p:nvSpPr>
        <p:spPr>
          <a:xfrm flipV="1">
            <a:off x="10180572" y="3172318"/>
            <a:ext cx="2923100" cy="6462"/>
          </a:xfrm>
          <a:prstGeom prst="line">
            <a:avLst/>
          </a:prstGeom>
          <a:ln w="38100" cap="flat">
            <a:solidFill>
              <a:srgbClr val="FFFFFF"/>
            </a:solidFill>
            <a:prstDash val="solid"/>
            <a:headEnd type="none" w="sm" len="sm"/>
            <a:tailEnd type="none" w="sm" len="sm"/>
          </a:ln>
        </p:spPr>
      </p:sp>
      <p:sp>
        <p:nvSpPr>
          <p:cNvPr id="24" name="AutoShape 24"/>
          <p:cNvSpPr/>
          <p:nvPr/>
        </p:nvSpPr>
        <p:spPr>
          <a:xfrm>
            <a:off x="10331260" y="6431217"/>
            <a:ext cx="2757459" cy="38148"/>
          </a:xfrm>
          <a:prstGeom prst="line">
            <a:avLst/>
          </a:prstGeom>
          <a:ln w="38100" cap="flat">
            <a:solidFill>
              <a:srgbClr val="FFFFFF"/>
            </a:solidFill>
            <a:prstDash val="solid"/>
            <a:headEnd type="none" w="sm" len="sm"/>
            <a:tailEnd type="none" w="sm" len="sm"/>
          </a:ln>
        </p:spPr>
      </p:sp>
      <p:sp>
        <p:nvSpPr>
          <p:cNvPr id="25" name="AutoShape 25"/>
          <p:cNvSpPr/>
          <p:nvPr/>
        </p:nvSpPr>
        <p:spPr>
          <a:xfrm flipH="1" flipV="1">
            <a:off x="14643478" y="3950298"/>
            <a:ext cx="6775" cy="1637075"/>
          </a:xfrm>
          <a:prstGeom prst="line">
            <a:avLst/>
          </a:prstGeom>
          <a:ln w="38100" cap="flat">
            <a:solidFill>
              <a:srgbClr val="FFFFFF"/>
            </a:solidFill>
            <a:prstDash val="solid"/>
            <a:headEnd type="none" w="sm" len="sm"/>
            <a:tailEnd type="none" w="sm" len="sm"/>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674502" y="425223"/>
            <a:ext cx="10984097" cy="1141338"/>
          </a:xfrm>
          <a:prstGeom prst="rect">
            <a:avLst/>
          </a:prstGeom>
        </p:spPr>
        <p:txBody>
          <a:bodyPr wrap="square" lIns="0" tIns="0" rIns="0" bIns="0" rtlCol="0" anchor="t">
            <a:spAutoFit/>
          </a:bodyPr>
          <a:lstStyle/>
          <a:p>
            <a:pPr algn="ctr">
              <a:lnSpc>
                <a:spcPts val="8856"/>
              </a:lnSpc>
            </a:pPr>
            <a:r>
              <a:rPr lang="en-US" sz="6326" b="1" dirty="0">
                <a:solidFill>
                  <a:srgbClr val="FFFFFF"/>
                </a:solidFill>
                <a:latin typeface="Canva Sans Bold"/>
                <a:ea typeface="Canva Sans Bold"/>
                <a:cs typeface="Canva Sans Bold"/>
                <a:sym typeface="Canva Sans Bold"/>
              </a:rPr>
              <a:t>MODULES EXPLANATION</a:t>
            </a:r>
          </a:p>
        </p:txBody>
      </p:sp>
      <p:sp>
        <p:nvSpPr>
          <p:cNvPr id="3" name="TextBox 3"/>
          <p:cNvSpPr txBox="1"/>
          <p:nvPr/>
        </p:nvSpPr>
        <p:spPr>
          <a:xfrm>
            <a:off x="1143000" y="2048098"/>
            <a:ext cx="14422851" cy="1923604"/>
          </a:xfrm>
          <a:prstGeom prst="rect">
            <a:avLst/>
          </a:prstGeom>
        </p:spPr>
        <p:txBody>
          <a:bodyPr lIns="0" tIns="0" rIns="0" bIns="0" rtlCol="0" anchor="t">
            <a:spAutoFit/>
          </a:bodyPr>
          <a:lstStyle/>
          <a:p>
            <a:pPr algn="l">
              <a:lnSpc>
                <a:spcPts val="5014"/>
              </a:lnSpc>
            </a:pPr>
            <a:r>
              <a:rPr lang="en-US" sz="4000" b="1" dirty="0">
                <a:solidFill>
                  <a:srgbClr val="FFFFFF"/>
                </a:solidFill>
                <a:latin typeface="Canva Sans Bold"/>
                <a:ea typeface="Canva Sans Bold"/>
                <a:cs typeface="Canva Sans Bold"/>
                <a:sym typeface="Canva Sans Bold"/>
              </a:rPr>
              <a:t>1. Data Collection &amp; Initialization</a:t>
            </a:r>
          </a:p>
          <a:p>
            <a:pPr marL="773303" lvl="1" indent="-386651" algn="l">
              <a:lnSpc>
                <a:spcPts val="5014"/>
              </a:lnSpc>
              <a:buFont typeface="Arial"/>
              <a:buChar char="•"/>
            </a:pPr>
            <a:endParaRPr lang="en-US" sz="3581" dirty="0">
              <a:solidFill>
                <a:srgbClr val="FFFFFF"/>
              </a:solidFill>
              <a:latin typeface="Canva Sans"/>
              <a:ea typeface="Canva Sans"/>
              <a:cs typeface="Canva Sans"/>
              <a:sym typeface="Canva Sans"/>
            </a:endParaRPr>
          </a:p>
          <a:p>
            <a:pPr algn="l">
              <a:lnSpc>
                <a:spcPts val="5014"/>
              </a:lnSpc>
            </a:pPr>
            <a:endParaRPr lang="en-US" sz="3581" dirty="0">
              <a:solidFill>
                <a:srgbClr val="FFFFFF"/>
              </a:solidFill>
              <a:latin typeface="Canva Sans"/>
              <a:ea typeface="Canva Sans"/>
              <a:cs typeface="Canva Sans"/>
              <a:sym typeface="Canva Sans"/>
            </a:endParaRPr>
          </a:p>
        </p:txBody>
      </p:sp>
      <p:sp>
        <p:nvSpPr>
          <p:cNvPr id="5" name="Rectangle 2"/>
          <p:cNvSpPr>
            <a:spLocks noChangeArrowheads="1"/>
          </p:cNvSpPr>
          <p:nvPr/>
        </p:nvSpPr>
        <p:spPr bwMode="auto">
          <a:xfrm>
            <a:off x="1600200" y="3009900"/>
            <a:ext cx="15621000" cy="586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3600" b="1" i="0" u="none" strike="noStrike" cap="none" normalizeH="0" baseline="0" dirty="0" smtClean="0">
                <a:ln>
                  <a:noFill/>
                </a:ln>
                <a:solidFill>
                  <a:schemeClr val="bg1"/>
                </a:solidFill>
                <a:effectLst/>
                <a:latin typeface="Arial" panose="020B0604020202020204" pitchFamily="34" charset="0"/>
              </a:rPr>
              <a:t>Data Collection &amp; Initialization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200" b="1"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900" b="1" i="0" u="none" strike="noStrike" cap="none" normalizeH="0" baseline="0" dirty="0" smtClean="0">
              <a:ln>
                <a:noFill/>
              </a:ln>
              <a:solidFill>
                <a:schemeClr val="bg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Deploy sensor nodes in the network area</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Initialize system before communication</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Prepare nodes for clustering and routing</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Define environment for simulation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6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3600" b="0" i="0" u="none" strike="noStrike" cap="none" normalizeH="0" baseline="0" dirty="0" smtClean="0">
                <a:ln>
                  <a:noFill/>
                </a:ln>
                <a:solidFill>
                  <a:schemeClr val="bg1"/>
                </a:solidFill>
                <a:effectLst/>
                <a:latin typeface="Arial" panose="020B0604020202020204" pitchFamily="34" charset="0"/>
              </a:rPr>
              <a:t>This module is the starting stage of our system. Here, sensor nodes are deployed in the network area, and the entire environment is initialized for further processing like clustering and routing.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1524000" y="1866900"/>
            <a:ext cx="154686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Node Deployment &amp; Energy Initialization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36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Nodes are randomly distributed in sensing area</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Each node is assigned initial energy</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Energy is limited and non-rechargeable</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Energy used for sensing, processing, transmission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36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3600" b="0" i="0" u="none" strike="noStrike" cap="none" normalizeH="0" baseline="0" dirty="0" smtClean="0">
                <a:ln>
                  <a:noFill/>
                </a:ln>
                <a:solidFill>
                  <a:schemeClr val="bg1"/>
                </a:solidFill>
                <a:effectLst/>
                <a:latin typeface="Arial" panose="020B0604020202020204" pitchFamily="34" charset="0"/>
              </a:rPr>
              <a:t>In this step, sensor nodes are randomly placed in the sensing field. Each node is given an initial energy value, which is limited. This energy is used for sensing, processing, and communication.</a:t>
            </a:r>
          </a:p>
        </p:txBody>
      </p:sp>
    </p:spTree>
    <p:extLst>
      <p:ext uri="{BB962C8B-B14F-4D97-AF65-F5344CB8AC3E}">
        <p14:creationId xmlns:p14="http://schemas.microsoft.com/office/powerpoint/2010/main" val="3041270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1219200" y="830877"/>
            <a:ext cx="160020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3600" b="1" i="0" u="none" strike="noStrike" cap="none" normalizeH="0" baseline="0" dirty="0" smtClean="0">
                <a:ln>
                  <a:noFill/>
                </a:ln>
                <a:solidFill>
                  <a:schemeClr val="bg1"/>
                </a:solidFill>
                <a:effectLst/>
                <a:latin typeface="Arial" panose="020B0604020202020204" pitchFamily="34" charset="0"/>
              </a:rPr>
              <a:t>Simulation Parameters &amp; Base Station</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sz="3600" b="1" i="0" u="none" strike="noStrike" cap="none" normalizeH="0" baseline="0" dirty="0" smtClean="0">
              <a:ln>
                <a:noFill/>
              </a:ln>
              <a:solidFill>
                <a:schemeClr val="bg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Define number of nodes</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Set area size and communication range</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Set number of rounds</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Place base station inside/outside network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3600" b="1"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3600" b="0" i="0" u="none" strike="noStrike" cap="none" normalizeH="0" baseline="0" dirty="0" smtClean="0">
                <a:ln>
                  <a:noFill/>
                </a:ln>
                <a:solidFill>
                  <a:schemeClr val="bg1"/>
                </a:solidFill>
                <a:effectLst/>
                <a:latin typeface="Arial" panose="020B0604020202020204" pitchFamily="34" charset="0"/>
              </a:rPr>
              <a:t>Here, we define simulation parameters such as number of nodes, area size, and communication rounds. The base station is also placed, which collects all data from sensor nodes.</a:t>
            </a:r>
          </a:p>
        </p:txBody>
      </p:sp>
      <p:sp>
        <p:nvSpPr>
          <p:cNvPr id="5" name="AutoShape 3" descr="https://www.researchgate.net/publication/349934013/figure/fig1/AS%3A11431281107467484%401671073831140/Wireless-sensor-network-with-node-deployment-9.png"/>
          <p:cNvSpPr>
            <a:spLocks noChangeAspect="1" noChangeArrowheads="1"/>
          </p:cNvSpPr>
          <p:nvPr/>
        </p:nvSpPr>
        <p:spPr bwMode="auto">
          <a:xfrm>
            <a:off x="155574" y="-144463"/>
            <a:ext cx="5254625" cy="525464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pic>
        <p:nvPicPr>
          <p:cNvPr id="6" name="Picture 5"/>
          <p:cNvPicPr>
            <a:picLocks noChangeAspect="1"/>
          </p:cNvPicPr>
          <p:nvPr/>
        </p:nvPicPr>
        <p:blipFill>
          <a:blip r:embed="rId2"/>
          <a:stretch>
            <a:fillRect/>
          </a:stretch>
        </p:blipFill>
        <p:spPr>
          <a:xfrm>
            <a:off x="9220200" y="6057900"/>
            <a:ext cx="8458200" cy="3990975"/>
          </a:xfrm>
          <a:prstGeom prst="rect">
            <a:avLst/>
          </a:prstGeom>
        </p:spPr>
      </p:pic>
    </p:spTree>
    <p:extLst>
      <p:ext uri="{BB962C8B-B14F-4D97-AF65-F5344CB8AC3E}">
        <p14:creationId xmlns:p14="http://schemas.microsoft.com/office/powerpoint/2010/main" val="3695159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5" name="AutoShape 3" descr="https://www.researchgate.net/publication/349934013/figure/fig1/AS%3A11431281107467484%401671073831140/Wireless-sensor-network-with-node-deployment-9.png"/>
          <p:cNvSpPr>
            <a:spLocks noChangeAspect="1" noChangeArrowheads="1"/>
          </p:cNvSpPr>
          <p:nvPr/>
        </p:nvSpPr>
        <p:spPr bwMode="auto">
          <a:xfrm>
            <a:off x="155574" y="-144463"/>
            <a:ext cx="5254625" cy="525464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solidFill>
                <a:schemeClr val="bg1"/>
              </a:solidFill>
            </a:endParaRPr>
          </a:p>
        </p:txBody>
      </p:sp>
      <p:sp>
        <p:nvSpPr>
          <p:cNvPr id="2" name="AutoShape 2" descr="data:image/png;base64,iVBORw0KGgoAAAANSUhEUgAAAhwAAAIjCAYAAABI0sIEAAAAOnRFWHRTb2Z0d2FyZQBNYXRwbG90bGliIHZlcnNpb24zLjEwLjAsIGh0dHBzOi8vbWF0cGxvdGxpYi5vcmcvlHJYcgAAAAlwSFlzAAAPYQAAD2EBqD+naQAAw/ZJREFUeJzsnXeYXGXZ/7+nTK/bW3qykBA2CUIIAQSEELqgqC9KVQRfCSWA+gMFlAgCvooIhObLi6igokKoUgSkpoEk2UBINsmmbW/T+znP74/Zmexsm3bqzPO5rlywM2fOeeaZc85zn7t8b4YQQkChUCgUCoUiI6zaA6BQKBQKhVL6UIODQqFQKBSK7FCDg0KhUCgUiuxQg4NCoVAoFIrsUIODQqFQKBSK7FCDg0KhUCgUiuxQg4NCoVAoFIrsUIODQqFQKBSK7FCDg0KhUCgUiuxQg4NCoUjCnj17wDAMfv/736s9FEn5/e9/D4ZhsGfPHrWHQqHoGmpwUChZeOaZZ8AwDJ577rkx7y1cuBAMw+Dtt98e8960adNw7LHHpv+OxWL47W9/iyOOOAJOpxNutxvz58/HlVdeic8//zy9XWqBM5vN6OjoGLPfk046CYcffnjWcV922WVgGAYLFizAeB0MGIbB1VdfnXU/asIwTPofz/OorKzEkUceieuuuw6fffaZ2sMraR566KGSMx4p6kINDgolC8cffzwA4P3338943efzYevWreB5Hh988EHGe/v378f+/fvTnwWA888/HzfeeCMOP/xw3H333bj99ttxwgkn4J///CfWrVs35rjRaBR333130eNvbW3Fs88+W/R+1OLUU0/FH//4RzzxxBNYtWoVvvCFL+DJJ5/EwoULce+996o9vJKFGhwUqeHVHgCFonUaGxsxc+bMMQbH2rVrQQjB17/+9THvpf5OGRwbN27ESy+9hDvvvBM//vGPM7Z98MEH4fF4xhx30aJF+N3vfoebb74ZjY2NBY3dYrFg6tSpWLVqFb761a+CYZiC9qMmhxxyCC666KKM1+6++26cc845uPHGGzF37lyceeaZKo2OQqHkCvVwUCg5cPzxx+OTTz5BOBxOv/bBBx9g/vz5OOOMM7Bu3TqIopjxHsMwOO644wAAu3btAoD03yPhOA5VVVVjXv/xj38MQRCK8nKwLItbbrkFW7ZsGTckNJre3l5cfvnlqKurg9lsxsKFC/Hkk0+O2c7j8eCyyy6Dy+WC2+3GpZdeOq7RBACff/45vva1r6GyshJmsxlHHXUUXnjhhYK/EwBUVVXhL3/5C3iex5133pnxXjQaxU9/+lPMmTMHJpMJU6dOxY9+9CNEo9GM7VIhpaeeegqHHnoozGYzjjzySLz77rs5jeGhhx7C/PnzYTKZ0NjYiBUrVmTMwU9/+lMYDAb09fWN+eyVV14Jt9uNSCQCAJgxYwbOPvts/Pvf/8ZRRx0Fi8WClpYW/Pvf/wYAPPvss2hpaUmP8ZNPPhmzz1zmORWu++CDD3DDDTegpqYGNpsNX/nKVzLGOWPGDHz66ad455130iGtk046Kad5oVAmhFAolKw8+uijBAB5++2306+dfPLJ5MorryQ7d+4kAMjmzZvT7y1atIjMmzcv/feHH35IAJArrriCxOPxSY/1xBNPEABk48aN5Dvf+Q4xm82ko6Mj/f6JJ55I5s+fn3XMl156KbHZbCSRSJDm5maycOFCIopi+n0AZMWKFem/Q6EQmTdvHjEYDOT6668n999/P/niF79IAJD77rsvvZ0oiuSEE04gLMuSq666ijzwwAPk5JNPJgsWLCAAyBNPPJHeduvWrcTlcpHDDjuM3HPPPeTBBx8kJ5xwAmEYhjz77LNZv8PoMY7mlFNOISzLEq/XSwghRBAEsnz5cmK1WsnKlSvJo48+Sq6++mrC8zw599xzx+z78MMPJ9XV1WTVqlXknnvuIdOnTycWi4W0tramt0v9Hu3t7enXfvrTnxIAZNmyZeSBBx4gV199NeE4jixevJjEYjFCCCFtbW0EAHnggQcyjhuNRklFRQX5zne+k35t+vTp5NBDDyUNDQ3kZz/7GfnNb35DmpqaiN1uJ3/605/ItGnTyN13303uvvtu4nK5yJw5c4ggCHnPc+q7HHHEEeTkk08mDzzwALnxxhsJx3HkG9/4Rnq75557jkyZMoXMnTuX/PGPfyR//OMfyeuvv57196JQJoMaHBRKDnz66acEAPn5z39OCCEkHo8Tm81GnnzySUIIIXV1dWT16tWEEEJ8Ph/hOI5cccUV6c+LokhOPPFEAoDU1dWRb37zm2T16tVk7969Y4410uDYtWsX4XmeXHvtten38zU4CCHkySefJAAyFp/Ri/l9991HAJA//elP6ddisRhZunQpsdvtxOfzEUIIWbNmDQFAfvnLX6a3SyQSaeNkpMFxyimnkJaWFhKJRDLm4thjjyXNzc1Zv0M2g+O6667LMPb++Mc/EpZlyXvvvZex3SOPPEIAkA8++CBj3wDIRx99lH5t7969xGw2k6985Svp10YbHL29vcRoNJLly5dnLPoPPvggAUD+7//+L/3a0qVLyZIlSzLG8uyzz44xXqdPn04AkA8//DD92muvvUYAEIvFknGejGf85jrPqe+ybNmyDOPz+uuvJxzHEY/Hk35t/vz55MQTTyQUilTQkAqFkgPz5s1DVVVVOjdj8+bNCAaD6SqUY489Np04unbtWgiCkJEwyjAMXnvtNdxxxx2oqKjAn//8Z6xYsQLTp0/Hf/3Xf00Yjpg1axYuvvhiPPbYY+jq6ip4/BdeeCGam5uxatWqcStWAOCVV15BfX09vvnNb6ZfMxgMuPbaaxEIBPDOO++kt+N5Ht///vfT23Ech2uuuSZjf4ODg3jrrbfwjW98A36/H/39/ejv78fAwABOO+00tLW1jVuFkw92ux0A4Pf7AQB/+9vfMG/ePMydOzd9vP7+fpx88skAMKaaaOnSpTjyyCPTf0+bNg3nnnsuXnvtNQiCMO4x//WvfyEWi2HlypVg2YO30CuuuAJOpxMvv/xy+rVLLrkE69evT4fUAOCpp57C1KlTceKJJ2bs97DDDsPSpUvTfy9ZsgQAcPLJJ2PatGljXt+9ezeAwub5yiuvzMjn+eIXvwhBELB3795xvzOFIgXU4KBQcoBhGBx77LHpXI0PPvgAtbW1mDNnDoBMgyP135EGBwCYTCb85Cc/wbZt29DZ2Yk///nPOOaYY/DMM89MWp56yy23IJFIFJXLwXEcbrnlFmzatAlr1qwZd5u9e/eiubk5YxEFksZW6v3UfxsaGtKLfYpDDz004++dO3eCEIJbb70VNTU1Gf9++tOfAkjmjBRDIBAAADgcDgBAW1sbPv300zHHO+SQQ8Y9XnNz85h9HnLIIQiFQuPmXgAH52H09zUajZg1a1bGov1f//VfMJlMeOqppwAAXq8XL730Ei688MIxCbwjjQoAcLlcAICpU6eO+/rQ0BCAwuZ59LEqKioy9kmhyAGtUqFQcuT444/Hiy++iNbWVnzwwQcZGhvHHnssfvjDH6KjowPvv/8+GhsbMWvWrAn31dDQgAsuuADnn38+5s+fj2eeeQa///3vwfNjL8lZs2bhoosuwmOPPYabbrqp4PFfeOGF+PnPf45Vq1bhvPPOK3g/uZJKov3BD36A0047bdxtUgZboWzduhUcx2HmzJnpY7a0tExYLjt68ZabiooKnH322Xjqqadw22234e9//zui0eiYqhsgaRSOx0SvpzxVhcxztn1SKHJADQ4KJUdG6nF88MEHWLlyZfq9I488EiaTCf/+97+xfv36nMs0DQYDFixYgLa2NvT396O+vn7c7W655Rb86U9/wj333FPw+FNejssuuwzPP//8mPenT5+OLVu2QBTFDC9HSpRs+vTp6f+++eabCAQCGV6O7du3Z+wvZXAZDAYsW7as4HFPxL59+/DOO+9g6dKlaQ/H7NmzsXnzZpxyyik5lQC3tbWNeW3Hjh2wWq2oqakZ9zOpedi+fXuGURmLxdDe3j7mu15yySU499xzsXHjRjz11FM44ogjMH/+/Jy/Zzbkmmc9llBTtA0NqVAoOXLUUUfBbDbjqaeeQkdHR4aHw2Qy4Qtf+AJWr16NYDA4JpzS1taGffv2jdmnx+PB2rVrUVFRMeECByQX0osuugiPPvoouru7C/4OF110EebMmYPbb799zHtnnnkmuru78de//jX9WiKRwAMPPAC73Z7OOTjzzDORSCTw8MMPp7cTBAEPPPBAxv5qa2tx0kkn4dFHHx03/2SikEUuDA4O4pvf/CYEQcBPfvKT9Ovf+MY30NHRgd/97ndjPhMOhxEMBjNeW7t2Lf7zn/+k/96/fz+ef/55LF++fEIvwLJly2A0GnH//fdneAQef/xxeL1enHXWWRnbn3HGGaiursY999yDd955Z1zvRjHINc82m23C3CIKpRCoh4NCyRGj0YjFixfjvffeg8lkykg2BJJhlV//+tcAxuZvbN68Gd/61rdwxhln4Itf/CIqKyvR0dGBJ598Ep2dnbjvvvsmXOBS/OQnP8Ef//hHbN++veAnZI7j8JOf/ATf/va3x7x35ZVX4tFHH8Vll12Gjz/+GDNmzMDf//53fPDBB7jvvvvSXoRzzjkHxx13HG666Sbs2bMHhx12GJ599ll4vd4x+1y9ejWOP/54tLS04IorrsCsWbPQ09ODtWvX4sCBA9i8eXPWMe/YsQN/+tOfQAiBz+fD5s2b8be//Q2BQAD33nsvTj/99PS2F198MZ555hn893//N95++20cd9xxEAQBn3/+OZ555hm89tprOOqoo9LbH3744TjttNNw7bXXwmQy4aGHHgKAcQ2yFDU1Nbj55ptx++234/TTT8eXv/xlbN++HQ899BAWL148xqAwGAy44IIL8OCDD4LjuIykXKmQYp5Hc+SRR+Lhhx/GHXfcgTlz5qC2tjadfEuhFISKFTIUiu64+eabCQBy7LHHjnkvVe7ocDhIIpHIeK+np4fcfffd5MQTTyQNDQ2E53lSUVFBTj75ZPL3v/89Y9uRZbGjufTSSwmAvMtiRxKPx8ns2bPHLTnt6ekh3/72t0l1dTUxGo2kpaUlo8w1xcDAALn44ouJ0+kkLpeLXHzxxeSTTz4ZUxZLCCG7du0il1xyCamvrycGg4E0NTWRs88+e8z3Hg8Ml64CICzLErfbTY444ghy3XXXkU8//XTcz8RiMXLPPfeQ+fPnE5PJRCoqKsiRRx5Jbr/99rReR2rfK1asIH/6059Ic3MzMZlM5IgjjsgoNyVkfB0OQpJlsHPnziUGg4HU1dWR73//+2RoaGjcMW3YsIEAIMuXLx/3/enTp5Ozzjpr3O8/+jdqb28nAMj//M//ZLyeyzxPdG69/fbbY0ptu7u7yVlnnUUcDgcBQEtkKUXDEEKzhCgUSvnBMAxWrFiBBx98UPZjbd68GYsWLcIf/vAHXHzxxbIfj0LRIjSHg0KhUGTmd7/7Hex2O7761a+qPRQKRTVoDgeFQqHIxIsvvojPPvsMjz32GK6++mrYbDa1h0ShqAY1OCgUCkUmrrnmGvT09ODMM8+cNBGVQikHaA4HhUKhUCgU2aE5HBQKhUKhUGSHGhwUCoVCoVBkh+ZwINmLoLOzEw6Hg8r5UigUCoWSB4QQ+P1+NDY2jmn+OBJqcADo7OxUvKkThUKhUCilxP79+zFlypQJ36cGBw62tt6/fz+cTqck+4zH43j99dexfPlyGAwGSfZZ7tA5lQc6r9JD51R66JzKgxTz6vP5MHXq1PRaOhHU4MDBrohOp1NSg8NqtcLpdNKLQyLonMoDnVfpoXMqPXRO5UHKec2WkkCTRikUCoVCocgONTgoFAqFQqHIDjU4KBQKhUKhyA7N4cgRQRAQj8dz3j4ej4PneUQiEQiCIOPIygc9zinHceB5npZbUyiUsocaHDkQCARw4MAB5KMCTwhBfX099u/fTxcbidDrnFqtVjQ0NMBoNKo9FAqFQlENanBkQRAEHDhwAFarFTU1NTkvdKIoIhAIwG63TyqEQskdvc0pIQSxWAx9fX1ob29Hc3OzLsZNoVAockANjizE43EQQlBTUwOLxZLz50RRRCwWg9lspouMROhxTi0WCwwGA/bu3ZseO4VCoZQj+rhrawA9ufAp2kIvxhGFQqHICb0TUigUCoVCkR1qcFAoFAqFQpEdVQ2Od999F+eccw4aGxvBMAzWrFmT8T4hBLfddhsaGhpgsViwbNkytLW1ZWwzODiICy+8EE6nE263G5dffjkCgYCC34Kid/bs2QOGYbBp0ya1h0KhUCgli6oGRzAYxMKFC7F69epx3//lL3+J+++/H4888gjWr18Pm82G0047DZFIJL3NhRdeiE8//RRvvPEGXnrpJbz77ru48sorlfoKmqWvrw/f//73MW3aNJhMJtTX1+O0007DBx98oPbQCmLGjBngOA4bN27MeH3lypU46aST1BkUhUKhUHJG1SqVM844A2eccca47xFCcN999+GWW27BueeeCwD4wx/+gLq6OqxZswYXXHABtm3bhldffRUbN27EUUcdBQB44IEHcOaZZ+JXv/oVGhsbx913NBpFNBpN/+3z+QAkK1JGi3ulqlREUYQoijl/t5RmR+qzhBD0h+OICgJMHIdqi0HWRNTzzz8fsVgMTzzxBGbNmoWenh689dZb6Ovry+t7KE08Hp+wgZDZbMbPfvYznHzyyenvkJrnYr5T6rP5/sb57J8Qgng8Do7jJN9/saTO+XyE7SiTQ+dUeuicyoMU85rrZzVbFtve3o7u7m4sW7Ys/ZrL5cKSJUuwdu1aXHDBBVi7di3cbnfa2ACAZcuWgWVZrF+/Hl/5ylfG3fddd92F22+/fczrr7/+OqxWa8ZrPM+jvr4egUAAsVgs7+/h9/vRGxHQ5o8hOmItM7FAs8OIWrP0C5DX68V7772Hl156CUceeSQAoKKiAnPnzgVw0MDyer249dZb8corryAWi2HRokW488470dLSAgC4++678fLLL2PFihX4xS9+AY/Hg2XLluG3v/1tug3x888/j3vuuQft7e2wWCxYsGABnnrqKdhsNoiiiF/96ld48skn0d/fj0MOOQQ//elP07/pvn37sHDhQjz++ON4/PHH8fHHH+Pee+/Ft771rTHfSRRFXHrppXjiiSfwj3/8A8uXLwcAxGIxJBKJ9HfKdkwA+Pjjj3H99ddjx44dmDdvHm688UYASY9baj+fffYZbrvtNqxbtw5WqxVf+tKX8Itf/AJVVVVZv/doYrEYwuEw3n33XSQSiWJ+Wll544031B5CyUHnVHronMpDMfMaCoVy2k6zBkd3dzcAoK6uLuP1urq69Hvd3d2ora3NeJ/neVRWVqa3GY+bb74ZN9xwQ/pvn8+HqVOnYvny5WPa00ciEezfvx92uz0vDQVCCPx+P/yMAVu94THvR0VgqzeGww121FhNMHEszPz4Ea64SBBJCBAnETplAKTetlYaYbfb8dKrr+HI406AyWQCALAMYOY5GFgGkYSIS88/HxazBc+seRFOlxO/f/x/cd5XvoKNm7eiorIShDNgz549ePnV1/DnZ5+H1zOE71x0Ie57YDVuuX0Vuru68N3vfhc/u/MXOPvL5yLgD2DtB+9DNFpATFY8/MBv8eDq1bjvgdVYfOQX8Mcnf49vfetb+PDjTzB7TjOIMTmft69ahTvu+iVaFi2EyWQGMVnH+YIsps2ag29/+9tY9fM7cOrZX4bVaIDRaATP8+nf7b777sPq1avx4EMPY15LC/745JMZxwwEArjgm9/ESSefgkee+AO69u3Fj36QPBdMFisYsxVDQx6ce955uPjSb+POX92LSDiCn936Y3z78u/i+X++lvV7jxk6w8JoNuOEE07Abn8Muzxjz4fZbgsOq0l+h8/6fONuU8hnUtts6BxET3DsU0idzYAjahx44403UNlyFPoiY0+yOpsBRzdWoisQwdY+HyKJg9uYeQaH1zjRYDfnNfaRGIZP+/gIg3z0fkeTbSy5jGP0MbLtc7z3OQYQxrsuBQHc7k0QZi0CRnm1cjluNrLNWa77HD3+fOdwvHEUMvacGDWnLIB8diHF713w2HMgdZ1lu5bHY7Lr++jGykmPG4/H8cYbb+DUU08tuD196kEtG5o1OOTEZDKlF+GRGAyGMRMuCAIYhgHLsnnpKaTc6K0Dkyewtg2FUG01IiqKgABYDZk/SUwQEUoM9w2ZJAIz8rbCG3g8+Nj/YuWK7+P3//s7LFh0BI774hfx1a9/A/NbWmBgWbz33nv4z0cfYce+A+m5+Pnd9+CVF1/A82uexWWXfxdgkt9j9e/+N+3R+Ma3voV3/v02bmGAnp5uJBIJnHPueZg6fToA4LCWw9PjWH3ffbjuxh/gK9/4BgDgtjt+gTffehuPrH4A/3Pf/env899XX4Ozv3JelhlNfv8f/OAHeOrpL+Cvf/kz/utbF6ZvOKnf5te//jV+8MMf4ezzvwYA+Nmdv8D777yTPubfn/kLRFHE/Y88CrPZjHnzD8N1nQdw3dVXIyKIEAH87tGH0bJwIW79+c/Th37gkcfQ0jwbO3fuQDAQnPR7j0YEEBMItg4E0BXFmAUIAHb5Y2D5UPr/x9umkM/s8sfQFR5EKCGO+35PRMQnfX4ASBobE2zzXocHnmgCAAuM2CRCgI96A1jC8xgMx3Ie+0jSt8kJ9tvkyBTc6/CH8VFvYMKxNARj6ApmH8fIYwCYdJ/NcRFtQ6Ex72ft6MNxY8aRy3GzMdmcTTTW8Rg9/nzncLxxZKOQz2QwPKf5rvlS/N5Fj30SeiIi3tw38bWaut5bal0Zr689MICeyMTX90c9PiydUpX1+OOtf7mS6+c0WxZbX18PAOjp6cl4vaenJ/1efX09ent7M95PJBIYHBxMb6MmnriISGLyyyIqiMM38uT/j+zXQghBOF5Yk7Ivf+Ur+Gz3Hjz193/glOXL8f677+KkpUvw9B//gLgoYmvrFgQDAcxpasDU6sr0v7179mDP7t3p/UydPj1tbABAXX09+vuSc374ggU48UtfwnGLj8Rl3/omnvy/x+EZGgKQtHi7ujqxZOnS9Gfjooijly7Fjs+3Z4x10ReOzPl7VVdX4+rrrsddq25PhlNGPJ75fD50dnbiC0uOyfjMyGPu+PxzzD+8JcNbdcTiJRnbb92yBe+/807GvByzaAEAoH337km/92T0hSePc7YNhYZvcrmTy2dCWc7B8Z6MRpM6RydiS68v77HnwpZe35hrYkvv5E9TXcH8Qp+be7zYnGWfcn23zT1eyfcrxVjznUM9kcu8y/F750K2a7VtKJSRZyYIQtbfqisY00yzS80aHDNnzkR9fT3efPPN9Gs+nw/r16/H0uFFbOnSpfB4PPj444/T27z11lsQRRFLliwZs0+lIIQgKoiIjutrHUtMOHgC+WIJhOKJ9D5E5O5mHY3ZbMaXTlmGH978Y7z273fwzYsvwd3DT+3BQBB19Q14Z/2GjH8btrTimusPhptGW64Mw0Acju1wHIdnX/4nnlnzAg6dNw+/e/ghHL2wBXv3tOc1zvHyHibjqmuvQyQSweOPPgICgtE99UgRcwYAwWAAp5151pi5+Wjrpzj2+C9K9r1LiXCWG2Ux+93U403fZPvDMcmPFRFI1gcDOQgnRERyvEdQpEPv8755hBG+Zdg7mY3UdqIoom0wgE09XrQNBhQvIFDV4AgEAti0aVNa/6C9vR2bNm3Cvn37wDAMVq5ciTvuuAMvvPACWltbcckll6CxsRHnnXceAGDevHk4/fTTccUVV2DDhg344IMPcPXVV+OCCy6YsEJFbkLxBDzROCIJESYutyoUI3fwZxCHDQ1PNI5wQlqr9NC5cxEKBQEAC45YhN6ebvA8j1mz52T8q6quznmfDMPgmGOPxc233oZ31m2AwWDES88/D6fTiYaGRqxfuzZj+w1r1+LQ4eTVQrHb7fjBTTfj3l/ek6G54nQ60dg4+TEPmTsXn25tzSit/mjD+oztFy46Atu3fYZp02eMmZuUcTTR96ZIT7s3jDVtPWjt9apiGFAoWqLdG8aru3vR4Q8jmKMHPBgX0NrrTV5HfX7s9oTQ2ufHmrYefNaXW/6FFKhqcHz00Uc44ogjcMQRRwAAbrjhBhxxxBG47bbbAAA/+tGPcM011+DKK6/E4sWLEQgE8Oqrr2a4w5966inMnTsXp5xyCs4880wcf/zxeOyxx1T5PqF4AtER3gq3gYWJm3yKTRwLt0naVJrBgQGce/ppeObPT+PT1lbs3dOONf/4Bx74zb044+xzAAAnnXwKFi85Bhd94+t4619vYN/ePVi/di3u+Olt+GSEx2gyPtqwAff+8h588vHHOLBvH15cswYD/X04ZHhxv/r66/HbX/8Kz/7tb2jbsR233/ITtG7ZjO9dfXXR3/HSy78Lp9OJf/z1Lxmv33DjDyY95tf+64KkMXvV9/H5tm1449V/4sH7fpOxj8u/998YGhrCdy+5GP/56CO0796FN994HSuuvAKCIGT93hR5aBsKodOfX0IqhVKKhBMi1nd6gBy9uZG4MGGYKN8k72JQNWn0pJNOyojPjoZhGKxatQqrVq2acJvKyko8/fTTcgwvL1IhkJEwDIPmCiu29k+cONpcaZVcj8Nmt+PIxYvx8AP3o333biTicTRNmYKLv/0d3PCj/5ce21/XPI87f3obrrnySvT396G2rh7HHn88akZV/kyEw+nAh++/h0cefAB+nw9Tp03Dz+++B6eedjoA4HsrrobP58OtN/0/9Pf14tB58/DU3/+B2XOai/6OBoMBP77tZ7jiskswcvpWXnct+oeGJjym3W7H039/FjdeezVOOuZoHDpvHn56xy9w6Tf/K72PhsZG/POtt3H7T36C8885C7FoFFOmTcMppy4Hy7JZvzdFPjoCUZh5lno6KBQAnix5YSl8OXhClAivMGSyFb9M8Pl8cLlc8Hq945bFtre3Y+bMmZOWxUYSQmYIhABMNARisqIvHEXbYCjDIDFxLJorraixjq2WoUzAiDkdWbFjN/AwjPAkxQQRwXjuehc8wyAh42UQi0ZwYO8+dBicSLCFZYFPhs3AIjhJnd6EpZvD2FkR4c8+gtB8ZN4VJmowzWnGPl8k+4ZqIgjg2j7WzZzqAjqn8jA8r4cuPRFza90F7WKyNXQkZVkWKwfiJAtWjdWEaosRnmgCMUGEcTiMQlveS8PomTdyLBIiO8bjNBFyGhspWBl/6smMDWByY4MBEIgTOar8ZINnWTTYjONm57uMPLwx7YqraQ2WwaT6PlpmpPYQpXhCBVZE5oNmq1T0BpvFeGAYBhVmA+psJlSY5ZU1VwJmMlEQhRk9kpgg5mxsSIlhEp0WJW/qxjysGz3esH3R+ISlgNTYyA+RJD1GeoRAv2PXIlaD/I8d1OCQiGzJoXLBqrTwF1t6KiX8iAW2GO2SYmDBQNDIo2JMI+OQi/4c49aU3OgJaDw8NQm9wWj2jSg5MdNlyb5RkVCDQyISKt3kOTl99VnQipdjpDcjIZKitEsKhWWhynHLjWqz9DkwWiZbBVvTBNLv+RDVcf6tnvU0tEY+StoFH0P2I5QJap32cRU7v+bq5WDByOoBGpk/o9bvoJbBWU64TTycZWRwNNiMOHlGDRpsxgnfb3TQkAKlOOpsyl1T1OCQCG0862sLA8vCbuDhNPGT5jcUy8j8Gfo7lC6eaAK+aPmEU7qCMbT2eifMV+kKxhCgOSuqUGsd3wjUI7m0NpAKanBIBM8yWfMp2LYdcE2fCrZth0KjUpe4KIJnGTAMk9P8FMpI74mcx6GoT7nlb2Tr6bHHq07Pj0IxSrzimFRawfyxBMw5KknrBSUUMqjBIREMw8CSJcvX+Ne/gu3thfGZZxQalfqk8itymZ9ijyH3cSgUrSFXDxs5cJt4HFHvlnSfsyry68MkFeGEiJluqyrHlouBiPzGPDU4JMTIsbAZ+AmfsI1/+1vGf/NB7jwIuUiIJG05Z5sfKY4x8jil9fyhH0wsYOP1d65S5MPMMai0GBGKC1hc7yzaO2DmGBzd4FJVQ8RuNGBJozvnnllaJ6qA8UrvCgrB7tgObkeyRTq3/fOCwipaqQrJh7gowjcseKbkMWJCsmZk3949qLSY0Lp5MwCAYxhZ80koyaqHoI6evCnyYRi+1CICSTcM29jtQxatuqwIBNjU48P2wWBO21eYeZwzqxpfnFqJQyul8YqYeRaD4VjOXcG1jkmBhwR655WQlKT2eOWRxjVrQIYXOsKyMK5Zk9e+RRBEBCFno2PFFd9FpcWU/je7qQFf+/LZ+LS1Na/jSoEIgmA8gVA8AV8kinv/55dYsrAFjRUuzGqsx7IvHo8/PPF/6e3PWX4qbv7BjXkf47LLLsOXzz0XgVgiXb3TNGUqtrXvxbz58wEAwrAnRI/GW6ljyfGGR29a+mEiw0IoMl8gLpKc9WYsPIuTplXDYDCgxmrCYdWOvMTxxoNlgC5/JGuOzWQYmOQDkFaoUqACjF67EpFNcMrw978BqYtMFGEoIKySL6csX45t7XuxrX0v1rzyKniexwVf/Yrsx52IqCDinjvvwMMP3o+bb/sZ1n6yCS+8+jouvfxyeD0eSY4hiCSjVJjjONTV14PnD+oZJN8vjaeSUuKwHJ88qe+Ekg8Lap2SKzuLBNjpKS5hl6B4w0tKaNKojkiEwmDWfgjuw+F/az8Et24duLUfwvDyS+BbW8Gkn64BvnULDC+/dHD7kf/WrgUi46v/ERCYOS6nJ3ST0YS6+nrU1dejZeFCrLzxh+g4sB/9fX3pbX72kx9jcct8NFW6ccS8Q3Hn7T9DPH4weWjrli348mnLMa2mCtNqq/GlY4/JaF+/7oMPcOYpJ6OxwoXD58zGTTdcj2BwYjfnqy+/hO9c+T2cd/75mD5jJg5fsAAXX/ZtXHP9DQCSnpkP3nsXj65+MO2d2bd3DwRBwDX//T0sXLgQjZUuHL3gcDzy4APp/d59x8/x5z/9Ea+89GL6c++/+86YkAoAfPDeuzjl+ONQ73Jg3szpuP2WnyCROFheeM7yU3HTDdfjpz++GbMa6zF3xjTcfcfPs843pTAsPIujG9zYPpSbe1xr5HsTNbJM0U/YlOyYOQbTnGb0hWJoGwyku6H2h2OaUONNFDEEOdLi273yt6mnzdskgvnf/4Vz5XUTvk9YFsyIJ2/CsrB/7fwJtw/9+l5Er1ox7nsCIXlLiwcCATzzl6cxa/ZsVFZVpV+3Oxx48LH/xbSmJmzduhXXXPXfcNjtuPbGHwAArvz2pViwcBF+df/94DgOrZu3wGBIut7ad+/C1889Bz/+6c/wwKOPor+vH//vhpX40fUrsfqx3407jtq6Orz373/j8iu/h+qamjHv3/WrX2NnWxvmzT8MN9/6UwBAdU0NRFFEY1MTfv/736OivhEb1q3D9Vdfhbr6Bnzla1/D1Suvx47PP4ff78ODjyaPXVFZie6uzoz9d3Z04L/OOxffvPhiPPT442jbvh0rV1wFk9mMm265Nb3dn5/6E6669jq88e572Lh+PVZc8V0sWboUXzplWV7zTslOOCHiP91eRZroyUG+HheWARbUurBjMABPlOpoyEVEIBldhVv7/GiusMJt1r+GhoFncWSNAzuHQhiUqLpEieZt1OCQCPLd7yKyfTvMDz8EwjBpb0YKZpQi6Oi/AaQ/F/n+VYh+5/IJj5Wruuhr/3wFU6srAQDBYBD19Q3487PPZUjY/uCmmwEkW7Q3TJuGFdetxHN//1va4Diwfz+uuf4GHHLoXADA7DnN6c/+5n/+B1+74AJ8/5pr0+/d/at7cfbyZfj1/Q/AbB6rgnjHPf+Dy751AebOmIa5hx2Go485BmecfQ5OPe10AIDT5YLRaITFYkVdfX36cxzH4eZbb0u3p58+cyY2rl+HNf/4O77yta/BbrfDYrEgFo1mfG40//fYo2iaMgW//M1vwTAMDjl0Lrq7unD7LT/Bj378k/TczD+8Bf/vJ7ekv9f/Pvww3n37bWpwyIRejY1CiAgEG7o8qLWWj2qqVmgbCqHJrnyvJamJJERs6PJimtMsmcGhRPM2anBIBGcxI3Dvb5A4+WRYv3s5EAyCSeT+9EI4DsRuR/Dx/0P8rLMlGdPxJ56IX9+fDDt4hjx4/LFH8Y3zvox/vfs+pk6fDgB49m9/w2MPrcae9t0IBgJIJBJwOJ3pfVx17XW47vv/jWeefgonfukUnHv+VzFz1mwAwKdbtuDTra34+1/+cvB7EAJRFLF3TzsOnTtvzJjmzpuHDz/+BJv+8x+sX/sh1r7/Pr51/lfxzYsvwf0PPzLp9/nfRx7GU08+gQMdHYiEw4jFYmhZsDCvOdnx+ec4askxGTHdJUuPRSAQQOeBA5gybRoAYH7L4Rmfq2uoR9+IUBSFUixeBXQPKGPpCERh4piSqC7p9kvXeI82b9MRoeEywPjZ58D38SdILDkm56AHAZBYeix8H38imbEBADarDbNmz8Gs2XPwhaOOwv0PP4JQMJiuCNmwbh2+9+1LcdoZp+PP/3gO/163Hjf8v5sQix2UUr7pllvx4X8+wamnn4F333kbS49YhJeefx4AEAgGcNnl38U76zek/727YSM+2vpp2igZD5Zl8YWjjsL3r7kWf/jrM1j9u//Fn37/BPbuaZ/wM/945hnc9uObcNFFF+EfL7yMd9ZvwLcuuQSx+Piyz8XC85lPnwwYEBX71kiJy8hL0vSLUhxREag002c+NbDwpSEOGJPQZlKieRs92yUio4FYUxMCr74O8z2/gPnOO8eEV0ZCGAaRn92OyI0/ADh5LwKGYcCwLMLhZHLQhnVrMW36dPzwph8jMbyY7t+3b8zn5jQfgjnNh+Cqa6/Ddy+5GE//8Umcfe65WLjoCGz/fBtmzZ5T1LhSnpBgMJn1bTAaIAqZbs8Naz/E0cccg+9+97sgJivAAHt2787YxmA0QBAnd5ceMncuXlzzHAghaS/H+rUfwu5woHHKlKK+h17wxhLwxhLgmeIS1yjFM7vCDpMvNGG/lGJxm3iaJzIO5TgnE13vs90W7FFoDNTDIRHs6LIrjkPskkty+mz029+RxdiIxqLo6e5GT3c3tn++Df/vhpUIBgI4/ayzAACz58zB/n378Pdn/oL23bvw6OoH8fILz6c/Hw6H8aOV1+H9d9/B/r17se7DD/HJxx+l8zmuu/EH2LBuHX608jq0bt6MXTvb8MqLL+BHkyTPXvrNC/DQ/b/FRxs2YP/evXj/3Xfww5XXYU5zMw459FAAwLTp0/Hxxo3Yt3cPBvr7IYoiZs2Zg0/+8x+8+eab2Nm2A3fe/jP8Z0S1TPJzM/Bp61a07diOgf7+jGqbFN+58nvoOHAA/+/6ldix/XO88uILuPuOn+Oqa69TxMLXEqmbj9VAKybUwsyzWDqlCufOqcVMlwVOo7T3gXJcWCljmemy4JzmepzXXIeWGgdmua1oqXHgvOY6HFbjzL4DiSivO6yMWMcRLTK8/HL2DxICw4svyDAi4M3XX8e8mdMxb+Z0nHrCF/HJRx/jiaf+jONPOBEAcMbZ5+D711yLH6xciROXHI0N69alk0iBZKLm4OAgvn/55Vi84HBcftGFWLb8NNx0620AgPktLXjx9X9h5842nLXsZJx0zBLc9fNVqG9snHBMJ596Kl575RV862tfxeIFh+Oq734XzYcein+8+HJaK+PqldeD5TgsPWIRmqc24cD+fbjsu1fg7C+fh+985zs49cQvYmhwAJdf+b2MfV/y7e9gziHNOOW4Y9E8tQnr13445viNTU3465rn8Z+PPsIJRy/Gjddeg4suvSzje5cbiRKIZeuVlNgSx3FYVOdCXAPlmpTSY+GwFgnLsmiutGNRnQvNlXbFH7IYooTah8bx+XxwuVzwer1wOjOtvUgkgvb2dsycOXPcqosUcUFEID7iaYIA9jOWg3/vvXRFCuF4MEIi/d/kaxwSJ56EwMuvSP/F8oBnGO1XChCkq1T0JBQai0ZwYO8+dBicSLAarEwQBHBtH0NoPlL2sJ5eqbcZ0Z1P2CPHOXWbeFSYDTi8yoatA0FFtBDkwmZgESxWs3wy6Hk6LtkSYOusRhxSZUe1xTiuAFo8Hscrr7yCM888My15kC+TraEjoR4OiRj9czODg+Dff/+gscGyEOYeCv+zz0E89JC0zDkjCODf+TeYoSGFR5yJiec0JbNLoWiJvIyNPPBEE2j3hvHi7n5dGxsA5DU2KBOSrdqmJxTDe/sH8eruXnT41T3HqMEhEaOXasPLL4ERBJDhRTz6/avg/2AtEmecCd8HaxH9/lUAhrU3BAGGl19SeMSZCCLRhMwuNXooemC224p5VXa1h0GRkZYaB86dU4uWGgcabCa1h5Mz44X3gaTA3vpOj6pGBzU4JIIfJVVsePYfAADicsH/7HMI/+rXgGn4pDWbEf7VrxH4x7MgLlfG9mohZzfXXGGgrd4CSlNsy26KcnQGImj36FOKXe8YFVq1Zrks4DgOzZV2HNNUkXNzQbUJZenUvKXXp0jflPHQxwzqgMSoZC/us88QP/54+D7ehMQZZ477mfiZZyW1N754ArhPP1VimBMyXodbpSn3tvG1BTxFVSvQ4ZEylnBCRIQm26rCgjqXIsfZPSLExTAMFtQqV80hJ+GEiP6wPCHCbFAdjhzJZhGOftf38SdgeAbEPHkHTNLYiOBrr4NM0vCs1GHBwGLg0loghZDyDWhyCUgPanwPhpljsLDOhb5QfjeBOW4rggr0PyhVjCwDQgjimjxpKKNpsBvRC8DAsTi6wYVN3V5Jha9G0x+KYbZbxEAkjkhChHm4yeCWPh8iWbwIWqdjWKG02qJsXxlqcGSBG86GjsVisFgmln4ds5TY7UB0/PbFDAATx4Fjkz1fo4KAuL0848EmjoWF58AwTIZ4Wv5o1+SIRsIQCYHAsJjmNKM3FMu8YQ3nrdjy7GWw2xOirdoLpKXGgXBcKLrFOEU5ugIxcADWHhgCy3OQu4K4KxjFmraejNdSRqre2e0JYbcnBAvPYn6lVbHjUoMjCzzPw2q1oq+vDwaDYcK6ZUII4rHEwS6uBGBiMRCw4z7YRgFYeB5xQUSClO+yYTYaEE2VCBOCWGyS/hJZ5lRzkKSx0d/XBy9rAseyGd0rU0SGk7mObsjPVVzMWcMxQLlGBCw8i3A8gZ0efVeFFIOJTUqr6xW15Eq00NZeSsIJER91eWVpdz8e1ODIAsMwaGhoQHt7O/bu3TvptuG4MOL5mgDxGGAwYqLVkYEWn8eVxcKz6dpwQgjCk7oqs8+p1hAJgZc1wWewZ/2xW/v84ADIHSRhmWTyVrkGY1pqHNjQ5VV7GLLRYDNOKpXeXGFFpcWI9Z0e5QZVhujt/q6E54YaHDlgNBrR3Nyc0dRsNIPhGNq6PQdfEERw3Z9CmD4f4Mo7GXIyaiwGLKx1gWEYvLuvH1FmkpNed3PKQGBYECa3sU5ubEmHSIrzjugVM8diptuKrkBU7aHIgoVnsaDWiSaHBa29XrQNjQ0XNdlNcJuNMA7nQbT2+RU778oNgon7l2iRgUgcDUZ5czqowZEjLMtOqjQqxEimiiQRQBIJCCwPsNpRxbPybNayKSXpigJd+73JCxP85HVTCs9po82EgUisJNpYU4CIIGLbQEDtYUjOLLcVTQ7zhEqSI+kIRNExbHBZeBYtNU7sGAzQnisyoRdjAwCiCqwLenhM1AXmEqnRVgstXpidwSg1Niiap8lhRo3VlDY2JvJujCacELGhywOjLryFFLkxKbCG0TNNIqqoHgJFRxj1kQJDyYGR9x5RFHMyNkbij1HvBkWZNYwaHBIxEJmkuoJC0Rj1jonDgxR9sb7Tg7bBAERRxK4CynzDCRE8NUA1QXOFciWqo8kWjpMCmsMhEXoXgqGUFzzLYkmjG1t6fQgL5VqvUhp0BaPoCkbR2ueH01jYLV2LIc1yo7nCipbaZGl8vl6qYnCZOCiV2UQNDomQKodDa0mdFO0z1WHGDLcVlSYe67s8OXU2tRk4NDksaLSb0e0PYUObAgOlyI6Phkd0S8rIUNLYAABvVFBMh4OGVCSi0iSN7RanxgYlT75Q50SN1QSO43BMY0VOn5ntTrpuGYaR7NylUCjFobSxMRJBAU8nNTgkYmSjn2JQIhOkwaaMfr6bLmSK8PlgEH2hKEQx2fehzjr571tnNWIgEgchBIQQbO3zKzRSCoWiVT7tlz+wQlcEidBLE60GmxFLp1Rh7YGBSdUIiyUVj3xrTx+t8c8BFoWLcW0fDGL7YO7N/3pCMfSEBmFkk0lisXhCMZcqRRmcRg6+mD7uSRRtEEzIf75Qg0Mi8m28pRZdwZjsxgZw0DVIjY3cEJFUgRQIySkHQwpKrS8E5SDTXVbMdluxrnNIsfOJom9svPxrGA2pSEQqJq4H5DY2UqgVjzRx+qzx6whE6eJAkYTZbitYls05p4dCmV8tf8dyanBIBMuyqtZQUw4yS0fGH4UiNc0V1nRXa3pfouQKx1EPh65oqXXRi1sDRAWCeVU2mOjZLTtGlknnglDUp9pigECAtsEAYrEYPjwwgJ5gFFadtF6gKE+dTTmVbJrDUULI3dp8psuChbVODETi6A1G80pUlAKHkUUuQZrdBagtUgqDZYAFtS6EEwJaabULgGRIz2HiMaTCsfvDcfSHk7VurX0qDICiK8wci6lOK/oVOh41eyUk16ZJciF3jvHCWidYlkWN1YTDqh2KP9n6Y1SjRGtEBIINXR5YeBYW+hQNIOlh6w/RZGmK9okIIj7q8ip2PHqHkIhCmibpiZFx4Vyh/RnygwPAKdDPQA5a+/xoqXHKfhy3iadhS4oq6DQXPWcIkb9qjRocElFI06QUWo+Dj9T4TyQS+PDAAF7b3Zu1rDJBgHlVdslk31OYuKQrsNQQAAgKXPRyEE6I2DEYQK3VKNtvYzewaK60o95uxhwJEoMNDKj+CCVnhBwvTRMLTHPqrzmiEg1IaQ6HRBQq/OU28fjS9GoAwGf9fsXzIkZi5lksqHEgnBARjAuwGbh0eR2AgkS8YoIIjFpEjUyyW6knEi9InCgqAIXLZCmDzcAiGNf2GKVGbs2VQFzExi4PgKSRbmAZxIvQEonr07ajaJyoCHQHImoPI2+iCrTVKL3HRJUoVPirwmwAwzBgGAa1NpPEo8qPSELEhi4vrAYOi+pcaK60F2VsAEnPT2TUo0GMAPt8EbjNymVHK025GRtKExNJUcYGhSInekw3MymQg0UNDokoVPjr8Cpb+v+10kRrS68vI56XSCRkeXrtDUYl3yeFQqFQ8qdKgQdAanBIRKECO1sHgunFXaoGcMUSToj4rN+PvlAUiUQCr++Rp2hqtOeDkhsOncjoUygU/cAokLCujUfqEqGl1oW+UCwvb0C7N4zuYBQLap2aagCXb0Mwyvg4jRziIkFYwvioPy6AAUDNNQpF2xTTlFEJLDyL+bV2fNKmzPGowSEhrb3egkIP4YSI9Z0eXWY2UyanymLEojoXdg4FJRXGosYGhaJ9tGpsHFppQ63NhGqLEYlEAp8odFwaUpEIKXQ4unz6y2ymTM78SisYhtFVcz8KhVLazKuyo8ZqUiSMMhJqcEhEMTocKeSvgqYozQddXoiiqEiNO4VCoeTCtoEA+kJRRcS+RkJDKhKhpfwLinYYiiSwpq0HdVaj2kPJG5eRhzdWfhLdHJO7yNN4jIyL19kM6Ilo1bFOkYtizyG5SeXoWXgW8yuV875Sg0MiCtXhoKiPEiJdPaGYrPsfTUuNA7PdVuzyhArOHdGrseE2cfBEC38AKHShmOowY4bbmhEX7wnGAQXaflO0hZaNjZGEE8leKkqdoTSkIhGzXBa1h0BB8unSnGfTg1LTj7LwLOZU2MCybFnmjhRjbBTDF+qc6bi40q5qCqVYaC8VHTEos6wzJTcW1DqxsM6V12fCCRFNdnVVXqVkQa0znQxGc0eUY+Q9gM47RW8occ5Sg0MiIgro0FMmxswxWNLoRpPDgiaHBUsa3Xm1SzfxXEFGh1oXEA+Mafhn4dn0HADJJxaq5lo4jXZTXo0HR94DlOhLoVfUuGYqzOpkD+gpd0uJc5bmcEiE1B1RKRNjN7AIjLo2IgLBPm8ovdg2OSxotJtz1r/YXUCVUb3NCBCgW+H8DABIAJjjtKDBYUYkIcLMs6i2GNOejQ5/GFt6fZIKjpUbnYEozByDaU4z9uVQsj7yHqBEXwq9wrEMWJFgpE/YyAKzK+ywG3mYeRaVJh5b+vxol0h9eSiijge60mKAJxJDVAeXIe2loiOqLca8nqgphROYIMGzKxjD2gMD6b8ZhknmMshUak5UMjZS7PSE0B2IYKrTklFT3+EPY32nR1Zjo1zSICMCwT5fJOuNkmeS94AUSvSl0CvxUcYGkGx2tm0gAJYBaqwmcFyygeRoL56eYAFsGwjqwtgAaC8VXcEwDBbUOifdxi1BczZev9efInQFYxCEg0mDoijKkhRaazHkXXmS7afjgLyNo7ahEETx4B2NEIItvb78dlIAWl4H5BhbtjUjQTKT7mjSaGGMbhypZ3RiZ6RRQgSMGhwSksodGB1eSbllKy3GohtvJQgwr8pGvSmT8Fp7Pz7p9kAQBGyRUE48RaWZz1ta3Gnksn5GQGEVMynROVEUsanHq0gYJa7hNUEkgJXLfn0Y2LF5MMXwcbc3LaYkVSig3AgnRPSHk4Z8fziGWKmVkKnM6AdWC8/iqIb8kuyLOr5iRyonRlnoKbfsZMxymjEQicMby17SZzcacPosB/rDMXT4IwXlH5QyEUFEuzeMdm8YBhkedwcLiAf7cvhdCyUYF9Da6y1aWr+UCAlJo8th5FBjNcEXjaM/nJmFHxeB7GZg7uz3R7DfH4GFZ2Evl5iTDKSSb5VMxJ/ltqLJYUaV2YCBSByRhIhOfwQdgdJqNzHDZR2T96VkLxVqcEhIKnZeCLt9ETTZzTkZHGaeBcMwqLEmqyqowTEx8TJ4QhpvMaUk8ccECGIEoQkWLznMwHBCRDgqlE2ei9SkPMRKJuI3Oczp+2mN1YTWXm/JGRtAMu+LYZKdzdWA+uUlQorYea4neOWIXBCarEqhxsbkTGRsULRJKnlRqcRby/CTfgopGnEqiSnP2//ovC8loSuVRPSHY4qVIG7p80MURfSFojjgj2AGVTmlqAAtBafIwS5PckGUoiFmLowUykskEvjXnj5FjisFTXYzpjjzVxNWam5HQ0MqEqFkvDGVnzCSVPJbqSZZWXgW9XYj9qk9EEqaRrsZg+EYPFRllyIhrX3+gvv/5IOFZ7Gg1pnW7nlrT5+uzmUGuXvFR6NWs1FqcEiE2k97KUNjXpUdMUG5pwMlmOmyYFGdC93+EDU4NITNwGFRXQ0SiQQ2dHvhjSQQFmj4gqJ9WmocmFNhS3s29GZsACgq3VmtZqPUJyoRWhH6afcESy7ZaeGwy7NSAh0TinTMcCST7Hiex9KmyuxCIxTNYsqz4aHeme22ZoRR9GZsFItaTR2pwSERWmnWFBFIQeGdaos2DKbRGBgG6zqHEIvFsFUBNysld97v9EAURRBCsHMoSGXUdUqT3YQpjvLKA0vdr0VRxFv7BrJsXVpUWwzY0udH22BA8eRRTRscgiDg1ltvxcyZM2GxWDB79mz8/Oc/H6Pod9ttt6GhoQEWiwXLli1DW1ub4mPVe/M2p8kgiRKq1MQJQXcwhpfaB7A3h34WFOUYiiSwpq0HL7Z1KxJzp0hPMg8gWlIh2FyIJES09nqxpq1nwlYJpUp/OI7dnhBa+/xY09aDz/rkVyZOoWmD45577sHDDz+MBx98ENu2bcM999yDX/7yl3jggQfS2/zyl7/E/fffj0ceeQTr16+HzWbDaaedhkhE2cVJ7RyOYvFF4ppwK+p7FsuTRGnmKZcF5frTdfrDuip9lZNdHuVUcbX3SDuCDz/8EOeeey7OOussAMCMGTPw5z//GRs2bACQ9G7cd999uOWWW3DuuecCAP7whz+grq4Oa9aswQUXXKDYWFN6GHp1K/drJCSkz9mjUCh6oiMQVXsImkOJ8IqmDY5jjz0Wjz32GHbs2IFDDjkEmzdvxvvvv497770XANDe3o7u7m4sW7Ys/RmXy4UlS5Zg7dq1Exoc0WgU0ejBE87nS7qU4vE44vHCF975lVZ81OVN/pFqICYUV35UZzOgJ6gNY0B1JJpTyijovKLKwmMgLKGHj86p9NA5lYfh+dw54MchNYX5mHNdNzVtcNx0003w+XyYO3cuOI6DIAi48847ceGFFwIAuru7AQB1dXUZn6urq0u/Nx533XUXbr/99jGvv/7667Bai8veHV1sxO3eVNT++sfZZ7lT7JxSxqec59UDea6zcp5TuaBzKg87N36AnQV+NhTKLTylaYPjmWeewVNPPYWnn34a8+fPx6ZNm7By5Uo0Njbi0ksvLXi/N998M2644Yb03z6fD1OnTsXy5cvhdE7eYj4XCCHoDYTx8Xv/RvWCo9ETLswin+224LAaJ7oCEbT2ehEtd8NeEMDt3gRh1iKAk88McxhZ+GNlFNxRaF71gJFLCkJ5o0X+/iUwp4dUWrHXG9LOfacE5lSTDM/rnMXH4ZCawnqspKIE2dC0wfHDH/4QN910Uzo00tLSgr179+Kuu+7CpZdeivr6egBAT08PGhoa0p/r6enBokWLJtyvyWSCyWQa87rBYIDBIE15aJ0jWePdExYKvjh2+WMIiT50BWMAOOrqSMFxst5w/AIK2r+ZZ/VdrSTzvOqBGIBYAtLNg07nlGcY7PBGkc99h0X+OVg8gLwDWTqdU60zp8pR8PqX6+c0XRQQCoXAsplD5Dgundwyc+ZM1NfX480330y/7/P5sH79eixdulTRsY5GqgScpLEhP7Pd5VWHLweHV9nVHoJkNNiM2TcqYfgS0sEq5CafIPnVrxRibMxxW8GyJTTRlKxo2uA455xzcOedd+Lll1/Gnj178Nxzz+Hee+/FV77yFQAAwzBYuXIl7rjjDrzwwgtobW3FJZdcgsbGRpx33nmqjZsQojuRKquBR3OFOupzpcKBQARLGt26L5F2GjkIBKi1GqBNOTj5SRD5xPCMLAODguusiORvKvcx8mGO2wqLgSvZ3k96ZHR/LjnQdEjlgQcewK233oqrrroKvb29aGxsxPe+9z3cdttt6W1+9KMfIRgM4sorr4TH48Hxxx+PV199FWazWZUxd/jD2NLrQzga11UEJBgXsKjOhfnVDryxp1+15j56JpSaszyfDrWGLybAF5Pn9y/kSVgt+sPyVIcRkKSstoLnSer3rDYbwLIMekPKeE7HgwewzxcuaWOjwsxjKKK+rlE+hBS452va4HA4HLjvvvtw3333TbgNwzBYtWoVVq1apdzAJqDDH8b6To/awyiIVDMflmVRazUqYu2WGizD6Pb3Vwq9GBtykhS2VGex7Y/E0WQfm7+mJAkAKGFjA4DujA0AsCrQ0E3fvl8NQQjBll7lJGKlZmQzn8OrbCqORL/oOmGUUjZ0BKJl16yNkp3pDvkNUWpwSER/OKZblVGXicMuTwiiKEIURWzs0a/hpCYR2pqdohPqbOp6OSjaY69ffvVVTYdU9ISen269UQGtff6ya8DFMiXv2aVQxoVnWTRXWGk/EUqass/h0BN6r0wodWa6LFhY68RAJI5IQkQgFse2gaCqY3IaOPhoci5FBRKiiN20+zJlBDSHQ0dUarC1O+UgC2ocYFkWNVYTpjjM2KOBpNgwNTYoKtEToMYGJROaw6EjdmtgAVMSo0yCPWaZktkGowmIooi2wQDWdQxpIt+GtuSjqEGFmUexyu2U0oPmcOiIctOtkKuGPiLIs98dAwH0qKg9QJEenkkKdFHyQ28lm24TD09UX2PWI0rkcFAPh0TYFIh/AYCV5ooURKkYG0oqVGqdxLAaKmVy5PJGKgU1NpSB5nDoiJE6FnIS0kAogKIecfpEn4GvwMWonFy7pazoqRYWnpUt/KsW0+zy90+iBodEsMNlZhSK3DiN5bRcTk6hIbhmKm5HKYIFtU4srCuslbtW2TYof4k0NTgkpKXWRY2OMoMDYFDYZW3mqXFbLIGYgMX1zpJ7Si0VLDwLtwYr/yw8i6MbXAjFBfSFYpjmNI9pcGgAdKnkGkxQHQ7d0VciuQKU3BAAiKNc1iYWcJkN6A3JU4eiVL5QKbPfH8F+fwQ6XBdKnmlOM3qDUU3mbsQSIjZ0eSfdJg4AMiW/y4mNpzkcuuKtPX2avEgo8jL61hIVIZuxAQAsSNEKkXp8AhsPI8sU1ZVZh+uCrskmkGhkGezzRWSrViuWUq5FnF9tl/0Y1OCQiEQiQY0NSga8DGt6ncWAXd7iRJt4BlhYWzrx51JeBEqJ5gorFtY6ZT9OaZjSudFgM0oWXmVZ+c0BanBIxIbuyd1sFHVQs4w4QYBqi3Rlm5VmA4wSuD0TBDDxLJY0umHReZk1rcDQB80VVrTUutDksIx73plYwG3iiv49K838GI+j3pnoGm2wGbF0SpVkuYMDEfmlCGkOh0QoIZpSDFMdZnyhzonBaAKRhAgzz6LKbMBAJI4OfwS7Pdpo4jTLbUWTw5weWyQhYlu/D4F47uXATiMHI8eiPxxXvYy4PxyHiWNQZzOBZ1n4InH0F3hhD0biGJTophBJiJjqtKDRbsaH+/rQn8dnm+xmxEURvTLkKzmNHKa7rJjlsuDzwSC2D6rb74ZSHFMdZhxZ78p4em5yJM+7/nAMkYSIXUMBDEYSiEaLv4caFHhKlwIWQK53polUke05VKs12U0w8VxO9/eoAvdKffw6OkAJ0ZRimOG2guM41FhNmOq0oMZqSvcWaXKY1R5emiaHOWNsbYOBvIwNAGljQytEBYJ9vgjC8UTBxobUpGLpDMOgypJf/X1HIAKRyPMcOd1lRXOlHRzHoZa2UNc9M9zWcV31DMOgxmrCAV8IgxIqn+pF4E+Kpb1tKITWXi9ae70T5nR1BKKI5lh9YlLA20kNDok4ul67MXELz6J6kkWl2mLUjGu9ynwwBFFoXoyWjI2RdAW1czMc2WxwhjN/g1OuOZ7lsqT/nzZE1DfZ7juCIGjqmtAjbUOhrAnkHYHceqQocb1pY5UpAXie12TdOAA4jDx2DgUhiuPb1QzDYIECyVy5sL7Tg7bBAERRLCgvxsrRUzoXRjYbHIppJxy4ocuLtsEABEHAlj6/2sOhFMGCWicYhkk3TdzU401f24QQrO/yqD1EyggGFSh60OYKqVNOnlGDV3f1qJ43MJreUAy9oRha+/zp5K3RNDksaK6IFV1uWSxdwSi6glG09vkL6gERErQ191plZLNBJWK3uTLy91cC2gBOHhpsRjQ5LOO6+1v7/HTeNYgS9wFqcEhIhz+sOWNjNKmLf7TR0eEP52Vs5JP0VCi5ZqwbWCDPNI+yZ6R4mBKxW60x02XBwuEn8E09XrSP8PhQiqcrGJtUl4gaG9qD5nDoCEIItvT61B5GTrQNhTLCK4WMXUvreykZG0aFRARG5kqMzJvRI9nEpEZj4VksqktWTjAMgwU1DplGVt5QXSJ9ocR9gBocEtEfjk1YvqRFNvf6IIoi+kJRfNbv19XYR2IosTPYqlBjtt3eMMhwpQnD5G/lNNm1UdlUbTbk3cwulVsAJBMXaS6Bvmiw0+qlFM0VVsmEvwq5D+QLDalIRERnC3a7N6wbN7KRZSYMr5SSdwNQ7qmwtc+PnUNBLKh1otacvA0c1eDCp4OhrMZnc4UVbrMRHYHiFE+lIJ8yYwvPYkGtE02OpHdn7YEBWiWhQ7oCUbAcpykvqxo02Izp0Hgglij4XK6zGfLS4SkGanBIRL5uXUruHFplx0ynGes6BjCg9mAUxmXk4Y3JY4SEEyLWd3pwVG2yh0KD3YypbntakMnMs6g08djtDSMYF2AzcJg9rKvQF8qt1E4L1NuMaK60o9piTD/FUWND35S7sQEk82Q6/OH0/xdKTzBeVD+ifKAGh0ToPQ6uZWa5LOA4Dkc3VOCfm9QejbLIZWyMZGvfwfydlCDTSJorxzZ10pNGRncwhmMaDRlhFL0aGyY22RyQQgGAzT1eQKJQyESyCVJCH8slQgkdei1hVrDbaKo+vNzmWCkiBZQM7JYgHCdl/Dkbu0ZIO+tZ32NRvVuxOStnGmz5qe+qRUQgkoXzlQixU4NDIvSWw1EMHJOUD1eK3mAUhBBN6UWUIv3hWDqRNAUhBH2hKPb7wugLRdPvB4vsHdRkN8FtNqLebsYct/wLaH8olk6SHghr27sx220dY9CbWGBelQ0igWJzVo6YWGBJoxtLp1SVnWGnRD8w/fhFNU455XAIBPApqE65fTCIfb4wptr0GbYysslFYp9P/STLyVh7YAgWUyCdWNnhD2NLry8jiTSVeGkrsndQRyCallzmJ3CWVVsMkkmodwWjWNPWI8m+5MbIMcNu8oPGX1QEtg0cbGRXTi3YC8HMMYgI+XvuoiKwzxtCk8OCgEThTAMAo4FFXCCa7m6sRD+w8lklZabaYixIGVMODBoZh5SEEyJ2DGqjo22+xERgny8CPfwsqUTS1l4v1nd6xlSspN43S+jhmiii0x+Ol90NimWShkU2j6l2ly31YYCCjI0UXcEYXmrrlizPJw4gGBexqM6pmTViPGaO0OaRi3K7nkueOW4LffrRKBp+uBlDNtXZrf1+RTLbyy2IpqdzRKtIMYVyeCK29Po0bSiO19VX8mPIfoQyoT8cU91dNttlgUDkuVjkRsEcVIoEhBMitNPyTVq0/BSqJhMlimtltlho+z4SEQjiGrw3z3bL79lIQXM4JEKqpNFaqxF1NhNmOs34pNeP/f7c4v4cA+zSiZDXaHgkyzEFor2LkaIfDACcFgMGCsj7cBo5AAx8sYQuDXYlaHRYcHiVDRu6vQjFBVgNHIgooiesDQlzEaCxpjwxsUCFxYg9Ch2PejgkQqqk0UOr7GiutIPneczIIxO9iJCl6iQATVr+FH0RBwoyNgDAYTTAp4DmiZ6xGTjwPI9jp1Rh2cxaMIBmjA1KYURF4KMur2LHowaHRFRbjLBIYHSMFBCjYmIUivyYWGhCpl3rjGz4p2fxNMr4jC6JlwNqcEgEwzBYUOssej/bBgJpvQMqdEUpd5QQYKrTSCM6rTM4os+PnsXTKOOjxHpDDQ4JaXJYir5Bbh8M4r39g3h1dy86c8zfoFD0zEQ6HM0VViydUgVrAZ7D2W5rVo+jhWexpNENXoHs/FJgZJ5ascJvFO2hhLAiTRqVkNZer2RuxnBCzJBjplBKkZYaB+ZU2EAIwS5PaEyTuLf29CFUwI2w0WHGglpnRiO6KrMBA5F4+u9UMzclFBaVZqbLgoW1TuzyhNAqkTdiZJ5ascJvFO1hUkC8khocEiGKYlbtAor0WHgWhJCihH70hpljERH0r1Bh4VnMqbCBYRgwDDOmSVwikYAnWlhSYpXZMG4jutF/A8BMp1myRVkrtFTbwbLJ+d05FBwj4JYvlmEDbeT+lei9QVGOCiNVGtUN1BuhDo12M2aWXV+J0jCuHEYeO4eCEEVxTM8WQRDw1r6Bgvc9EIknHwIGA9jU40XbYACJRCLj71R3zHaNS84XQmt/AIQQyXLLFtQ60912AWBIwdYGFGXYo8B1QD0cEkFjmuqQMvRSYk3loKGQ8uZkdtvQH72hGHpDMbT2+cEzE0ucF0LbYADvjQpvjvZitPb50Vxh1XVJ+US0e8PoDkbTfXGWNGJMX5xcaa6wosmRKQ5VTs0qywUlQovUwyERNKapLjEx2Rip1lo+pcQE2lZWzAcpjQ0A6M4xl6ptKARfiVaDpfredPjDaHJYcPqsWnxxaiWmOvKrymkbCqHDnxk+0XOzytlua8lcN1JCm7fpiFkKNL6hZMdboovHRJTi07nS9Jf4ObOl15cOr9RYTTii1lHwPlJIpTukBu2eEL1uxmGGU/7ycH2eMRpksMDkNoq0RMvQ00svYspkhBMi+sMHPT6F5KyM3odUuSFqUIa3iJxQIi+H3qskgsY0KWpBzzxKNqTQ0Bh9j0vmhrh16+mgZEJ1OHSEVDFNm4FFMK7uElJp5jG7wp6hXdDpj9BKHApFp0ihoTHePa7JYUGj3YydQ8GSKy3WA1ImWyuhw0FNU4moNElju6ltbADAYCSBRpsRNVYTWDZZf99Je01QKLpktIbG7ALLyCfq7cQwDOZU2LJ6Okx0tZEcKZOtpVrDJoOeAhKxu8REcEb2SugPx4oWDqJQtEq1pbQrm0ZraLAsi+aK/I2OyXpt5JLTMavClvcxKdlJSQIUixJ5iNTgkIhS0+HoDkTQNhiAIAjoDUbVHo5imFjArYClT9EGM51mBDUqYlVnLa4vk5ljMK/KBpEg3RAyRUutK2+j4/N+PwRh7FylRNtEAsyrssE8quY01bPGbixtw04t3GaDJPcsmsOhI0pNhyMsELT2+TURl031hdjR78P2NnmPFRWBKK04KjkqzDy+2FSBdl8k3a9lnzesSZXRCjOPE6dWYSASR09osOD9RASCbQPB9N8Wnk0LgQFApcUIsz+Sc8J7XziO53f2osFmxNIpVQCADn94jKCYmWcxr8oGu5HP6FnTFyqfBxclsRk4uEx8wW0AUtAcDh1RaFy0VJAzPruw1gmWZTGrzOeYUjgnTKkEz/NorrRjUZ0L+31heGPaNCxPmFKZzp2aqJNuIYwUAuvwh7G+01NQdV1XMIa1BwbS+xgdbo0kRGwbCIBlkr1rUuGc5PehiltSw4BI0sdrohwdKaEGB0USFtW70WArzgU8Hs0Vya6hADLi0BQKkLyB1WdRl22wGcFxBz2QxTSFk5uRYyWESK7ACgCbe7zY3Osrah9dwRg29Xgn3Wa0WFjy+yivuFXqIdLdXmm8dErcX6nBIRFql4waGMCgwq9p5hgc3eCGkWMxxWlFpTn/i3uip7jmCitaal1jXj+qwTUmI97IMjCoYI9QiWR1EQE0VzkmNHYrzQZMcVqTOQaiiL5QFO/sLzxMIScjQxWEkKKNgomICEQS3aBoFrnO0WJhatwjLTwLI8ei1mqEmaPL3WgsPIujGsbeY+WitE0/BVE7aZRhmOFGXso+QYgE2NTjLbhp2qGVNhxW7QAhBLs8oXR8fbb7oGdjNA12M6a67egPxxBJiDDzLKIJEVv6fIgrXE0jEGC2ywKrkUcwLiAhiugJRBEtgyZyWiGSEGE38sA4/VMGI3EMdnmK2r/dyCEgc2KpiWMwzZUMGY6XF6FXpBAcKwQDA8RJ0ugJJw6eF5VmHjzLojeUW6+dUoco7HGiBodEqJ00qlaX1GKPW2tLxngZhkFzpT3nz6X6QgDJG/SGIheVYtjlDaO5wooaqxHrO9UbR7nS6Q+jIyBfQqLcxgaQ9Bas7/SguSImSTxeK0ghOFYI8QluS4ORBBxquII1SkQg+KjLC6V+GTrzEjHdLn3+QjlQrNgMIQRbZHI950PbUEg2FzhlcuQ0NpSmlIwNIPP61kqDS78GxBW1iBLeDmpwSMRHveqXj+qR9V0eiKIIQRDwSbcH7+8fwCfdHiQSCfSFotjvC6fj76l4cH84lr44tCRKRvvpUCiZbOnzp3NnPh8MZv8ARTUmE3aTChpSkYhQiQl/KUV3MIY1bT1jXm8fT7lVEMABWHtgCBZTAAtqnaCpEhSKdmn3hse/limaQwnhL+rhkAhriQl/aZ2UpkAgJr9VTqFQKKUOFf7SEYvrJu8jQJGHdtrBVhPQFuUUir6pMMr/0EzvEhLhoYlIqhDJogVAUYYaqxFOBW5YFApFHvYoIPNPczgkgiYMUsqZfRrsSUKhKI2FZzWTxJ4vSuQhUoNDIswSuZSnOsyY4bai0sRjS5+fJlzJRKohHJBUQOwJRqkYEEVWzBxDPXIlzpwKG2a5LFjf5UH3OEJ0WkaJPEQaUpGIaotRkjj2F+qcqLGawHEcFtWNlfCmjMVYgLz4ghoHWJYFy7KYU2GDX6ONvCiTU8hvrxbU2Ch9Zrut4DgOxzRW5LS9nE0v82WmAjopGvq6+oZhGCyoLT5xdHBEUymp9lnq1DvMeX9m9wjPkVRaHlJ29syV5gormivKt4tuIb+9mtA8l9JlZKPJXDUtZlXYJn1fjoaYEzFRKwlJjyH7EcqIJocFSxrdRYVXOvwR9IWiaWErKfaZK3ptHc2zbHKO8uik1h9KiocJgoDP+6URbTOwDOwyyCab2PG/12yXBWaeg0CAaglbSzt0UOJtZIDF9U5FZMelhGUYzHFrQ3FTLfR6n5kMp4GDN5rAJ90exONx7Mmxes5uNGBJo3uMp8MAYJrTDIuBl/TaHo/ZCp6PNIdDDoqQiN3tCWG3JwQLz2JBrRNNDkvR+8wVBgQ8A1laYstJukcDwyDX5nVdwSie39ENKdO7wgJJdnOTmIkawe0aJ7+n2mKA02RINpELRrN29BxJlYXHQIzArwMRuxgBNnbrT0reE00gKog4usGFLb2+kg+zOI0cfKOMQjVa1E/ETIcJfZE4AgVUGVaaDYiLIvwxAb548h8wgWjhBJh5Ft2BCKKjDh+HMonYJhaosBixR/YjJaEeDgnp8IexvtMjyU0kJWzV2uvNa58GJtmqvRDiRH/GBpBMxlvf6cm7UkifueST0x+OIxxPYJ8vkrOxkXLKDIRpHosShBMiNnR5Mb9qcnd6KTDa2NAa7f4o6qyFhS0MLAN/Ed/PyDLo8kdU7Z8TFYGPuryKHY8aHBIhVxOxfE/GZJt6bVgN7iIbs+XCHLcVW/sDsh9HT3TpLDu+XPlsMAQrTQpXnV3eSN75V7OcZvRIUNW2U0PChbR5m47QShOxmEigBQ2yJrsJzZV2NNlNsh2j2mJAMC5oYt71jBbOl3IknBDhMhlgKNAjSZGOfDy7s91WDElQ1RbTWCMo2rxNR1Dhr0w6AtGC2obXWo2oshiweyg4Jq45mv5wafRRSV2ENKBRfnQFD14jJpYBywAsyyASF6HtYIT8VJh4DEW1dVVwTFK3R0sYmGTmWrHhcNq8TUcoUUVSDph5FtsGshsbpUQC1NigJJOD3WYDgtTYAADNGRuALDnhRcOxrCS5d7R5m46QSvir3OkJUIlspTGrISBCGReaf5M/WhLPUoOIIM3TGW3epiOoSFfxNNnNZeXZ0ArTnOUrHEbRPwTUYJYCJZq3ad7g6OjowEUXXYSqqipYLBa0tLTgo48+Sr9PCMFtt92GhoYGWCwWLFu2DG1tbaqMNSXSRT0d+dNcYUWjzlQjS4HmCivsRprKRdEvWku+1CtKNG/T9Mo4NDSE4447DgaDAf/85z/x2Wef4de//jUqKg7q1P/yl7/E/fffj0ceeQTr16+HzWbDaaedhkhEHdd8k8OC02fVYrqztBfPColKXme6LDivuQ4ttS6aB6MCbUMhBGKlkXxLoVAKR4nmbZp+tLnnnnswdepUPPHEE+nXZs6cmf5/Qgjuu+8+3HLLLTj33HMBAH/4wx9QV1eHNWvW4IILLlB8zEAyvHJYlQ0HVDm6MgQlanaWaqIGAJUK6HZQxpKrDLMWMSCpyliumFjQMKRO0dq5O0OBh2RN3+FfeOEFnHbaafj617+Od955B01NTbjqqqtwxRVXAADa29vR3d2NZcuWpT/jcrmwZMkSrF27dkKDIxqNIho9WI7m8yUFu+LxOOLx4k8BQgi29g6rtwmlmW8uVWrbpq4htNQ6wTAMdg0FJ5+v1HslOqdqERMEcIAu53VmpRU7BjVoMCl0rtbYTDjgy7/8XJdINKcWnkFYA5LKLiuP/pAGKnGG57M/FEUdV5iXI9d1U9MGx+7du/Hwww/jhhtuwI9//GNs3LgR1157LYxGIy699FJ0d3cDAOrq6jI+V1dXl35vPO666y7cfvvtY15//fXXYbVKm0DH7d4k6f5KjQPD/1LkcrrTOZUHPc7rLuR2zqiF3HPaBW1/fzkodk5j0MacDUEb40jx8Xv/LvizoVBuRj9DlNAzLRCj0YijjjoKH374Yfq1a6+9Fhs3bsTatWvx4Ycf4rjjjkNnZycaGhrS23zjG98AwzD461//Ou5+x/NwTJ06Ff39/XA6C6806QpEDurSCwK43ZsgzFoEFGg1lhtTnFme1lSe0+lOM+ZX27HHF0FXIIKhiAaeTqRAx+fqIRr2cMgxpzNdFhg4RpvfWW50fJ5qmuF5PfKLJ6HOUdgDt8/nQ3V1Nbxe76RrqKY9HA0NDTjssMMyXps3bx7+8Y9/AADq6+sBAD09PRkGR09PDxYtWjThfk0mE0ymsZLbBoMBBkNhrYAJIfh0MDT2QuA4enHkSH9EyG2uVJrTIxorwbIs5prNOKRaxJq2HsXHIAdGFkmhKR2eq/sCMZhNBu0q/Uo8p13heLIrss5+J0nR4XmqB6qtpoLXv1w/p+mygOOOOw7bt2/PeG3Hjh2YPn06gGQCaX19Pd588830+z6fD+vXr8fSpUsVHatWeqnomYhAZO29UgzNFdZ0cisAsCyL5orS0K+Y4dbv94gIBDNd+h1/vkQEol3jiqJryl6H4/rrr8e6devwi1/8Ajt37sTTTz+Nxx57DCtWrACQrAZZuXIl7rjjDrzwwgtobW3FJZdcgsbGRpx33nmKjrXYm4ASP4SFZ+FUQE2uGBodFlkWcmMRDbKaK6xoqXUBSHqy+kJR7PeFUW83Y46OF2sLz2JxvRNBBerv5aTDH0at1QBjAReRpm+AFM1hZJms9xILz6JRow9Ok6GEDoemQyqLFy/Gc889h5tvvhmrVq3CzJkzcd999+HCCy9Mb/OjH/0IwWAQV155JTweD44//ni8+uqrMJuV1cEoRkOCZwCWYTIEbEwcgzqbCTzLoi8Ygb+Alp4mjsEstw12Iw8zz6LaYsSmHi98sXDBY5UbM8+i0mKEyRuStNwvJhIYWcBtNiAmEHhy6NMw02XBwlpn2rPR4Q9jS68vw5OlV1XwlhoHwnEBG7t9yRiu2gMqAl9MgC+WvFlWmnnMrrDDzLOoMhswEIkjkhDR6Q+P20yQ+goouVJvM2JpUyWApEc7khARiCWw2xNEdESTlXBCRLiAxpVqU/Y6HABw9tln4+yzz57wfYZhsGrVKqxatUrBUY2l2mKEkWUKUr1LEACjcnejAsE+XwRuE1+QsZHax7aBAJY0ulFjTVrcC2ocaPcWb3CYOVYyDf8UPANEEwI2pBJvJSYmAr2hOI5ucGFTj2/S38rIMlhU5wLDJC2KDn8Y6zs9Y7bTQHUdjAwQy2McRpZBOC5gp471NyZiMJKAyRfC0ilVAIAaqwmtvd6COhdTKCNZ0uBO3w9qrCZ0+MPYNhBQeVTSMdNlkf0Y1KOocXJ5Es/Gll4fUsVILMuiiOhCmoV1TrglFupKEGBzjzzGxkha+/wgyH2FJoRgS69PxhEVToPNiCMa3Hl9RiREN8ZGg82Y92e6gjEIw9oCoiiibUgf3xXQr8esEOa4LeAZfX5hLd8TCmVkjppsx5D9CGVCfzimWU3/cELEzqEgBEHAph4vihmmhWexpNGNJocFJ8+okdzoUEI1MZwQkc1pFBMJ3mjvRSwWw86hoCYTguutRsyptEMkwLwqW85dM7XglcmF5gorlk6pwpJGN0xcfgvT+i4PBEHAus4hmUYnD4nh39Kc5/fVG80VVjQ4LEhoV5VhDFv6/ACSxoZW7wmFMNstv2cjheZDKnpB65njrX1+tA5fMLkwy22FiWPHxCdHy7bUWI3jemFMHJPxOT0SiIt4qX1A7WGMC88Ag5E43ts/qPZQZMHEApWWpHdjMBzL+1zqDsbw/M5eOYYmOzGBJEtf8/DCaZUKMz+hXo3W75mjCcaFcfO49Eit1Yg6mwmz3VYIgoA9Ch2XGhwSUWqNx0wcM258MiIQrO/0YEljciGYyF2td2ND64yX91NKREVgfacHDbYQuoJSCenrg106CXflwkTGRttQCE12vVVHkXHzuPTIoVX2dF6foGBLA2pwSES1xQgLz+re8gWSYZP2LDe9zT1eRHRqVFh4FoQQ3Y6/nCg3Y6Oc0Fsir7dElIUtwxWLalBaj+UqwjAMFtQWLouuJWqsxqyLsZ4X6wW1Tiysc6k9DAqFoiOiGs3Ry5cZLgsO+CPoC0XHhMjlhno4JKTJYdG1CzglaLNPAcU5NbDwLBbUOtHkSCZJLWlEScRjKfonKRZlLiqcIsU+KKVL6v6+bSCYfs3Cs5hfqZx4ITU4JKS116tbY6PWakBvKLcWw3qkpcaBORW2dB09kDQQG+1mvNHei0CBWicUSjFMdZgxw21FtcWI/nCsIGNBin1QpKdQXSY5MHPMuF7pcELER11exYT/aEhFIvRW7z+aoRI2NgBgttuaYWykYBgGX5paqcKIKBTgyHoXaqwmMAyTzgPLly/UOdP7qJS4TH0yjKVduVs0WjE2AEDMYSxKhFeowSERen+qKG1zA9jc64Moju/FMBgMsJZYlRFF+1RbDNjS50fbYACJRAI7h4JwGvM3GN7ZP4hPuj1IJBJprQglqHco2z6CUji5KBEPRORfBWhIRSL03gBLagwsg7iGLPx2bxjt3nBGI7aRnD67Di+1dWvqqaQUcBl5eGOlkd0vNf3hOPrDyZt8Pho5o/FEE/BEE5K0LMiHfb4IWNB+NKVCVIFcNvpYJxE2iRrf6LHLYAoLx6ClxoHzmutQZTGoPZxxaRsKobV3rHx6hz9MjQ0ZoMZGaUONjdLBpICXlxocEjFLgsY3Zo7BoAJurfGQIh57yrRKNFfawbIsFtdpt0S4bSiUEV4pxb4IFAql9ChU8t7MZV/qq8zyPyRSg0MiBiVosjbTbVVN7nd2pa3ofewNHKzQ8Wi86mNkzk1/OEZLYykUiuZZWOdCc0X+Zay1OTRBHC+pXmqowSERxRgKZo7B0Q2uopqqFYtIgKMbXAVlyafY6w2lE+D2aDyJNpVzIwgCPu9XLtFOaQz0Ci8aG51ESoEUcz8diZljMK/KBpEA9XYz5rjzMzoCMQGL611jPCRmjsFRDcqJINKkUYkoppeKSIBNPT5Vcwi2DwZh4Vm01DgRTggFJbH5YkLeTeLUwmbgsPbAgG51U3JF446mSXEaOPgUSsY+tNKGQCwxrtx2UM+TSFGVepsJC2ud2OUJoT8UQ1cwfzn3WqsBvpiQIdjF5+mMGIzEMdjtHfs5BbwaI6Gmu0QUWkMPJOu1izE2cm1Lno1wQsSGLg8sPAde4RNRaXqDkZI3NvSOUsaGhWchiER3vT0o2mdBjQMsy6K50o5jmirSap/50BuKj/GgJwpcLkZ/LjIs/KUU1OCQCLV6qfAMJO8L0trnQ6KEO5HOdlnQk6fQWb5PFBT9cHi1HTs1HgKk6A+WAVi2uCVWyfsOFf7SGU0OC5Y0uiWL2+VCggAmnsOSRjdMBWYwj6aUEyibK6x5lfKZ2GQMv9AnCop2sfAsljS6dd2IkKIs+Xh+RQLsHAqmF/L+cCwvT3aT3aTofYcKf+mQVH+OD/f1oV+hY0YSIjyRGKL0xgkAmOW2IpoQJnSR5yPSFhWB6AQKpWpCBZfyx8QCsypssBsNMA+36GYYBpt6lHMpS4WJY9BS7cBAJD58PhMMheOI6/QWYABgM/HwSFDtByRzcuZV2bFtIIDtg8HsH8gRhiEwMLmLGrb2+bFzKIgFtc68igJMLGDmlepwkoQKf+kUhmFQZclehiQVnf6wrvu4SM1kxkbbUAiRhP5VYamxkT9RMdkpk2WQ7j0CSCfapyRRgeCjHh9qbSbMdFvRG9KvsQEkWytIZWwAQK3NBJZlUWuTVkgxLiJvBeVwQsT6Tg8CeYjgRUXl22VQ4S8dM82unMFBk90yyTYfvpj+DY5i0aYOrDJs6fVlxKulEO1Tiy29PmzWoYdGblJN7JQQs8qV3UMBtYcwKUo0/qMGhwyIooh13fQmQNEuNpP+nuqlIpwQ07F1URQVbXgmNeGESHNQxmG3NwxRFLFZQwrCUY27JaUQr8wGzeGQmNZebzK8IQjI9ZbOAKC3DIqSeKJJL0+55oK09vmxrd9Pk4FLlH3esC70gLQEzeHQGWljIw84hhobFPUQAdiN5XkboMZG6UKbBuYPzeHQEaIoFpS4Sb2hFLUJxNTzceTSVIpSOkhVuk+Rngqj/GFWerVLRCEZxYWozlEopYQzS6Kae8T79vZdOPO4BbC375J7WBSZmJVnD5DxcNDeNrKwxxeR/Rj0l5OIfLQdAMDKs0X1X9EL1KiiTEZvKDapmuLIUsmpLz0H80A/pry8Rv6BUWTBbjQULY7on6S3TZlGByUhpEArAfrzSES+tfyhhIiEmu1hFULNhnQUfZBrLsWUV17I+C9Ff5h5Fk0OC06fVYuZMpQjqxgd1D1WBfRoqMEhEbMLcBWGSlhCnEKREvvunXC07wQAOHe30bCKDrEMq7sCSXHEhSr0nqJMzAynWfZjUINDIliWRXNF8fFJSv44dKgUScmPptdfgTjcCIuwLBpff0XlEVHyZUGtM63uCqh3z3TS+8W4DCkgiEgNDglpqXVRo0MFamwmNNiUU3YtVaqtPIwaTblp+ufzYFLqoKKIKf98XrZjWWglhaRYeBbzquwQCdAXiqYF19oGAxAIUG2RXg3UOUHFRXOFFWYNGhwmNpnXpyZK6HBQ4S+JqbQYYfKFEaXq2YphM3CosRoxFEkgItAwVaH0hxIAx8HCs4p3DGajEbg/bcV4qjRGjwfu7dvSfzMA3J9/hvq3XkfM7R5nbww881sgmgpzEYdprbqkhBMitg0clPXmGfk1UNxmA6IJIUPd08Qm789azJ2LigBUbhKphA4HNTgkpMMfxvpOj9rDKDssPFvW825gIGnjLqWNDQCY8cxTWHTnrRO+TxgWDBEz/j72qssm3H7TT36O3RdfLuUQSxYTq6zsthKCa/vGKfGMisD6Tg+OqnOi3RuWfxA6Q4m+MzmbNJ2dnXKOQ/cQQrAlT91+ngHcCoit6JlsJygH6LoXhhSQEogA7PnGhdh50XcAAARjv9BIY2O8v0d+budF38Geb1wowyhLk4V1LvBMCZxEw0xWZg0Anw4EUG+lIVg1yNngmD9/Pp5++mk5x6Jr+sOxvJ8MEwRoqXNliBtRkpg5BvOqbFn7fAgAImVe7VMKX180mbHlljuw9qEnEHc4IHL5GeIixyHucODDh36PLbfcUXA4pZyw8CyOrHWgbSiIBNFemKEQqi2GrB6UcEJEc5Wd5n2NYiASl/0YORscd955J773ve/h61//OgYHB+Ucky4pdNGLJETUUGt7LAyDmE5j6aZhY2lxgxvzqmxUzjkPuk4+Df966W0MHHFUzj2GCICBIxbjXy+9je6Tl8s5PFWpNhtQW8S9Inle2rG4wY0vTq2EiWXxca8fQxF99x1xGjlMc5ph4hj0h3NbNCMJEUunVOHcObW0ym0YTTVvu+qqq7BlyxYMDAzgsMMOw4svvijnuHRHoaqhnf5wQT1YSp1IQixILl4LRAWCbQNBeCIxbBsIIqpTw0ktInUNeO/Jv+OzlTeBZHH1E4bBZytvwntP/g2RugaFRqgO/ZE4DGzhiX3J8zIAlgFae33wlEiDM7fZgH2+SF7XWep+zXEcZkggt14KaC5pdObMmXjrrbfw4IMP4qtf/SrmzZsHns/cxX/+8x9JB6gXqi3GgrL7OwJRmUZEURtqSBYBx2HP17+Fw357T9ZN279xIZBnCEavdAQiRSd5bur2KJokKjfdgfx6gIwUIAOSoo20lb0ySaN5Jw/s3bsXzz77LCoqKnDuueeOMTjKFYZhsKDWWdbVEpTSQYnSxWw0/OvV7BsRgsZ/vVpWSaIuswG9ocLj7aVkbAD5y5k32s3oD8fSRsdAJI46qxE9oZgMo9MPjAKJw3lZC7/73e9w4403YtmyZfj0009RU1Mj17h0SZPDggZbCF3B8j5xKfpHbWMDAJpefRGEYdKCXyLHgRWE9H+BpOpo06svlJXB0RuKp5si0l5F+bPLE8IuT4jOIZLenvm1dnzSpszxcjY4Tj/9dGzYsAEPPvggLrnkEjnHpFtae73U2CghWmocmO22YiASR6c/otucEj1i8AyhZv2HYIfFkAjDwD+rGZ/e+GPM//WdcO7cAYYQsKKImnUfwuD1IO5yqztoBUktktOc5nE1JyjZKRVDY6rDjBluK6rMBuzyhHIKDx1aaUOtzYRqixGJRAKfKDBOII+kUUEQsGXLFmpsTIAoijRmX2LMdlvBssl4b2eecWJKcTS89TpYUUgnje66+HK8/Y9/ovukZXj77//ErmFRL8IwYEUBDW+9ruZwVaOvgDCAiTa0KCmOrHehxmoCy7I5NxGdV2VHjdWkSBhlJDmfem+88QamTJki51h0DX36LT029/qQSCSwqcerivpmOdP06ksAgLjDiQ8f+QO2/HgVRKMJwLBmx49X4cOHn0Tc4czYvtwo5Lyc4rTCbpj81k8rufVBk92EjkAUfaEoBEHA5hzFJ5XQ3BgPmvEpEcE4bZ5SarR7w1QCeQRKJpI6d36OvqOPxcZfrUaktm7cbbq/dCr+9eLbWPzDFXC2fa7MwEqA1MMRg/E61yTJp5JbCwnGemKyec8HFskqx0IqHdUSS6QGh0TYqHhMOi6YTyyRoh+UXFT+9eK/IVitQBaXb6SuHu89+XdwIephzJfUz+k28QjFhUlzGlxGHt4JdDsSJOmijwn61c5RgjqrEXGRYFAi70IxJkOhulHFQqN5EjHLZVF7CGnUUracW2nLO5ZIUR+jBu8Cgs02rrEx7hMSwyS3pxREOJ7ImkA5kbGRYo83hA4/9QZORk8oJpmxUSxKaG6MhwZvNfpkMKod1b5ZKi32u0eEH9SKEVLyZ0GdS+0h5Eyjk/ZIkRopdDnCCRERqqirG9S6P1ODQyK01EDMbjRgSaNbcbdZKo9FFEXs0YFr1cAyMLDlmx1n4Vkc3eCCgUueJw328ft0VGiguaCZY7Ck0Q2+CGlvCoWSpMMfQV8oCqJw0z717yQlgloxsfEw8yy6AxHFjSCbgUNrr1c35cFxkZSVxW3iGMxy22A38jDzLKIJEa19PoSjcXAAugKxcSXCh7TgvRsOr9BcKQqleHZ7QtjtCSWFvyqV84iX0/1WVqotxrRynZoYWQZdKjWEC8XiujE2UmjHLyU/I5t3xQQRG7o8qpb7skDO10wkIWJ9pwdmjt6yKBSpCCdEfNTlVex41MNRguz0qJO8tctLxbH0wOYeb9bqDyUQAQh5qj1u7fdjjtuKnTKH7GipJ6XcUCK8Qh8XJKI/HNOEVK4WxkDRNhGBaCbnKF/1mnBCRIPDjOYKed3ACQLUWg1UlVOnOI009JYvSiSS0stJIrRyA6foi0qzAUc3uEoiVMABsBlYyH2rjyREVFqMshsDvaE4oiLQZDdjcYMblWbqEJYLM8eiyiJdqaYvpq4Qo12HBk9UgTWMXkESoaWkUYp+sBs5bFAwhionTQo1EgvE4tg2EJT9OCk6AhEMRWII0YcK2YgIIiLh0pnfgMoGTyGYFFjD6CopEdUWIywaMDq0MAZK7vQW0HxLq/Qo1OBu15ByxkYKamxQSp1KBcrf6eokEQzDYEGtU+1hoMZqVCV+WW020LjpKBps4+tapKgw8yUTimuym/MWkCrUNo6VxpTpGit9sCk5lBCvpGeNhDQ5LLIns2Vjny+iSvyyPxJXPW6qFSw8iyWNbiydUjWp0TEU0YC+hQS4TTwaHfkrgJaIrVWWUI9P6UFzOHRGh0r6FxRtkGpeV20xgmEYdPjD6AqWTshkIjzRBDr9tCQ6G24TD48WRNQolHFQIoeDGhwSQQjBll6f2sOgqISFZ3FYtQPMsL5FuZ0PHQrlbwBJxdSoDvt2RBLUAygHZp5VPDRpAFBq3aIqFAiJ05CKRPSHY6qqNlLUZUGtM8PY2DkUpOeDDBhZwMLrM1dIiuZmdVYjKlXq9KlVZrqUD2NXWKX5DbRUDr9HgQoz6uGQiFJJ/qPkh4VnsaDWiSaHBUAyrLal10eNDZmIiUBsOCzBAJhsCbfwLBrtZuzSQSPBXOkZrmpiUV6y/JNhN/JorrAqFs7mmaRGixREBO38iqG4/B44anBIBNXh0DZmjsGp06vgiYuIJERs6/cjUMQFNtttRaPDnM7XAJLGxvpOj0QjpmSDALAbWMyrdsLMs6gyGzAQiSOSEGHmWVRbjOgPx3RncLTUODDLZcFubxg9wei4pdOpZcpt4uCJlneoJqBwD6dSlby3KtAYkRocEqFE/ItSOKfNrAHHcagxAIlEAhuLtOY7A5ExYZRyytnQCoG4iAarATyfvJXVWE0Z76f0cfTkcZrpNIPjOMypsGFnFs0RPeaySM1unRmUWmWGM/9Ks3yhj+US0dofUHsIkqKl2GKxNNiM4Ea0Xd/QXbyyZzghoj988MmT5vCox2S/p1b0cfIhdS/J5Zyi5xw1uqRiSAFZA+rhkIigAvEvJWl0mDEYjum+jK/BZsTSKVUAkl6I/nAMXomaFKXydggh6A1GJdmnXJg4BgzDlGSuUSr2nPp9UyGVCiOH1v4AgnEBtVYDvJEEojpobjgUiUMQBOyhT+4UBaE6HDrCpkD8S0lsBg7hOAtPAeuoAcksbqkSqwrFxDGYNpzBLkcyp5lndZMkmnwKJGiymxCIJeAtIZE2q4HTze+QC55oAs/v7FV7GJQyg/ZS0RELahxqD0FSeoPRgkWr4khmcat9ckUFgvWdHrT2erG+0yPpYmRkGUQTouT7lZuOQFSzXU+NLFPQ56bYTbr7HaTCwrMwqH2h5YGhsJ+YUgQccitqqFKg3FpHp6q24Tgua+8MvTDLaU6X3xWDVm7/cmSwE0KwpU+fSaLtPu2Gf+a489NUYABsVSB/yq1AY6tCaKlxgIF+VnEdRLRKDgFAS3X2B+JUArycUINDQrL1ztADc9wWhDRUG65V4kRa7RU+z2u9tAJ4SWIiQYPDnFc/IgJpBLUmo8luQnOlHU12+bP4c8XCs1hc70JfKIZYEav46AXAxAK1EolajUfpBPL0RUQQsaTRPaabuIVncVSDS7FxaNNs1zFLp1RBEARs6hrCAQDTnWYsrHdjY7cPXSokFlaaecyusKPTH0ZHYOzxqy0GOE0G2AwcLDyL1j5/Wbqm1cTMs1hQ48R+Xzjnc8TAsziyxoGuQBT7S6iPiVpJrbPcVpg4BrsGg4iNWr87AtH0tWNigTq7GR4VmxU22EywGThszLPaysgCbrMBAAObgUOVmcfWgWDGnEdF6USt9I7bxOOkaVUYiMSxfSAwrh5KrjiNHOKCiLBKFTXBuIDmSjsa7eaMxOpqixGJRAKfKDQO6uGQAY7jsKAuaTUuqHOB53lUW9XxfAxGEvi0zzeusQEA/eE4OCaZeLehy0uNDRWIJERs6PLAwOXu5kh+xgu7sbSeGTr9EVUaIJo4BtsGxhobo4mKyY7MbhXlxeOiiJ0FVLDEho2JmW4ram0mfNTjL8mqJamoMBvAsixqrCbU2UzZPzAJvpgAm4rXaqqogWEY1FhNmOq0oMZqUiSMMhJqcCjELJdFtWNnayXdNhTCZpVEq0wFJgqWIn0FPEHt8ZZW6aSSTeBSWHgW7Xku4D0qjDNFf7g4D8SWXh829xSvRVPqjCwEmJ1nbtF4FPu7FYOa689IqMEhAyk9ACAp3iOKInZ7wyqPanLUetJx0UZUacIJEU32/J6kCvVISX3haym/IV9muKx554FEdewYCCdE2fNe9I7bxGMwmoAgCGgbDGBLnx/VEtyrnCopUg9qRE9JVwbH3XffDYZhsHLlyvRrkUgEK1asQFVVFex2O84//3z09PSoNsYOfxiv7u7F2gNDAIC1B4awpq0HrX1+1cakZXpDMR3l2MtPo8OiSOKxCEg2780Vyb4yeqS5wlpyYSklMbJMweXMclJrNY5JkMwHTzSB9/YP4vmdvWjt82O3J4R+CQQDfTEh7wRxKdBK6Ew3V9rGjRvx6KOPYsGCBRmvX3/99Xj55Zfxt7/9DS6XC1dffTW++tWv4oMPPlB8jLR5V2HQZ62DBGLxgvVP8qXYea+3GXFMYwVYlkVfSLultpPRNhTCvCr1nrsOrbSh1mZCldmAXZ6Qrh5MZrosWDScq7ZzKKipsdfZTDhuSiX6wzHsGAhIUuYvFanmb7UKiiNqpbmoNkaRhUAggAsvvBC/+93vUFFRkX7d6/Xi8ccfx7333ouTTz4ZRx55JJ544gl8+OGHWLdunaJjpM27tIFJF2f0xOipEVXK2ACASo3qVOTCHm8I5jwSdqVkXpUdNVYTWJaVJE9ASVqq7WCYpGS+1sY+02kGwzCoMhs0ZWyMxB8TFDvvlBD1ygVd3CVWrFiBs846C8uWLcMdd9yRfv3jjz9GPB7HsmXL0q/NnTsX06ZNw9q1a3HMMceMu79oNIpo9OATmc+XNBTi8Tji8cIszv5wDOHoiM8KQuZ/KcWTw5w6TDyiIW3EKwtBlU7jBZyrTiOHHf0+zHRZwDAMWnt9uj3Xw4KQVOuU0uuc45x+2uNB9bCHYyAS19Ucbu72oGW4Y3J/OCb/2PM4T3cOBjDDacaHnUOandOwIMBl4hBRYHw9gTCqLeOHalNrXqFrXz6f1bzB8Ze//AX/+c9/sHHjxjHvdXd3w2g0wu12Z7xeV1eH7u7uCfd511134fbbbx/z+uuvvw6rtXBLfbx0IG73poL3RxmfyeZ0CKUpiqUE+ZyrQQDbh/+lPy/xeJREhDzjzzanu4f/pbeXYQxycWD4Xwqlxp7Lebq97eC5qeU5DUCZ8W1oy77NG2+8UfD+Q6HcPLOaNjj279+P6667Dm+88QbMZumS0m6++WbccMMN6b99Ph+mTp2K5cuXw+ksrJV1fziWThQFAAgCuN2bIMxaBHBaPuV1xARzWmXmMRDRr1dDdei5KglWA4NQfDhAX2ZzekilFTsGpQ8H1lgNmFNpR5XZgEQigTfeeKNs5lRKlk6pmNTD8cYbb+DUU0+FwVBY6CUVJciGpg2Ojz/+GL29vfjCF76Qfk0QBLz77rt48MEH8dprryEWi8Hj8WR4OXp6elBfXz/hfk0mE0ymseWHBoOh4AmvZdnxLwKOoxeH1Iya04E4yWuOTay+yxplg56rBWPh2aTezejpK5M53ReIyfI9+6IijrNbwLLsQZGqMplTKakbnsPJKGb9y/Vzmk6xO+WUU9Da2opNmzal/x111FG48MIL0/9vMBjw5ptvpj+zfft27Nu3D0uXLlV0rFrX2aAcZFaFTe0hFIVWu72WM44yL62VU9dj16hE6tlubYhYZSOfnkByMyBBSa8UaPoqcTgcOPzwwzNes9lsqKqqSr9++eWX44YbbkBlZSWcTieuueYaLF26dMKEUbkIxrWZmKQEDDJLLI0MMNVlHXOjUBsTCyyqd+u+Y2WN1QQjy6K7yOz7lH5CtpYgTiMPX4yGrMbDwrNoqXFgx2BQ7aGULKPvrYfVOMHyoXEl8C0ci7DKzSdT95kmhwWVFiO29PpUbxnRG4ymQyqje6koiaYNjlz4zW9+A5Zlcf755yMajeK0007DQw89pPg4Ulr1cpJqtOaLxCURoZGK0et3jABDeY6PZeRvXR0VgcFwDPUqq2KaeRYzXVaIhGB7AQvV9sEgjCwDnjlY018IMZFgjtuKGguPDW3AIZU27AvEEBlxwzbzLNxmanBMRDgh4j/dPiSINq3YaotBVUltKRjv3lppMcLkCyM6wrNi4hg4TBzCIWUW90qzASwzVrI8dZ9pcljQ5LCkG6bt8YRUa7S4fTCYlu8f2V3YwrOYX6mcJ0Z3Bse///3vjL/NZjNWr16N1atXqzOgYWa7rbIL3/SH40iIBB6NyNROxmAkjnwqDQs1NvLNx2gbCoGQ5NN9MW29iyGSELFtIICjG1wFGw1SjX2nJwQiJJ9ydgwGx8TGIwkR+3yl041WDpQ2NkZ7FCejP5zfdVgoFp5FQhQRl+FAozU+ugIRfNQbGLNdVCCKdrqtMPHYNUEoPeV9aal1pRumVZkNqnZ2Hu+eEU6I+KjLq1glj6ZzOPQEwzCKSNYWYmyopTysxHPGglpX3p/Z6QlpQt10c4+3KA+FVOzyZM8/4hXuKkkZn1ozn/e5q8R12FLjACNDk4LmCuuYZMetfZNXRCi1qE1kbKRoGwpBFA/OPsuymsrrGA1RwHCmBodE9Idjmlg8RmLmGMyrsqmas2DmGMihcWfhWSxpdGe4//MhroFEDj1VyiQIybuxHKUwJupNUmnmQTRm+KWuQxPPSe4xbLKb4DYb0ReKQhTFdEPMSJYbrQjAoUCIOxd2eUIQBAGfdHvw/v4BJESimc6to1EisVR3IRWtopXmOCOJCASDKsdvpcxetxlYRJCsKa93WMEwDDbRNtuKYeY5WlKsADGRwMgAbosBqRZ7vmgCgxrTmjm00obDqh1gGAb7fdJX6XUEougIjOjRIwg5u/79Gkni3zUUyDnUbuYYVbv4RhVYw6iHQyK00hxnNFrtI1AIweEAcbXFmK7JVyJZl5JklydEjQ2FiBGgNxSHy8SjNxQr2JMnJ7U2U/o61Or9T21Cebi91TQ2AMCkwG9IzxKJ0EpznEIwc/o6DRKJg096WmsaRdE+Fp5VrVlbvoxX+qkFLKNKKvXcvI+SpMIo/8ObvlYaDaMVYZVCcOrsZrG2y4N4PI4PDwzgrb39sNKnK0oeOIw8am00H6UYDGwynCkMNx4rN+HDJrsZdVZlNSwmokIiIcA9ClSj6Wul0TBazOHIheYKK7w6KLMdiSci4MXd/WoPg6JTekeEGYvVMilXfDEBvlgY7d4wGmxGWAzltZR0BCZfnC08q5jY15BEuT0hBfJeyusskRG9xjDbhkKoteo3HDQaAwtZtAAopUmCANVmg6aE9LTCTJcFC2ocGIwmsKXHB+8E4m9dwRgcBn09tMhBrdWIOpsJs91WbO71oV1nXh+rAvlw+lwlNUi1xQiLTo2OQQXFcuSm1I0Nkz5PMU1DjY3xWVDjAMdxqDTxExobKfylfuHlgD+WwJwKG1iWxYIah9rDyZsZTvkVmOntSyIYhsGC2sJa26sNfTbRD1UWmntAUYYtfX4QQrBFZgXlUiGcELG2YxCCIIDjODTYtJHjkStD2ZoqSQA1OCSkyWHR3UlG0RedwWj2jSglQb3K95J2bxiv7u7FQLh0SuvlpjsYw/M7e7H2wACWTqmCW0cJ+UrocOhnNnRAa68XXUF6cVIolOLp1sC9JJwQoa9MBG3QFYzhrT19uuh7lYLqcOgIURQ1WzNPoVDkxaiSrIeWNHSUmgMF5CIkQU/GBqCMlpR2zlads8tDjQ09YdHQjZqif+od8ifcjYdWquMqzQZMdSkjwqc33SC9wCjQp0cbZ2sJENSIdn8pIefJGRZE1bro5opWhIUoE5NqXsaz8p2tk50HSj5Fu4zjL/QsgMFIXLGHrv5Q8jsr0Z27HJjtVq6ZHDUVJYL29JAeuVOYUs0t3SZek+7PUuqDU4q01Dgwp8IGhmFkFU3SynmwoM6JShOPLX3+4Qcsgt5QvODrdJrTDG8kkbXkdiISBHAaOPhkmvt6mxGL65zYOhDEUCSuyXuEFOzyhHNuilcs1MMhEVptOUzJTlQQddNbg6IdZrutaTd0qff0SfVO4TgOR9S7cdyUSviLLKPsDUYLNjZSyGVsAMCSBjcMBgOOqHfjS9OrdauzlCuEyC+5W9ozqCCDOrd+qy2lozaaL+GEiJklvmBQpGdk/ySWZdFcUbrn0IJaZ0aMvz8cK1q6W+3uqNkYeU/Xs85SrijRD4waHBIhZy+VCpP8xoCBZTFHwVie1ogKBPOq7JpJwitVZrutJfOk2BuMghCSrFAbDEAYlkmXAgvPasJrkspRaXJk3hv02jsqH/Z4QhAEAX2hKPb7wjByLI5ucOV0/toM+jvHqQ6HjpBzoRqKym95dgWjMLJM2Taz2j2c8GbmGNRaDegtIbl3LdHoMGNBrRP94Rg+7/ejL6zfed4+GMSuoeC414uFZ1Bo5kW9zYilTZXoD8dUr36byM1eDob5fn8E+/2ZTdosPIuWGidMPItIQkQglsDuoSCiYuY8BXUo9U51OHREtcUIo9bLHrIQE0lZGhsjiQikIGPDzDGq3ISNLKNYwlexpPIAGIZBjdWEY5sq1B5S0Ux0vYSLuJCWNLjBMExyrgreizREBIL1nR50+DPlv7R0vzMoOI5wQsSGLg9iw1Vu2wYCY4wNvUJ1OCgUnbCwzoWFKsR4CQj0UpA9Og9Ay/0m1FpLG2zJxEwAEAQBWlnKtvT6FEkqzBeeYQAVxrWl14fNPV7Fj6t3qMEhEf3hGGIqWrpGltHME0c5YeYYLK53IhQX0BeKYZrTrGhHVz14bs0cg3lVNogE6AtFIYpiOi4+p9KOequ2EparzQaocSlbeBYCAT7p9iAej+OtfQPKD2ICwgkRO4eC6d/us36/qve7FAlCEFdhGOGEqPmk13xRImmU5nBIhNpJVDGRYI7bigaH+WBs0RNEtMQuCq0RFwk2dvvGvF5h5jEU0XflkhRYeRYigG0DwQm3MbIMDCyDuAYWMEC9dvXhhIhwIpn50e7VXgeT1j4/Wmnn2JKFJo3qCC0kUe30hMAwQKXFiG0DAbWHUxZMZM9RYyNJKIebmBaelCmUckeJpFFqcEiEEgk3udA2FILJp72nIwqFQqFoF5o0qiOUiH/lCg2jUCgUCiUfaPM2HaF2DgeFoiWsGggxUiiUybHwLI5qcCl2PBpSkQgt5HBQKFohl9wNCoWiDodW2lBrM6HaYkQikcAnCh2XrpISUW0xFi3ZbOboz1FumGjTuLLCSC9xigY4tMKKGqtJkTDKSOjpLxFSNPcpRy9Jk92s9hBUo7nCikV1yrkzJ4KnNo9iWA160YWlKEGlWZ0gw+t7BvBJtweCoKxsYPmtcDLS5LAU1THSo0DHWa09YTU6zCUtWDbRfLtNPFpqXWhyWLCk0a1qQ7Nyl7NXEk9UL7qw8qGxW5CqzK6wq6K2GxFEtHvDeH5nLzZ0Dip2XPrbS0iHP4y2IXWbLWUjprHQ+rZ+X0nrMEw0355oAq29SWnkJocFp8+qxUxX+XbrpZQH1WYDNHYLUhUzz2LplCqcO6cW9SrJ/PcElauwpAaHRBBCsKV3rOIkZXICetDmlom2oRBEMfn9GYbBghqHyiOiUOTDwrOqqbhqkVQzQyDZV2hpU6Wqnk4lwivU4JCI/nAMYZqZT8mTke3HBxUIqVEoalFjleYJvspSGsWVo5sZSpEHWAyf9suvTk0NDomgOhyUkdhyfFLp8EcgiiIIIegNRmUeFYWiPBaexZJGN3hWmuWGZ1nMcReeK6c2Ixs+burxom0wkPZ0qpnTFUzI7+EoDVNRA5RjhUmpM81pRm8whoiQvzEZzNEAHYzEsaatBzxTHsmb05xm9IZi1EDXAW4Th2BMyOjGauIYzHLbIBKC7YMTN+QbSTghYp83hGqrSZJx9QRjGIqJmmr4lw8RYWzDx9Y+P5orrOlE8ka7GWs7BtEdjCk2LhsvfwUVXSUlQgodjnLDoOHqFBbAPl+kIGOjEMrB2OCZ4TmlxoaqMMj+gGRkGXiiwpjW71GBYNtAAC6TIa/qsq5gTFIPXkwkujQ2JqNtKJROJGcYBksa3Ioef361XfZj0BVSItSOv+kRBoDLqE1dArokSk85GFV6gABoKXJx2TK8MOZDTyiGWc7y1d3JhZGJ5BzHKVoyy0oU8pr0GLIfoYxIxd/MGlaP1JKyZUwkmOaywm2kkT2KOmjYySYr2wYCWFzvHOOVtfAs5lXZs5aqRwRSUDn7UCyB2S5qdEzGO/sHkEgk0BeKYorTqpg4mBINSOmdXg4UlovNBbuBRSAuaq6TbGuff0Klywozj6EIrdwod6w8K3lvlhqLAcc2VYBlWXzW7885H6FUCMRFbOz2od5qwFENbkQSIszDZZoH/BHZjjsUSWAokgDHMBCIfPcih4GDP65PkbWhSAIv7OrLeM3EMXCZePijCYRluodHFQh1Ug+HhHT4w1jf6dFkjFrLehcTudqpsUEB5GkEN7faAY7jwDAMam3SJDPqke5QHDsHA5jqtKR7ayiRAC+nsQFAt8bGREQFgt5QHDUynqsmBX53anBIBBX+olD0wUjBJQCoMhsK2kep0BWMZYg+VZpyc3zTZpPK0xOQz/uU6+9eDPSMkQgq/EWh6IORgkuEkAzxtVyZ4dKvDsR4bOnzp/9/tzec02ecCixQlEyiIlBtyd9AzgUlhAfpGSMRWgyjUPRDuehwqImFZ7Gg1okmR7JnTYc/jC29vrwfFJorrLCXWKJzcEQIIphjOKI3FKPnrQr0h+OyzLsSORylddWoCBX+ouSLhWMxp9KG2W4rGIbBph4v2nN8uqTkR0uNA3MqbGnPRirfqhDahkKYV6W9xPBisBm4cf8/G9TYUIfUvNdaDegNSVNdQnM4dAQV/qLkS1gQMctlAcuyYBimaG0EysTMdJozwijF5lvtKrGqlpGNA2frWDY8V4wlcqv2xwTJZBgqFNBEKpFpVx8q/EUphJGx83affAlhpYo1RyP/n+19iEajaBsMYF3HUNH5VrESerJ3GFi09gfSPT1YlkVzRWkbHbMrSsO4DydEzJTIQNyjwP2HhlQkJCn8hWRcWIFWvxT9U0jsnJKERe4ls3EReHnPoLwD0in+uAj/cOLsyJ4eQDJ8VIrYjTwabEZ0KdirRC7sRgOWNLoLykcaSUiB+w81OCQm1Xin2x/Chrb8P99oN6EzQLuGlguFxs7VxsazOTeokwuapl04k4mppYyMlloX5lc7sLnXV3K5RZ3+cEkYG0Ayf7DGakKj3YydQ0G0jvCa5oNVgfsPDanIAMMwBdX2mzkGgwrIy1K0w/zKg+7QWS6LiiPJD7WNDUpxZPMMpXp6sCybkd+hNQrJX7DwLDpK5KFupKYMwzBF5d/MUKDPDTU4ZKIQXfqZbistry0zPh086LJWog6eQsmVlD5JrrocarCwzpV3vkmNVbmGaHIzUlMGKK4fylBM/pAKNThkgBCC/jxaMZtYYHG9EwEFfnCKthiKxEEIASFE0vbdWsFl0k+YiJJJhz8CURQ1mVtk4VksaXSjyWFBS21uRoeZYzCvyqa7hzoTy8AwypFj4Vkc3eCCkWOx3xdGXygKQkhR343qcOiQtJhQNI5cb7VREdjYTWXRyxFPNIGXd/YAQEHdN7XONKcVs93WkswDKHUGI3GsaevJWdlyqsOMGW4rqswG7PKECs4lyAUyqhdLpcUIky+c0ZzSxDGY5bbBbuQRiCXQ7g1h24D+ypmjw/cFM8egpdYFM88imhDR2peZJGrhWcwoIixLdTh0RkpMiEqcU/IhJhbW6lsPzHZbwbIsFtW5yrYVvN7pD+fmpj+y3oUaqwksy2JOhQ1GGX/wiECwvtODDn84fd8d3Qk7KhBsGwjAE4lh20BAc54NnmFyfigFkt/50z4fYoKIDV1j15lwQsS2gSAKnfVC8g7zhXo4JII2b6NQMmmuSBobACCKIgqxqah0dv4wAMplyjb3eAFm8iVWq6W9iQI65oYSIj7p8ky6TaG/PZNlHqWAejgkgjZvoyiJkWVkfYIslpFaDkCmwFk+JAgwr8peMsqQSkAANNnlrzgYzbv7B9E2GIAgCNg5FFTEaxcRistb0CNSis6ZOQZHNbiybygR1MMhEeV20lNyx8QyMHEsfBIl3x1aacNh1clSxc/6/diuEZltp5HDdJc1HUYZSTGJh53+CGIKXl4GBojr3EVg5lmY2GR+mFIMRuIYjMRlzd2gSEtEIGgbDCh2PPrcIBG0eRtlIqIikczYAIBamwkMw4BhGNTaTJLtt1imu6xorrSPMTaA4kTNvDFly4X1bmwAyZJWJY0Nin7xRpWrQqKrpETQ5m0UpRiZ3KVEw6VcmUy4jDamo1C0TSIhv2FPV0iJoM3bKEqREvcRRRHvdQypPJqDTCRcRgihjekoFAkwyZi39bECRQ80h0NCaPM2ihJEEiJae72ay74fL48prUtDc5woKmLhWIQFfZ+DRpbBgjoXNmapUimUMG3epj9Szdu293mxvYDmbVqhwsxjKEKltrVIpz8sSy+IpVMqUGe3YCASR6c/kpa2zpXReUwpfQQKRW30bmwASb2eQEy+XlsW2rxNnzAMg1lFNNHRAtTY0CZmjpGt8VS1xQiWTTaD6gzkFwIZ2UQKoLo0lNJDznBGrrR7QrIVKBypQEoANThkQBRF7M7z6ZBCyQWbUT6nZH84luwDVICmzOgmUlSXhlJq8AV0ppWaiEBQK1PzOZ6XP+BBQyoSk46tC0JesrV6hqpBKsdAjjLThbD2wBAspgAa8xCNsvAsFtQ60eTIrFChujSUUiMYT57Tat/v9vkiadE/KcTVXCYOSilxUINDQrSYyKcECQLUWo3oDcXUHkrJUWc1okfBeQ0nxJxzN1pqHJhTYRtXEpnq0lBKlQQBqi2GnHvMyEHK0JhXZUNMIHnnW1l5Fk4Tj6PrXSCE4JWtcoxyLNTgkAhRFMvS2EjhV1icqVxQ0tjIBwvPTmhsAAd1aWhYhVKK9IfjMHHMmIZxStPuCWXtJTMey6ZXpUMo8bhyhhN9DJGIfC3MUiOcENFk147qJUVeRudsjIbq0lBKnToNqPwW2kumtV85OfORUINDIorpFVEqNDosaK7IvzqHnoTapNFmgnlUopyZYzCvygaRAH2hKAghIISgLxTFfl8YfaEoBEFA22AAfaEYpjnNkL/pNYWSP3yROaCeSBzTnGaYNJBMmi9qrVc0pCIRxfSKKBUKjduLSBod1PmuLTqDUZh5FvOqbLAbeQRiCbR7Q9g2cLBZnJTJaxRKLrjNHE6cXgsAWN/lQXewsLBjAd3hM/DFBPhi+nzQVGu9og+XEjFb57obxWJkGXT5IwXnsVBjQznMHJOzcRhJiNg2EIAnEsO2gcAY921MJNTYoCjKcU2V4DgOHMdhaVNlwT2s9GkqZGLmmLTRnw8LahwyjCY71OCQCJZlCwon5AtfQIKQEno1hBDsLPM8Fjko1u07HgvrXFiYZ35FOSdEU7RLuecKLah1FfS5yfKv5IQaHBLSUuuS3ehIEIJaqwGmPH45kSTLp+QsVSyFlt5aJFlybIBRgp/OyCCdf2HkWBzd4MrrPKJQtMDWPj8IIRAEAZ90e9DuCUl2jegFM8dgcb0TfaFoQR7Gd/cPom0wAFFU1res6Z/orrvuwuLFi+FwOFBbW4vzzjsP27dvz9gmEolgxYoVqKqqgt1ux/nnn4+enh6VRgxUWoyyJxH1huKIikCT3ZyzhHpMIGOCliY2uQDpXYa91OkNxRGT4L4QI8C2gSA2dnnw3v5B/KfbiyiNZWkSM8fCTvPCxmWvL4Lnd3Tj+Z29aPeG0RuKpa+RQsILeiQhEmzs9qHdGy7o84OROFr7/FjT1oPP+pRrQaBpg+Odd97BihUrsG7dOrzxxhuIx+NYvnw5gsGDSWvXX389XnzxRfztb3/DO++8g87OTnz1q19VZbypZlVK1WZ3BCKIJnKLRO7yhBAZNa6omFyA9JhlTSkeqg6rXSKCiACtfJuQiezkcsknkvLa3eUpzGgpBE1Xqbz66qsZf//+979HbW0tPv74Y5xwwgnwer14/PHH8fTTT+Pkk08GADzxxBOYN28e1q1bh2OOOUaxsarVrEqKRl6phkDFyFGbWAbRMrnYKRQtYWJBPVWUolEivKJpg2M0Xq8XAFBZWQkA+PjjjxGPx7Fs2bL0NnPnzsW0adOwdu3aCQ2OaDSKaPTgQu3zJQ2FeDxesOpafziGcHTEZwUh878aJiIAh1TasGMwmH3jCXCYDIiGZFYbzXFOzRwzxpszErV7IWgOHZ2rukGhOW2wG2HmuIJd67qCnqfyMDyfOwf8OKSmsKBHruumbgwOURSxcuVKHHfccTj88MMBAN3d3TAajXC73Rnb1tXVobu7e8J93XXXXbj99tvHvP7666/Dai08n2G8iCu3e1PB+1OSXRh//LkyVOTn8yHbnMYx+VhIlvfLFb2cq3pC7jntTR1H1qNoC3qeysPOjR9gZ4GfDYVyq2LTjcGxYsUKbN26Fe+//37R+7r55ptxww03pP/2+XyYOnUqli9fDqezsBKr/nAMaw8MHXxBEMDt3gRh1iKA0/7tIJuHI5vXoNrKo18BD0cuczrdacaCOhcEQcCn/QH0hKKIUJfGxOjsXNUFdE7H5bBqezpJ/f0DA/BE8vBW0DmVh+F5nbP4OBxSU1iZbSpKkA1dGBxXX301XnrpJbz77ruYMmVK+vX6+nrEYjF4PJ4ML0dPTw/q6+sn3J/JZILJNFYH32AwwGAoTIi5nudhMQXGNqviOM1fHGaOwb5gbNJxRoBJH6M8UaLc98wypwvr3eB5HgaDAUc0GrGmrae8HgELRQfnqlzwAGQxl3Uyp0o1ImuucoAbno8TptXghV19+e9EJ3OqN2ZX2gte/3L9nKarVAghuPrqq/Hcc8/hrbfewsyZMzPeP/LII2EwGPDmm2+mX9u+fTv27duHpUuXKjpWPQvQVFqMRSWMAjLdrAtkaFhuWBRFrOscyrI1hQJUWsu340uT3YQpDosix9o9nGtCCMFQTIBVRm0gSn4MKSDTrmkPx4oVK/D000/j+eefh8PhSOdluFwuWCwWuFwuXH755bjhhhtQWVkJp9OJa665BkuXLlW0QiVFk8OC5oqY7lQZOyWodNESkYSI1l6v7n4HipowWNLoxpZe31gvZQnDM4wklW65EowL6PCHy26e9UBUgd9D0wbHww8/DAA46aSTMl5/4okncNlllwEAfvOb34BlWZx//vmIRqM47bTT8NBDDyk80iQd/jBd5DRApz8s+03UwjEIK6S3MtNlQUu1He2+CDr8EQxGCqukkmIcC2oc2O0NIxgXYDNw6R5Cuzwh7PWG4YtpydeVOzYDhyaHBY12Mzb1eEu+6qPWakRvKIZEsR3M8iQhiljf6VH0mJTcMCngbdK0wUFyuBjMZjNWr16N1atXKzCiiVFLh0MraEkLQIkntoRCxoaFZ7GozgWGYdBcacd0uxEvtQ8ocuzRtFTbwXEcmivtY96b7baitc+vwqikoaU6+Z3+f3t3HiRHWf8P/N09PT3HzrX3lYRswvLj2k0iMXGB75evEAWhvLAopaIGtLDAoMGUB4iAlmKooooqoShRStAqUZQqQKVQieEQypBNQo4FQrIkK4Hd7M7ec1/dz++PyQyzm92Znpk+Zz+vqhRkzifPdD/96X4+/Xk4jkNvs7emAw6njTMsMByNJAz5XlJag0P7cIAm0FQyEU8t6UuEa9sCuixeZxZ6XWPobfHNWWhpX9C4g/pQaPGDxXGLL9xXOH89lbTmVRqlugLuqnO2KqVGiX6iDT22e1Nf4bASo3ZgozltHNa0+tHpdaHzdOKZVtNKToHT7UBvNJfAo9ktYjyWQiwtocvnxFAogclYyrA2RYuU2i72nJ4qLep2dDKCmUQaqw08GGvNaePQUufAZHyp7EW1oVRJArUs+RwOK6lmJVYO2WJUljRvmeOIhpdqExlW83e3Lvc6ITOG4UgSJwuuKJhhuqKuyGJixZ7TU6XlVrILgKUwMB5Gp8epbqNMwC3wiGXkOdsUMYZT4HFBQx2OTkcRSZc+yOsRbAD65HDQlIpKmlxixSsVWjbYQPbKzp6RGQyH49j9wSRORY07A9eTna8uyFyMyOt710A5VhdZVbjYc1YzHEmg1pYzjJngqo3AcXCqsFCkwxyxbcUSGRn7g2Gc3+Q11eq2jU7tbw2ngIOo4nAwVFPBRqlxgEM2uVBNNo7DcZMmK3bXu8Hziw8XHMdBqGDsNOtCxVY+CTCrDGPoUWGfubDZmvWO5jPbTQYcp/3OSAGHSibiqSWzNPJCailh1me3odRPmZIZHIINGzsCql3pkHS+RVGp7no3elqyJY9lWcbgVAQHx2YxOBWBLMtgjOHd6WhF0xk6XS2uOVYduBMSy+4zVUSa8YyMDe3q7XdGSUjM8GOGS+Cxvr2ycuaVoBwOldRqotlSFFKYAJnIyNkrISYNFAp11DkwGU8hWTDA2bjyDvgLFVMbGA/T6rtVWBVwo9PrRL1ow99PTCCtYFtyCzw6PE68a8E7g6JpCW677XTuV2UbzdsTEYj2hKKyCWRhue2uySUik8nggE7fSwGHSqwebZPyRVJpHJlcfME7MxmJnpkXojTYGJyOYTyWwswit81RsFG5Tq8Tze7suk6NbjtGFU5LWjHYANQr/GX0lQGrK9zu9ERHSZXokXBDzOV4kdV1a81iwQapTuG48dFWZbkJZkgArdSpMN0lYwZ6FPlaCAUcKpk0qNw0MU7KBCdZnR79z1KIenLjhiRJ2DtmriRCLaRNsM+QDxfR0xtNqaiEcjiI3gIOAR1el2lvoyWlJTLykrqdnJiDUYX6KOBQCeVwEL3NJDMYCZvzNlqizPHpCKYSNF1FlFMjSduoQn10lFQJ5XAQIwxHkhTsWpgZgg0auaxFjSRtowr10UilEsrhIEZpcYtGN4FYWL2bQg6zcJc4ebCrUJm0VBE/LVHAoRLK4SBGEXje9Cv1lhpIif5ylWGDscpPlkxaKNaS2utEXLW6Fe11i59ApKu8HTjgEPJF/IxAo4BK6LI2MUpGljVboVctVr6Vsxa5Bb6qS/OrA240OAUqAa+iU9EUhsNx9C1rxGfPbkGX3wWfqG6uxUwyg4HgrKqfWQ46SqqkySXCRUEHMcAIrQBKylRtADgcjhuWf2Kv4WH2cDAExhhsNhvWtvqrvqKxkMHpGGTZmBOAGv7p9MVxHHpbjFlUiGoxLG3Gpx3qq8FJN9cZTa8l0xeyptW4KQGtxTMyJuLZW6Qn4inN1qg6blClWgo4VNTpdam6mJdSPMdhtd+l63eSxbkEXvVLoeRDq+s9Ree5SW3yiNlxNZaWsKHdD4dZlxquUjCahCRJ+K+GQcF7s7H84ot6olMFLei8qND7Ji8XLHJAm9eJkzV+6d8v2tDb6keTS8TBsVmEUlQjQwtOgUffskZIkoTD4+F8EaPZRHrO4nTEOpw2Hi11IgSeRyiRxsQCd/1FUjJsyC7eBlvtBvRHp6I4qvGyCaGUhIHxMAbGw1jt1S94pyscKhoOx7FnZMbQy41mlGLAyVACAlebZyQ5ly1vQLPbkZ1ea/Ya3Zya5BJ4NLmyA6TNZsO6tgC6Am4EYynDgw1RhVsW9SCo0Ey1D/cJScbJUALxdGbBYINo5/iMfidGFHCohDGGw8HaXwuhGhkLLSdd7iV7DtkDYP7vNR5cGaW3xTenb82y350dMG5Ks9zpVDW2TK0KY9dSiXerjQB6TK9QwKESLRN8iL66693oW9ZYVj4OA/LJXrIs4/WRaQ1buPQ4eKDFbcfQTAwHRmcgSRIYY3h3Omr4frfK50AkLRm2ZLpbFMqqw0ILqOmDwVoJzkM6LOhmnd4wOSr8VRscNg4Npy/ZT8VTZf2uiYyMgeCs6WtiaM3OATaeR0JSZ59w8BySMptToGpoNg4egNF7HQ/gRMjYxfOiaQnNbhHOcILGIY1xQFm1R+qdIqJpCUkLTLPHdFjQjQIOlVDhr9qQlBj2jMygvS5W9uXdkXCcVm5F9gw6rVKwAWDR3AwzHFrN0IaMLGPPyIzRzVgSyg0bjLr9tBJuHRZ0o6OkSmjxttpSyVwyBRvECGNR2u6qJdKREGd5ta/nRN2sElq8jZSr0+M0ugnE4jo9joou11vljhq9NLmtUTyxXsOckPfC2geuFHCohOZOSTm6693o8For4Ghx61u+n846i8tuQ5XdHWNUgqtZjVjk6uS0huXkKYfDQiiHgyjRVifiYx314Hke4zFrDHI5rXUOXLKsARPxFILRpObFiVIUw5+hxS2itc6B1QG3JbchYl6Uw2EhlMNBlNjQ5gfPZ3c7qy34t8rvAsdxaHY7cH6T11JtrxXhVAZn19fltyEad4haunRYHoNGDJWYJYeD1vAwt4GJCNjpAmhaLfjn1igQmEpmwBjDeCyJD8IJrKT1e3RXuLgXYJ5xh1hfLojVEk2pqMQMORwCl62Rv1SZoS5DKUOzcYxGk+ht8aHT60Kn14Xu+pRqtTsCDgGXr2zWpB7ISDiBfadm5hTaEjjOUhVka0HhWGOWcSezRDYBngNqLf2ltc6OCZ2+iwIOlRiZw9HitiMYS+u60xfOJQPAoWBIl0p1xcjI3vmRkWWMxcxbIjmeydZN2NiR/Xu1gYFb4OFzCNjQ5ocgCBgOxzUpPrZQTYFaDjba6kR8tNWH10ZmNE3WK1fhWGPkuNPld2HN6VLzE/EUjk1GTL3fVautTkRfZwNkWcY/h8ZVWTOr3ikYvm2NRdOqr42zGJpSUYlRc6kugUcoqf8GWziXzPM81qgwNeBUYbnp4UjCMoPe4WAIh8Zmq/oMl8DjylUtuHhZIwRBMM3aIrVgY3sAdrsdly1vNLopczQ4PjxPNDKHo7fZC57nwXEcGp12y+x3ldrQ5gfHcbDZbPjkyqaqP88l8IYHG4WYDicPFHCoxKi51JV+tyGr02oxl7ym1V/WmhBWF8/IVf928xczozV91DN1OpDneb7kdtnp0a+Ow4mCK4lG5nAUtsNKFTUrNV0wXS0IAgKO6iYImt36LQuvhB7bEgUcKtF7LtVp47CxIwCPaNysWDCaBGMMkiThnYlwxZ/jEnisb/UiGE1iNpmBb5Hbs5ZqXYYOjwOOeVd/cr9/Z0EdBlmW8V+VB36njUOHxgdTkedgN2EhqkRGzifJBpziokHF6oAbvI6rA0/EUvmzUSNzOArbEdWhhoPRcuNdbpvobvDAYy9/UHIJPDZ2BCDokKRZjqQO2xLlcKhE77nUhMQwFU+hzcBqlUenohicilaVqNnT7MV4NIl9Y6UDlpQM3eYazWShokS53z8XcGiRJLrC50QwllK9KJLDxmFVoA4eUYBT4HF4bBazJkx2jqQy+MeJYMkrRnqf3Z+KJvGPE0H0tvgMzeEobEedijUc2upEbGjzo390FqMVLlff0+zF6oAbk4k0EhkZRybCiFQZFB2dimLo9G9daeG0nmYvzq6vA8dxZRXacvDAqvo6yAya1b9x6LAtmSvEsrAmlwi9z9EGp2M4FU4YWg+hmmCDBzAeTWK0xud+tTI4HcNAcFaTYIPngJMhbVYfTUoMRyYj4DlgIBgyZbDBAzgyGTHt9FQu8TiZkSDoeHVlsXaoNQZxAPo6GyAIAja2Byr6DJHn8vllzW4HBqciVQcbOSmZVRxs5NqVmwLNJdwrkZSBI5NR+B2CZmXp9cgHooBDJZIklb2SoBrenYnhwiZP0de015lrrjBHBlQPNgSOw9mBpVMfYnA6pskdKXrc+ndoLIQZAxKelTBnmHGmw8GQKe4UGhgPq7LfMWTHUiCbO1PtASqTyZh2G6skSVPLhHBOh8CVAg6V9I9Wd7dBNRISw8aOABzzfk0HD2zsCKBvWeOSScbMMAYbz+uaxEcqk1BxCftSHCbMEVGDEQnjC4ln5NP7XfVTvP2js5BlGQfHZisK/FIyw0Q8m1/y6vB01e1RS65dOYfHy897S0iVX2FZiNPGYX27X7XPK4VyOFSi1sI3LhuHsxs8WOl14OX3pxFW8LnRtIRERkJy3t6ZlJGf529wiXCG514iz86lu5GUGE7UUJa51mt8EOtJnh6km1x2pCR5SRfI04pa+91kPI1nB8eq+oyFitSZQeH4a4pEW52n4yjgUInbblNlEGvzONHdkJ0iWRlwY0BBFBxKpDGxyC1Ng9MxRFIZnFog+So7lx7FeY3Fp2QIqRUT8TSanHYAJhjsyYLSKpzBm/U23cIkXzUTbSuVyMjYd2qWCn9ZzfoWryqf01OQj7FK4VoViwUbOQsFG4X+O2vOnZMQLZTaXwjRSn3BWlc9JXLv9EaFvyzkvYg6yY+54jKMsTmFdbRktsuOpDxNLnOuGLpU8oYIUWpgIpL//2mTTevpUfiLplRUotZ8XCIjYzgcx+FgiAIBC3MLPGI6/X4+hx0ZmZkqG7+73o2eFj8aXCJty4ScVnicMMPCe4Wo8JeFqDUfF0llcGQyUvqFxNT0CjaAbA6PmYINIJs71OAS0el1ocPjxLvTUUX5SITUssLjhJFF2xZChb8sRGm+RSlDJk12IuZl1pyEw8EQGGPguGzBo1LFoebf1k1Irelt/jDXr8klGlq0cT4q/GUhUyqdYepZm4AQLcUz2VoKkiRhIp5CR4kaDX6dVj6lGi3ECH5RwFQyk0/O5DgOvSqssq0WPQp/0ZSKSsw2H0eIGQzNxjGkMPk5GNP+Sk13vRsBp4hhldeHIaSU2VQGr74/BZfAo7fFh06vC51eFzZ2wNA8p9UBF/6r03dRwKESs83HEUI+1OV3YU2LDzzPYzxGwYYWfKI6tYhqXW79mY0dyAcdHR4nJuIpjIQTutcQOT4TpzocVqPH/BchZuKwWaNcuEvgsbbVD/70cuANDjrP0kLKJGXWrSKX4wRkpzOaXCJGIgnD2kN1OCxEj3uYCTGL7no31rbqtwZDNXpbfHPmp/Wqb7OUNDgFyj8rUzwjz1lbZSKeMvT2cT2OYRRwqMToHA7BGiebxEREnqtoqetcjY3s/HPAtNOJLoHHeY0eyAwYjyXzZ3CV1swJOISau5NGjYtU7XUiVtebq2qmVRydjGBwKgJJkhCMGjvVR3U4LETpoNvT7MUqvwsnZuMYDicwpVJUySEbdGSquCpm57LLQ1fzGcQ6eC579h9JpHB0sIoPMsHy6AuJZ+Q5NW1yyXqV1swxW62Taok8BwaGwpkQh42D3yEoSuCtdwr432UNsNlslBdToWAshWAsZYoaNVSHw0KaXGLJs0WRz9YjsNls6G7w4H+XN6j2/WlWfaCgxmeUw84BNp1XKyQfSkgM/admy64FMDgdw0BwFsPhOPaMzOi6RDqHyhO0c8l6TovknmgtJTOk568wLTHFdwtdtrwRNls2eFMy/hFzozocNY7juCU9FcIYIJn07HgpeWui/LOrwekYDgVDGrSmOIbqF70aGA9ToFslgdOnbgPRDyWNWshEPIVUiWWVUzLDRDwFxhjGY0m8PRFe0tMXtXWBujpGLlSdOL0RntNQB7GMEcGovKWJeLqq3JGExCjQrVKG4YyEx1LjHzE3pfVyqkE5HCpROviOhBPYd2qGFrMiefbTl6IlgwfsY1NRwGZk6KNMPumTggZDFY55RifNk+rFVFqAtBgKOFSi9GxL76IuxPzSdGZYtj0jM0Y3YckrHPPMeqcSUc6t0gKkxdBWohIqJkSWGqMOMqEau1vEilwCjyaXmP+72RYiK4dV2622LpUWIC2GelolS72YkE+H6JiYh99hQ4tbLP1ClYk8RwWmdOCyFT80FBZTY4wpWpzPrBwl/q1LRa4Sr5botFwllRYTqhWhJf7vX2pmkxJmk+r85hyyd58oQYmJ+ogXCera60R0erNnw8PhuOYLj7W6RYzFUqVfWCEz1ldxCTy8ooCghv/uD7+Lg/bfkkUBh0oqLSZkVX5RgN3GYSKubjlcj92GCAUvS4Zb4BErcrCqtpgdUd+paAoDwVk0uERdcmnOafSgr9OOYxOh6grUWUBbnYjuBg+aXCLenY7qEnDEM4wWb7Oa1QG30U3Q1Wwqo3qwAQAZOoPVnNNEl5CLBRuAtYKNchezs3IBssHpGA6OzujyXfWiDTzPY3V9HQDAWcPFi0ajKTQ67eA4Dl0+faeoJEn7Ez3zjDwWx/M8uuuLBx3tdeXPeZcakxqctXWRiubntccpnsDQlrPGKlOuKvOkY02rv6IxwSySOu2q/aOzSKfT2DMyBaD2cy6Oz8QgyzL6R2d1/d63JiKlX1Sl2v7ldNbT4kdgkbtVAg4BfcsaSwYl8xWrGk2LJpFKxE2yjHiixq5meUS74v27u96NTq8LfcsaFw06/GJtnUxUajSawt9OTCAYzV5RzeUO1Va4+qH3ZuN4dnAMo1G9Miuyohmqw2EpA8HZRROQZpIZ7P5gEqeKbEQrfE7MJjKYTS2exOQSeLTVOdDb7KVFkwgxkUgqg8FpZXV2BqdjaHCJ+aBDkiQcHg8jmpZQZ7eht9mLqWQGr74/VfKz6uy2JZm0zpCdHqy1q6KhIuO/luoE7TM5KOBQiSzLJQebYsEGAIxFEiUvU8YzMta0+PK3MOXuf6fKpfqqxYGOVGeozKJ+h4MhdHic4DgONpsN69oCc55vdCo7h1+KwUZOQpJhB6B+NtnSc0GVaxQpQVMqKlGjgqjSOdHXR6Yhy9kXcxyH3hZf1d9NytNi4bl3oo1yA9B4RsbbE2GMx5KQJAmDUxEcHJvF4FQEkiRRVWKF7DWe06EXmw7LGtAVDpXoeZYxGk3h2cExdNe70dPiR6fXhe76lOLLuaRyLoFHb4sP4zrcrkZq39GpKI5ORc94fGC8/BV8l6pYjVxp9Ik2hFL6X61qrbNjQqfvooBDJUbU4cgFGA0ukYINHbTViejrbADHcbosdERILbFxxZPgl6IGpx2dXidWB9w4PhPTLdAMOATUO+3obfZClmU8f1CXr6UpFbUYVYdjcDqGQ8GQId9dyCXwlq4roMSGNn++nPMqDdYdqPX+I0ubxGiRt/n+Z1k9uhs82TojOh5DLlvegHVtAV2mUQrRr68SJXU4tGKGpaF7W3xY0+o3uhmami643DmlQTnkrkCd6p9JiJkYsf6OmRWOI3oeQ4xa+4sCDhX1tPgNCzqM4hJ4bOwIoNPrQqfXhY0dgZo9U09k5OzdSFMRHJ1Ur0iOgwc2dgTgWaJ1F2pzayELEfjseGHlKx1q1qs7OhnJJwmPx5IIOEV0ehzqfcEijLqzqWZGuIcffhj3338/RkdHsWbNGjz00EPYsGGD7u3oafHjgiYvDoxM4QPdv109/6+hDjwHnJiOzrl7xsEDq+rr4BHtcJ5eojo3zZDHlbMcV/nOb/LgnCYfJhNpBKPJBZPutDASjmPvqRnVPzcpAydnYzi7QfltaXaeA2PMUqW/F8MAdHkdmElLmE6YbyEtop58rhuz3obbVidiudeJgfEwEiolowRjKQRjqTNyNxw2Dn6HgGBMmxt+jVr7y7phZoE//elP2L59O+655x688cYbWLNmDa688koEg0FD2sPzPHosfKuqS+Dhdwg4Mhk941bdpAwcmYyC54Bmt2NOsDEcjmPPyIzmUzyrAm7wPI9mtwPnN3nh0uFsiQMwHNGuyNqpaAqDkxGICk+f0nJtBBs5Q+EkGp12CPODV6I6I88yXQKfHSMslj3KAVjhc2HvaEiXticlhmAsrXg8KJdROYc1EXA88MADuOmmm3DjjTfi/PPPxyOPPAK3243HHnvM6KZZUk+zr2S29OFgCKzgLIUxhsMGJK/qVYdEj+FxNJaCbMEzP7W8OxNHZgn/+/XC8xzaDMqlOGzR230ZgINj+q5toiVm0H5m+SmVVCqF/fv344477sg/xvM8Nm3ahN27dy/4nmQyiWTyw7PVUCh7oEyn00in1bmEFYycTsrRYQU+tTgFDhc2+2CDjHiyeD/EJQmj4RiaXNmBayKeKvmeqp3uy2Akjlbvh5F/i1PA+hYP3hwPIWHx0349JxTsp0830rlt1ELbqumZuE9TEtDV6gWTMxiLVrfP5rchhRc1E9X0h8F9akCJDKQk4JyGOpwMxVQd2w6emkbv6ST/3DGvmmOf0vdaPuCYmJiAJElobW2d83hrayveeeedBd+zY8cO/OQnPznj8RdeeAFut7qXmmwnDqr6eVpKAzhwJPv/Smb4+gfn/l2vWcH9r7686HPGzExaU+4YkeszK22rVmHWPs3tu9XuL/O3IT2YtU+1cvz0f9Xs4w9O/ym0c+fOij8vFlNWB8ryAUcl7rjjDmzfvj3/91AohOXLl+OTn/wkfD51Ls+PhWPY/+rLkFatBXS+11mJ85s8WF2/8G2YE/EUdn8wXfIz+pbVz7nCoeQ9853lc+Yj7ZKfIUmwnTiIi/7n/9DqVRYYHp+O4m0dll22msLfP51OY+fOnfjEJz4Bu91e8W9JCpzeVs26/xfuu/Mp3WcKtyE197Nc287YDk3ep1pRY5ydr3Dcnb//VyI3S1CK5QOOpqYm2Gw2jI2NzXl8bGwMbW1tC77H4XDA4Tjz1iO73V5xh8/X4jldGMpmM+XOcU7ThwvAzdcmCHA5IkUXhHMJPNq87nzSqJL3LGRte32++IzSz2jxuBT/Tuc0+fD2tDH3nFfCYeOQ1CEpbaHfP7f9V/pbGsUp8KaoRbMgE+7/8/fd+ZTuM4XbkNL3lPqtCtu26HZY0KcugQdjTJdETpEHUjpvZmqNs/MVjrs51Rz/lL7P8kmjoijioosuwq5du/KPybKMXbt2oa+vz7B2LbYzl0uLuh7d9e5Fgw1AWSJmb4tvzr+xkuTN9jpxzkav9DPK6Vu1iukEHMVj8+56d9Xf014nYq0KxdPaSywsp8bvXwkt+rC73o01Fr4jbL5Sv50a5u+78ynZZ+ZvQ0rfU+q3Kmyb0nFIj4KDAYdwxmq+eqhknC21n80fd/Vk+YADALZv345HH30Uv/vd73DkyBHccsstiEajuPHGG41uGta3+0vetiny3Bm3P+UKavW0+LGxI1DRZywkt+BbKbkiXvO/t7DQl9L3LKS9TkTfssayvnd9e2UDS7GCbIKC2KW73o3LVzYv+hm5Pq2m8FuuP5T2YbFtpm9ZY8m2llJNOxb7XrX7sHDxQqXbnRYq+db5252S367Y+5Uotu/OV+x3WGwbUvKecscVJa+v9PdXuu0GHAIuX9ms2nam5LerZJzNvefylc2LBq6Ljbt6sfyUCgB88YtfxPj4OO6++26Mjo5i7dq1+Mc//nFGIqkR2j1OLA94MBFPIZGR4RR4NDrtmEyk838vnJ8rfCwX2XZ6XejwOMv+jAaHgBOzcUTTEursNqwOFD+znW+h712w0FeJ99SLNgxMRPLt6G32Fo2wF/veTCaDA4pbP1euINvxmdic/uA4TnGfLfYZhX260GtW+V2YSmYU90elv3fhb6OkraVosd1V2oddPieGQolF36OkrQE7j71jIcTSEtx2Gza0+cHzfNHfav5nLPTb8Tx/xveOReLoH8zOv7fUOc/oj/nbXanfbn67mlwiGGNF+2ih95RzdbCSbUjJe8odV3KvHw3H8n06f0pIybjT0+TBdEoquu0utI0IglD0e+ZvI6X+vtBvV+5vVaoP+5Y1QpIkHB4PKx539cAxo27INZFQKAS/34/Z2VnVkkbT6TSef/55XH311arlhSx11KfaoH5VH/Wp+qhPtaFGvyo9htbElAohhBBCzI0CDkIIIYRojgIOQgghhGiOAg5CCCGEaI4CDkIIIYRojgIOQgghhGiOAg5CCCGEaI4CDkIIIYRojgIOQgghhGiOAg5CCCGEaI4CDkIIIYRojgIOQgghhGiOAg5CCCGEaK4mlqevVm7B3FAopNpnptNpxGIxhEIhWtlQJdSn2qB+VR/1qfqoT7WhRr/mjp2lFp+ngANAOBwGACxfvtzglhBCCCHWFA6H4ff7F32eY6VCkiVAlmWMjIzA6/WC4zhVPjMUCmH58uV4//334fP5VPnMpY76VBvUr+qjPlUf9ak21OhXxhjC4TA6OjrA84tnatAVDgA8z2PZsmWafLbP56OdQ2XUp9qgflUf9an6qE+1UW2/FruykUNJo4QQQgjRHAUchBBCCNEcBRwacTgcuOeee+BwOIxuSs2gPtUG9av6qE/VR32qDT37lZJGCSGEEKI5usJBCCGEEM1RwEEIIYQQzVHAQQghhBDNUcBBCCGEEM1RwKGBhx9+GCtXroTT6cTGjRvR399vdJMsY8eOHfjoRz8Kr9eLlpYWfO5zn8PRo0fnvCaRSGDr1q1obGyEx+PBF77wBYyNjRnUYmu67777wHEcbrvttvxj1K/lGx4expe//GU0NjbC5XKhp6cH+/btyz/PGMPdd9+N9vZ2uFwubNq0CYODgwa22PwkScJdd92Frq4uuFwurF69Gj/96U/nrNNB/Vrcv//9b3z6059GR0cHOI7Ds88+O+d5Jf03NTWFzZs3w+fzIRAI4Otf/zoikUh1DWNEVU8++SQTRZE99thj7K233mI33XQTCwQCbGxszOimWcKVV17JHn/8cfbmm2+ygwcPsquvvpqtWLGCRSKR/Gtuvvlmtnz5crZr1y62b98+9rGPfYxdfPHFBrbaWvr7+9nKlStZb28v27ZtW/5x6tfyTE1NsbPOOovdcMMNbM+ePezEiRPsn//8J3v33Xfzr7nvvvuY3+9nzz77LDt06BD7zGc+w7q6ulg8Hjew5eZ27733ssbGRvbcc8+xoaEh9tRTTzGPx8N+8Ytf5F9D/Vrc888/z+6880729NNPMwDsmWeemfO8kv676qqr2Jo1a9jrr7/OXn31VXb22Wez66+/vqp2UcChsg0bNrCtW7fm/y5JEuvo6GA7duwwsFXWFQwGGQD2yiuvMMYYm5mZYXa7nT311FP51xw5coQBYLt37zaqmZYRDodZd3c327lzJ7vsssvyAQf1a/l+8IMfsEsvvXTR52VZZm1tbez+++/PPzYzM8McDgf74x//qEcTLemaa65hX/va1+Y8du2117LNmzczxqhfyzU/4FDSf2+//TYDwPbu3Zt/zd///nfGcRwbHh6uuC00paKiVCqF/fv3Y9OmTfnHeJ7Hpk2bsHv3bgNbZl2zs7MAgIaGBgDA/v37kU6n5/TxueeeixUrVlAfK7B161Zcc801c/oPoH6txF//+lesX78e1113HVpaWrBu3To8+uij+eeHhoYwOjo6p0/9fj82btxIfVrExRdfjF27duHYsWMAgEOHDuG1117Dpz71KQDUr9VS0n+7d+9GIBDA+vXr86/ZtGkTeJ7Hnj17Kv5uWrxNRRMTE5AkCa2trXMeb21txTvvvGNQq6xLlmXcdtttuOSSS3DhhRcCAEZHRyGKIgKBwJzXtra2YnR01IBWWseTTz6JN954A3v37j3jOerX8p04cQK//OUvsX37dvzwhz/E3r178e1vfxuiKGLLli35fltoPKA+Xdztt9+OUCiEc889FzabDZIk4d5778XmzZsBgPq1Skr6b3R0FC0tLXOeFwQBDQ0NVfUxBRzEtLZu3Yo333wTr732mtFNsbz3338f27Ztw86dO+F0Oo1uTk2QZRnr16/Hz3/+cwDAunXr8Oabb+KRRx7Bli1bDG6ddf35z3/GE088gT/84Q+44IILcPDgQdx2223o6OigfrU4mlJRUVNTE2w22xmZ/WNjY2hrazOoVdZ066234rnnnsNLL72EZcuW5R9va2tDKpXCzMzMnNdTHxe3f/9+BINBfOQjH4EgCBAEAa+88goefPBBCIKA1tZW6tcytbe34/zzz5/z2HnnnYeTJ08CQL7faDwoz/e+9z3cfvvt+NKXvoSenh585StfwXe+8x3s2LEDAPVrtZT0X1tbG4LB4JznM5kMpqamqupjCjhUJIoiLrroIuzatSv/mCzL2LVrF/r6+gxsmXUwxnDrrbfimWeewYsvvoiurq45z1900UWw2+1z+vjo0aM4efIk9XERV1xxBQYGBnDw4MH8n/Xr12Pz5s35/6d+Lc8ll1xyxi3bx44dw1lnnQUA6OrqQltb25w+DYVC2LNnD/VpEbFYDDw/99Bks9kgyzIA6tdqKem/vr4+zMzMYP/+/fnXvPjii5BlGRs3bqz8yytONyULevLJJ5nD4WC//e1v2dtvv82+8Y1vsEAgwEZHR41umiXccsstzO/3s5dffpmdOnUq/ycWi+Vfc/PNN7MVK1awF198ke3bt4/19fWxvr4+A1ttTYV3qTBG/Vqu/v5+JggCu/fee9ng4CB74oknmNvtZr///e/zr7nvvvtYIBBgf/nLX9jhw4fZZz/7Wbp9s4QtW7awzs7O/G2xTz/9NGtqamLf//7386+hfi0uHA6zAwcOsAMHDjAA7IEHHmAHDhxg7733HmNMWf9dddVVbN26dWzPnj3stddeY93d3XRbrBk99NBDbMWKFUwURbZhwwb2+uuvG90kywCw4J/HH388/5p4PM6++c1vsvr6euZ2u9nnP/95durUKeMabVHzAw7q1/L97W9/YxdeeCFzOBzs3HPPZb/+9a/nPC/LMrvrrrtYa2srczgc7IorrmBHjx41qLXWEAqF2LZt29iKFSuY0+lkq1atYnfeeSdLJpP511C/FvfSSy8tOI5u2bKFMaas/yYnJ9n111/PPB4P8/l87MYbb2ThcLiqdtHy9IQQQgjRHOVwEEIIIURzFHAQQgghRHMUcBBCCCFEcxRwEEIIIURzFHAQQgghRHMUcBBCCCFEcxRwEEIIIURzFHAQQgghRHMUcBBCCCFEcxRwEEJMR5IkXHzxxbj22mvnPD47O4vly5fjzjvvNKhlhJBKUWlzQogpHTt2DGvXrsWjjz6KzZs3AwC++tWv4tChQ9i7dy9EUTS4hYSQclDAQQgxrQcffBA//vGP8dZbb6G/vx/XXXcd9u7dizVr1hjdNEJImSjgIISYFmMMl19+OWw2GwYGBvCtb30LP/rRj4xuFiGkAhRwEEJM7Z133sF5552Hnp4evPHGGxAEwegmEUIqQEmjhBBTe+yxx+B2uzE0NIQPPvjA6OYQQipEVzgIIab1n//8B5dddhleeOEF/OxnPwMA/Otf/wLHcQa3jBBSLrrCQQgxpVgshhtuuAG33HILPv7xj+M3v/kN+vv78cgjjxjdNEJIBegKByHElLZt24bnn38ehw4dgtvtBgD86le/wne/+10MDAxg5cqVxjaQEFIWCjgIIabzyiuv4IorrsDLL7+MSy+9dM5zV155JTKZDE2tEGIxFHAQQgghRHOUw0EIIYQQzVHAQQghhBDNUcBBCCGEEM1RwEEIIYQQzVHAQQghhBDNUcBBCCGEEM1RwEEIIYQQzVHAQQghhBDNUcBBCCGEEM1RwEEIIYQQzVHAQQghhBDN/X/4kXbQuwSXSQAAAABJRU5ErkJggg=="/>
          <p:cNvSpPr>
            <a:spLocks noChangeAspect="1" noChangeArrowheads="1"/>
          </p:cNvSpPr>
          <p:nvPr/>
        </p:nvSpPr>
        <p:spPr bwMode="auto">
          <a:xfrm>
            <a:off x="155575" y="3848099"/>
            <a:ext cx="8683626" cy="62150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p:cNvPicPr>
            <a:picLocks noChangeAspect="1"/>
          </p:cNvPicPr>
          <p:nvPr/>
        </p:nvPicPr>
        <p:blipFill>
          <a:blip r:embed="rId2"/>
          <a:stretch>
            <a:fillRect/>
          </a:stretch>
        </p:blipFill>
        <p:spPr>
          <a:xfrm>
            <a:off x="2209800" y="5663151"/>
            <a:ext cx="13868400" cy="4476892"/>
          </a:xfrm>
          <a:prstGeom prst="rect">
            <a:avLst/>
          </a:prstGeom>
        </p:spPr>
      </p:pic>
      <p:pic>
        <p:nvPicPr>
          <p:cNvPr id="7" name="Picture 6"/>
          <p:cNvPicPr>
            <a:picLocks noChangeAspect="1"/>
          </p:cNvPicPr>
          <p:nvPr/>
        </p:nvPicPr>
        <p:blipFill>
          <a:blip r:embed="rId3"/>
          <a:stretch>
            <a:fillRect/>
          </a:stretch>
        </p:blipFill>
        <p:spPr>
          <a:xfrm>
            <a:off x="155573" y="0"/>
            <a:ext cx="17900653" cy="5448300"/>
          </a:xfrm>
          <a:prstGeom prst="rect">
            <a:avLst/>
          </a:prstGeom>
        </p:spPr>
      </p:pic>
    </p:spTree>
    <p:extLst>
      <p:ext uri="{BB962C8B-B14F-4D97-AF65-F5344CB8AC3E}">
        <p14:creationId xmlns:p14="http://schemas.microsoft.com/office/powerpoint/2010/main" val="488867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3" name="TextBox 3"/>
          <p:cNvSpPr txBox="1"/>
          <p:nvPr/>
        </p:nvSpPr>
        <p:spPr>
          <a:xfrm>
            <a:off x="1295400" y="876300"/>
            <a:ext cx="14422851" cy="1923604"/>
          </a:xfrm>
          <a:prstGeom prst="rect">
            <a:avLst/>
          </a:prstGeom>
        </p:spPr>
        <p:txBody>
          <a:bodyPr lIns="0" tIns="0" rIns="0" bIns="0" rtlCol="0" anchor="t">
            <a:spAutoFit/>
          </a:bodyPr>
          <a:lstStyle/>
          <a:p>
            <a:pPr marL="773303" lvl="1" indent="-386651" algn="l">
              <a:lnSpc>
                <a:spcPts val="5014"/>
              </a:lnSpc>
              <a:buFont typeface="Arial"/>
              <a:buChar char="•"/>
            </a:pPr>
            <a:endParaRPr lang="en-US" sz="3581" dirty="0">
              <a:solidFill>
                <a:srgbClr val="FFFFFF"/>
              </a:solidFill>
              <a:latin typeface="Canva Sans"/>
              <a:ea typeface="Canva Sans"/>
              <a:cs typeface="Canva Sans"/>
              <a:sym typeface="Canva Sans"/>
            </a:endParaRPr>
          </a:p>
          <a:p>
            <a:pPr algn="l">
              <a:lnSpc>
                <a:spcPts val="5014"/>
              </a:lnSpc>
            </a:pPr>
            <a:r>
              <a:rPr lang="en-US" sz="4000" b="1" dirty="0">
                <a:solidFill>
                  <a:srgbClr val="FFFFFF"/>
                </a:solidFill>
                <a:latin typeface="Canva Sans Bold"/>
                <a:ea typeface="Canva Sans Bold"/>
                <a:cs typeface="Canva Sans Bold"/>
                <a:sym typeface="Canva Sans Bold"/>
              </a:rPr>
              <a:t>2. K-Means Clustering</a:t>
            </a:r>
          </a:p>
          <a:p>
            <a:pPr algn="l">
              <a:lnSpc>
                <a:spcPts val="5014"/>
              </a:lnSpc>
            </a:pPr>
            <a:endParaRPr lang="en-US" sz="3581" dirty="0">
              <a:solidFill>
                <a:srgbClr val="FFFFFF"/>
              </a:solidFill>
              <a:latin typeface="Canva Sans"/>
              <a:ea typeface="Canva Sans"/>
              <a:cs typeface="Canva Sans"/>
              <a:sym typeface="Canva Sans"/>
            </a:endParaRPr>
          </a:p>
        </p:txBody>
      </p:sp>
      <p:sp>
        <p:nvSpPr>
          <p:cNvPr id="4" name="Rectangle 1"/>
          <p:cNvSpPr>
            <a:spLocks noChangeArrowheads="1"/>
          </p:cNvSpPr>
          <p:nvPr/>
        </p:nvSpPr>
        <p:spPr bwMode="auto">
          <a:xfrm>
            <a:off x="1524000" y="2999721"/>
            <a:ext cx="163830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3600" b="1" i="0" u="none" strike="noStrike" cap="none" normalizeH="0" baseline="0" dirty="0" smtClean="0">
                <a:ln>
                  <a:noFill/>
                </a:ln>
                <a:solidFill>
                  <a:schemeClr val="bg1"/>
                </a:solidFill>
                <a:effectLst/>
                <a:latin typeface="Arial" panose="020B0604020202020204" pitchFamily="34" charset="0"/>
              </a:rPr>
              <a:t>K-Means Clustering</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Groups sensor nodes into clusters</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Based on node location (distance)</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Reduces communication complexity</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3600" b="0" i="0" u="none" strike="noStrike" cap="none" normalizeH="0" baseline="0" dirty="0" smtClean="0">
                <a:ln>
                  <a:noFill/>
                </a:ln>
                <a:solidFill>
                  <a:schemeClr val="bg1"/>
                </a:solidFill>
                <a:effectLst/>
                <a:latin typeface="Arial" panose="020B0604020202020204" pitchFamily="34" charset="0"/>
              </a:rPr>
              <a:t>Improves energy efficiency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36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3600" b="0" i="0" u="none" strike="noStrike" cap="none" normalizeH="0" baseline="0" dirty="0" smtClean="0">
                <a:ln>
                  <a:noFill/>
                </a:ln>
                <a:solidFill>
                  <a:schemeClr val="bg1"/>
                </a:solidFill>
                <a:effectLst/>
                <a:latin typeface="Arial" panose="020B0604020202020204" pitchFamily="34" charset="0"/>
              </a:rPr>
              <a:t>In this module, K-Means clustering is used to group sensor nodes based on their location. This helps reduce communication distance and improves overall energy efficiency of the network.</a:t>
            </a:r>
          </a:p>
        </p:txBody>
      </p:sp>
    </p:spTree>
    <p:extLst>
      <p:ext uri="{BB962C8B-B14F-4D97-AF65-F5344CB8AC3E}">
        <p14:creationId xmlns:p14="http://schemas.microsoft.com/office/powerpoint/2010/main" val="1188273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bg1"/>
                </a:solidFill>
                <a:effectLst/>
                <a:latin typeface="Arial" panose="020B0604020202020204" pitchFamily="34" charset="0"/>
              </a:rPr>
              <a:t>.</a:t>
            </a:r>
          </a:p>
        </p:txBody>
      </p:sp>
      <p:sp>
        <p:nvSpPr>
          <p:cNvPr id="5" name="Rectangle 2"/>
          <p:cNvSpPr>
            <a:spLocks noChangeArrowheads="1"/>
          </p:cNvSpPr>
          <p:nvPr/>
        </p:nvSpPr>
        <p:spPr bwMode="auto">
          <a:xfrm>
            <a:off x="0" y="280472"/>
            <a:ext cx="184731" cy="369332"/>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solidFill>
                <a:schemeClr val="bg1"/>
              </a:solidFill>
            </a:endParaRPr>
          </a:p>
        </p:txBody>
      </p:sp>
      <p:sp>
        <p:nvSpPr>
          <p:cNvPr id="6" name="Rectangle 3"/>
          <p:cNvSpPr>
            <a:spLocks noChangeArrowheads="1"/>
          </p:cNvSpPr>
          <p:nvPr/>
        </p:nvSpPr>
        <p:spPr bwMode="auto">
          <a:xfrm>
            <a:off x="1371600" y="1361302"/>
            <a:ext cx="16078200" cy="686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Cluster Formation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sz="4000" b="0"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Calculates cluster centers (centroids)</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Assigns nodes to nearest centroid</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Forms multiple clusters</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Repeats until stable clusters are formed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K-Means first calculates the centroid, which is the center of a group of nodes. Then, each node is assigned to the nearest centroid. This process repeats until clusters are stable.</a:t>
            </a:r>
          </a:p>
        </p:txBody>
      </p:sp>
    </p:spTree>
    <p:extLst>
      <p:ext uri="{BB962C8B-B14F-4D97-AF65-F5344CB8AC3E}">
        <p14:creationId xmlns:p14="http://schemas.microsoft.com/office/powerpoint/2010/main" val="1001075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990600" y="1885027"/>
            <a:ext cx="163830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3600" b="1" i="0" u="none" strike="noStrike" cap="none" normalizeH="0" baseline="0" dirty="0" smtClean="0">
                <a:ln>
                  <a:noFill/>
                </a:ln>
                <a:solidFill>
                  <a:schemeClr val="bg1"/>
                </a:solidFill>
                <a:effectLst/>
                <a:latin typeface="Arial" panose="020B0604020202020204" pitchFamily="34" charset="0"/>
              </a:rPr>
              <a:t>Cluster Head Selection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36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Select node near centroid</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Consider residual energy</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Cluster Head manages communication</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Reduces intra-cluster energy usage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After forming clusters, a cluster head is selected. The node closest to the centroid with higher energy is chosen as the cluster head. It collects data from nodes and forwards it efficiently.</a:t>
            </a:r>
          </a:p>
        </p:txBody>
      </p:sp>
    </p:spTree>
    <p:extLst>
      <p:ext uri="{BB962C8B-B14F-4D97-AF65-F5344CB8AC3E}">
        <p14:creationId xmlns:p14="http://schemas.microsoft.com/office/powerpoint/2010/main" val="2553385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38200" y="1333499"/>
            <a:ext cx="7218219" cy="7315201"/>
          </a:xfrm>
          <a:prstGeom prst="rect">
            <a:avLst/>
          </a:prstGeom>
        </p:spPr>
      </p:pic>
      <p:pic>
        <p:nvPicPr>
          <p:cNvPr id="3" name="Picture 2"/>
          <p:cNvPicPr>
            <a:picLocks noChangeAspect="1"/>
          </p:cNvPicPr>
          <p:nvPr/>
        </p:nvPicPr>
        <p:blipFill>
          <a:blip r:embed="rId3"/>
          <a:stretch>
            <a:fillRect/>
          </a:stretch>
        </p:blipFill>
        <p:spPr>
          <a:xfrm>
            <a:off x="9372601" y="1333499"/>
            <a:ext cx="8077200" cy="7315201"/>
          </a:xfrm>
          <a:prstGeom prst="rect">
            <a:avLst/>
          </a:prstGeom>
        </p:spPr>
      </p:pic>
    </p:spTree>
    <p:extLst>
      <p:ext uri="{BB962C8B-B14F-4D97-AF65-F5344CB8AC3E}">
        <p14:creationId xmlns:p14="http://schemas.microsoft.com/office/powerpoint/2010/main" val="1461714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028700" y="825511"/>
            <a:ext cx="13527144" cy="2192908"/>
          </a:xfrm>
          <a:prstGeom prst="rect">
            <a:avLst/>
          </a:prstGeom>
        </p:spPr>
        <p:txBody>
          <a:bodyPr lIns="0" tIns="0" rIns="0" bIns="0" rtlCol="0" anchor="t">
            <a:spAutoFit/>
          </a:bodyPr>
          <a:lstStyle/>
          <a:p>
            <a:pPr algn="l">
              <a:lnSpc>
                <a:spcPts val="5675"/>
              </a:lnSpc>
            </a:pPr>
            <a:r>
              <a:rPr lang="en-US" sz="4054" b="1" dirty="0">
                <a:solidFill>
                  <a:schemeClr val="bg1"/>
                </a:solidFill>
                <a:latin typeface="Canva Sans Bold"/>
                <a:ea typeface="Canva Sans Bold"/>
                <a:cs typeface="Canva Sans Bold"/>
                <a:sym typeface="Canva Sans Bold"/>
              </a:rPr>
              <a:t>3. Q-Learning Routing</a:t>
            </a:r>
          </a:p>
          <a:p>
            <a:pPr algn="l">
              <a:lnSpc>
                <a:spcPts val="5675"/>
              </a:lnSpc>
            </a:pPr>
            <a:endParaRPr lang="en-US" sz="4054" dirty="0">
              <a:solidFill>
                <a:schemeClr val="bg1"/>
              </a:solidFill>
              <a:latin typeface="Canva Sans"/>
              <a:ea typeface="Canva Sans"/>
              <a:cs typeface="Canva Sans"/>
              <a:sym typeface="Canva Sans"/>
            </a:endParaRPr>
          </a:p>
          <a:p>
            <a:pPr algn="l">
              <a:lnSpc>
                <a:spcPts val="5675"/>
              </a:lnSpc>
            </a:pPr>
            <a:endParaRPr lang="en-US" sz="4054" dirty="0">
              <a:solidFill>
                <a:schemeClr val="bg1"/>
              </a:solidFill>
              <a:latin typeface="Canva Sans"/>
              <a:ea typeface="Canva Sans"/>
              <a:cs typeface="Canva Sans"/>
              <a:sym typeface="Canva Sans"/>
            </a:endParaRPr>
          </a:p>
        </p:txBody>
      </p:sp>
      <p:sp>
        <p:nvSpPr>
          <p:cNvPr id="3" name="Rectangle 1"/>
          <p:cNvSpPr>
            <a:spLocks noChangeArrowheads="1"/>
          </p:cNvSpPr>
          <p:nvPr/>
        </p:nvSpPr>
        <p:spPr bwMode="auto">
          <a:xfrm>
            <a:off x="1371600" y="2247900"/>
            <a:ext cx="16002000" cy="5924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Q-Learning Overview</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9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Reinforcement learning technique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Finds optimal routing path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Adapts to network conditions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Improves energy efficiency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Q-Learning is used to find the best routing path from cluster heads to the base station. It learns and improves routing decisions based on network conditions</a:t>
            </a:r>
            <a:r>
              <a:rPr kumimoji="0" lang="en-US" sz="1600" b="0" i="0" u="none" strike="noStrike" cap="none" normalizeH="0" baseline="0" dirty="0" smtClean="0">
                <a:ln>
                  <a:noFill/>
                </a:ln>
                <a:solidFill>
                  <a:schemeClr val="bg1"/>
                </a:solidFill>
                <a:effectLst/>
                <a:latin typeface="Arial" panose="020B0604020202020204" pitchFamily="34" charset="0"/>
              </a:rPr>
              <a:t>.</a:t>
            </a:r>
            <a:endParaRPr kumimoji="0" lang="en-US" sz="1800" b="0" i="0" u="none" strike="noStrike" cap="none" normalizeH="0" baseline="0" dirty="0" smtClean="0">
              <a:ln>
                <a:noFill/>
              </a:ln>
              <a:solidFill>
                <a:schemeClr val="bg1"/>
              </a:solidFill>
              <a:effectLst/>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1676400" y="1409700"/>
            <a:ext cx="14782799"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States, Actions, Reward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1" i="0" u="none" strike="noStrike" cap="none" normalizeH="0" baseline="0" dirty="0" smtClean="0">
                <a:ln>
                  <a:noFill/>
                </a:ln>
                <a:solidFill>
                  <a:schemeClr val="bg1"/>
                </a:solidFill>
                <a:effectLst/>
                <a:latin typeface="Arial" panose="020B0604020202020204" pitchFamily="34" charset="0"/>
              </a:rPr>
              <a:t>States:</a:t>
            </a:r>
            <a:r>
              <a:rPr kumimoji="0" lang="en-US" sz="4000" b="0" i="0" u="none" strike="noStrike" cap="none" normalizeH="0" baseline="0" dirty="0" smtClean="0">
                <a:ln>
                  <a:noFill/>
                </a:ln>
                <a:solidFill>
                  <a:schemeClr val="bg1"/>
                </a:solidFill>
                <a:effectLst/>
                <a:latin typeface="Arial" panose="020B0604020202020204" pitchFamily="34" charset="0"/>
              </a:rPr>
              <a:t> distance, energy, neighbors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1" i="0" u="none" strike="noStrike" cap="none" normalizeH="0" baseline="0" dirty="0" smtClean="0">
                <a:ln>
                  <a:noFill/>
                </a:ln>
                <a:solidFill>
                  <a:schemeClr val="bg1"/>
                </a:solidFill>
                <a:effectLst/>
                <a:latin typeface="Arial" panose="020B0604020202020204" pitchFamily="34" charset="0"/>
              </a:rPr>
              <a:t>Action:</a:t>
            </a:r>
            <a:r>
              <a:rPr kumimoji="0" lang="en-US" sz="4000" b="0" i="0" u="none" strike="noStrike" cap="none" normalizeH="0" baseline="0" dirty="0" smtClean="0">
                <a:ln>
                  <a:noFill/>
                </a:ln>
                <a:solidFill>
                  <a:schemeClr val="bg1"/>
                </a:solidFill>
                <a:effectLst/>
                <a:latin typeface="Arial" panose="020B0604020202020204" pitchFamily="34" charset="0"/>
              </a:rPr>
              <a:t> select next-hop node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1" i="0" u="none" strike="noStrike" cap="none" normalizeH="0" baseline="0" dirty="0" smtClean="0">
                <a:ln>
                  <a:noFill/>
                </a:ln>
                <a:solidFill>
                  <a:schemeClr val="bg1"/>
                </a:solidFill>
                <a:effectLst/>
                <a:latin typeface="Arial" panose="020B0604020202020204" pitchFamily="34" charset="0"/>
              </a:rPr>
              <a:t>Reward:</a:t>
            </a:r>
            <a:r>
              <a:rPr kumimoji="0" lang="en-US" sz="4000" b="0" i="0" u="none" strike="noStrike" cap="none" normalizeH="0" baseline="0" dirty="0" smtClean="0">
                <a:ln>
                  <a:noFill/>
                </a:ln>
                <a:solidFill>
                  <a:schemeClr val="bg1"/>
                </a:solidFill>
                <a:effectLst/>
                <a:latin typeface="Arial" panose="020B0604020202020204" pitchFamily="34" charset="0"/>
              </a:rPr>
              <a:t> energy saving + successful transmission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In Q-Learning, the state includes distance, energy, and neighboring nodes. The action is selecting the next hop, and the reward is based on energy efficiency and successful data delivery.</a:t>
            </a:r>
          </a:p>
        </p:txBody>
      </p:sp>
    </p:spTree>
    <p:extLst>
      <p:ext uri="{BB962C8B-B14F-4D97-AF65-F5344CB8AC3E}">
        <p14:creationId xmlns:p14="http://schemas.microsoft.com/office/powerpoint/2010/main" val="3479876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990600" y="1668095"/>
            <a:ext cx="16687800"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Optimal Path Selection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0" i="0" u="none" strike="noStrike" cap="none" normalizeH="0" baseline="0" dirty="0" smtClean="0">
                <a:ln>
                  <a:noFill/>
                </a:ln>
                <a:solidFill>
                  <a:schemeClr val="bg1"/>
                </a:solidFill>
                <a:effectLst/>
                <a:latin typeface="Arial" panose="020B0604020202020204" pitchFamily="34" charset="0"/>
              </a:rPr>
              <a:t>Updates Q-table continuously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0" i="0" u="none" strike="noStrike" cap="none" normalizeH="0" baseline="0" dirty="0" smtClean="0">
                <a:ln>
                  <a:noFill/>
                </a:ln>
                <a:solidFill>
                  <a:schemeClr val="bg1"/>
                </a:solidFill>
                <a:effectLst/>
                <a:latin typeface="Arial" panose="020B0604020202020204" pitchFamily="34" charset="0"/>
              </a:rPr>
              <a:t>Learns best path over time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0" i="0" u="none" strike="noStrike" cap="none" normalizeH="0" baseline="0" dirty="0" smtClean="0">
                <a:ln>
                  <a:noFill/>
                </a:ln>
                <a:solidFill>
                  <a:schemeClr val="bg1"/>
                </a:solidFill>
                <a:effectLst/>
                <a:latin typeface="Arial" panose="020B0604020202020204" pitchFamily="34" charset="0"/>
              </a:rPr>
              <a:t>Avoids low-energy nodes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0" i="0" u="none" strike="noStrike" cap="none" normalizeH="0" baseline="0" dirty="0" smtClean="0">
                <a:ln>
                  <a:noFill/>
                </a:ln>
                <a:solidFill>
                  <a:schemeClr val="bg1"/>
                </a:solidFill>
                <a:effectLst/>
                <a:latin typeface="Arial" panose="020B0604020202020204" pitchFamily="34" charset="0"/>
              </a:rPr>
              <a:t>Ensures reliable communication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The Q-table is updated continuously, and the algorithm learns the best routing path. It avoids nodes with low energy and ensures efficient communication.</a:t>
            </a:r>
          </a:p>
        </p:txBody>
      </p:sp>
    </p:spTree>
    <p:extLst>
      <p:ext uri="{BB962C8B-B14F-4D97-AF65-F5344CB8AC3E}">
        <p14:creationId xmlns:p14="http://schemas.microsoft.com/office/powerpoint/2010/main" val="30872653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819400" y="876300"/>
            <a:ext cx="11811000" cy="8610600"/>
          </a:xfrm>
          <a:prstGeom prst="rect">
            <a:avLst/>
          </a:prstGeom>
        </p:spPr>
      </p:pic>
    </p:spTree>
    <p:extLst>
      <p:ext uri="{BB962C8B-B14F-4D97-AF65-F5344CB8AC3E}">
        <p14:creationId xmlns:p14="http://schemas.microsoft.com/office/powerpoint/2010/main" val="3964811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028700" y="825511"/>
            <a:ext cx="13527144" cy="1461939"/>
          </a:xfrm>
          <a:prstGeom prst="rect">
            <a:avLst/>
          </a:prstGeom>
        </p:spPr>
        <p:txBody>
          <a:bodyPr lIns="0" tIns="0" rIns="0" bIns="0" rtlCol="0" anchor="t">
            <a:spAutoFit/>
          </a:bodyPr>
          <a:lstStyle/>
          <a:p>
            <a:pPr>
              <a:lnSpc>
                <a:spcPts val="5675"/>
              </a:lnSpc>
            </a:pPr>
            <a:r>
              <a:rPr lang="en-IN" sz="4400" b="1" dirty="0" smtClean="0">
                <a:solidFill>
                  <a:schemeClr val="bg1"/>
                </a:solidFill>
              </a:rPr>
              <a:t>4.Energy </a:t>
            </a:r>
            <a:r>
              <a:rPr lang="en-IN" sz="4400" b="1" dirty="0">
                <a:solidFill>
                  <a:schemeClr val="bg1"/>
                </a:solidFill>
              </a:rPr>
              <a:t>Consumption Analysis</a:t>
            </a:r>
            <a:endParaRPr lang="en-US" sz="4054" b="1" dirty="0">
              <a:solidFill>
                <a:schemeClr val="bg1"/>
              </a:solidFill>
              <a:latin typeface="Canva Sans"/>
              <a:ea typeface="Canva Sans"/>
              <a:cs typeface="Canva Sans"/>
              <a:sym typeface="Canva Sans"/>
            </a:endParaRPr>
          </a:p>
          <a:p>
            <a:pPr algn="l">
              <a:lnSpc>
                <a:spcPts val="5675"/>
              </a:lnSpc>
            </a:pPr>
            <a:endParaRPr lang="en-US" sz="4054" dirty="0">
              <a:solidFill>
                <a:schemeClr val="bg1"/>
              </a:solidFill>
              <a:latin typeface="Canva Sans"/>
              <a:ea typeface="Canva Sans"/>
              <a:cs typeface="Canva Sans"/>
              <a:sym typeface="Canva Sans"/>
            </a:endParaRPr>
          </a:p>
        </p:txBody>
      </p:sp>
      <p:sp>
        <p:nvSpPr>
          <p:cNvPr id="4" name="Rectangle 1"/>
          <p:cNvSpPr>
            <a:spLocks noChangeArrowheads="1"/>
          </p:cNvSpPr>
          <p:nvPr/>
        </p:nvSpPr>
        <p:spPr bwMode="auto">
          <a:xfrm>
            <a:off x="1037560" y="2287450"/>
            <a:ext cx="158496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Energy Model Overview</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Calculates energy usage in communication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Important for network lifetime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Tracks battery usage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This module calculates how much energy is consumed during communication and helps in evaluating network performance</a:t>
            </a:r>
            <a:r>
              <a:rPr kumimoji="0" lang="en-US" sz="1600" b="0" i="0" u="none" strike="noStrike" cap="none" normalizeH="0" baseline="0" dirty="0" smtClean="0">
                <a:ln>
                  <a:noFill/>
                </a:ln>
                <a:solidFill>
                  <a:schemeClr val="bg1"/>
                </a:solidFill>
                <a:effectLst/>
                <a:latin typeface="Arial" panose="020B0604020202020204" pitchFamily="34" charset="0"/>
              </a:rPr>
              <a:t>.</a:t>
            </a:r>
            <a:endParaRPr kumimoji="0" lang="en-US" sz="18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623794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1447800" y="1866900"/>
            <a:ext cx="159258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Energy Components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Transmission energy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Reception energy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Data aggregation cost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Energy is consumed during transmission, reception, and data aggregation at the cluster head.</a:t>
            </a:r>
          </a:p>
        </p:txBody>
      </p:sp>
    </p:spTree>
    <p:extLst>
      <p:ext uri="{BB962C8B-B14F-4D97-AF65-F5344CB8AC3E}">
        <p14:creationId xmlns:p14="http://schemas.microsoft.com/office/powerpoint/2010/main" val="8982007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1143000" y="2019300"/>
            <a:ext cx="163068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Energy Update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Updates node energy after transmission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Reduces battery level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Detects dead nodes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After each transmission, node energy is reduced. If energy reaches zero, the node becomes dead</a:t>
            </a:r>
            <a:r>
              <a:rPr kumimoji="0" lang="en-US" sz="1600" b="0" i="0" u="none" strike="noStrike" cap="none" normalizeH="0" baseline="0" dirty="0" smtClean="0">
                <a:ln>
                  <a:noFill/>
                </a:ln>
                <a:solidFill>
                  <a:schemeClr val="bg1"/>
                </a:solidFill>
                <a:effectLst/>
                <a:latin typeface="Arial" panose="020B0604020202020204" pitchFamily="34" charset="0"/>
              </a:rPr>
              <a:t>.</a:t>
            </a:r>
            <a:endParaRPr kumimoji="0" lang="en-US" sz="18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39057214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343400" y="1485900"/>
            <a:ext cx="8534400" cy="7010400"/>
          </a:xfrm>
          <a:prstGeom prst="rect">
            <a:avLst/>
          </a:prstGeom>
        </p:spPr>
      </p:pic>
    </p:spTree>
    <p:extLst>
      <p:ext uri="{BB962C8B-B14F-4D97-AF65-F5344CB8AC3E}">
        <p14:creationId xmlns:p14="http://schemas.microsoft.com/office/powerpoint/2010/main" val="2399487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143000" y="934641"/>
            <a:ext cx="13638383" cy="1846659"/>
          </a:xfrm>
          <a:prstGeom prst="rect">
            <a:avLst/>
          </a:prstGeom>
        </p:spPr>
        <p:txBody>
          <a:bodyPr lIns="0" tIns="0" rIns="0" bIns="0" rtlCol="0" anchor="t">
            <a:spAutoFit/>
          </a:bodyPr>
          <a:lstStyle/>
          <a:p>
            <a:pPr algn="l">
              <a:lnSpc>
                <a:spcPts val="4759"/>
              </a:lnSpc>
            </a:pPr>
            <a:r>
              <a:rPr lang="en-US" sz="4000" b="1" dirty="0">
                <a:solidFill>
                  <a:schemeClr val="bg1"/>
                </a:solidFill>
                <a:latin typeface="Canva Sans Bold"/>
                <a:ea typeface="Canva Sans Bold"/>
                <a:cs typeface="Canva Sans Bold"/>
                <a:sym typeface="Canva Sans Bold"/>
              </a:rPr>
              <a:t>5. Performance Evaluation</a:t>
            </a:r>
          </a:p>
          <a:p>
            <a:pPr algn="l">
              <a:lnSpc>
                <a:spcPts val="4759"/>
              </a:lnSpc>
            </a:pPr>
            <a:endParaRPr lang="en-US" sz="3399" dirty="0">
              <a:solidFill>
                <a:schemeClr val="bg1"/>
              </a:solidFill>
              <a:latin typeface="Canva Sans"/>
              <a:ea typeface="Canva Sans"/>
              <a:cs typeface="Canva Sans"/>
              <a:sym typeface="Canva Sans"/>
            </a:endParaRPr>
          </a:p>
          <a:p>
            <a:pPr algn="l">
              <a:lnSpc>
                <a:spcPts val="4759"/>
              </a:lnSpc>
            </a:pPr>
            <a:endParaRPr lang="en-US" sz="3399" dirty="0">
              <a:solidFill>
                <a:schemeClr val="bg1"/>
              </a:solidFill>
              <a:latin typeface="Canva Sans"/>
              <a:ea typeface="Canva Sans"/>
              <a:cs typeface="Canva Sans"/>
              <a:sym typeface="Canva Sans"/>
            </a:endParaRPr>
          </a:p>
        </p:txBody>
      </p:sp>
      <p:sp>
        <p:nvSpPr>
          <p:cNvPr id="3" name="Rectangle 1"/>
          <p:cNvSpPr>
            <a:spLocks noChangeArrowheads="1"/>
          </p:cNvSpPr>
          <p:nvPr/>
        </p:nvSpPr>
        <p:spPr bwMode="auto">
          <a:xfrm>
            <a:off x="1371600" y="2552700"/>
            <a:ext cx="163830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Evaluation Overview</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Measures system performance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Evaluates efficiency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Validates proposed method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This module evaluates how well the proposed system performs in terms of energy and network lifetime</a:t>
            </a:r>
            <a:r>
              <a:rPr kumimoji="0" lang="en-US" sz="1600" b="0" i="0" u="none" strike="noStrike" cap="none" normalizeH="0" baseline="0" dirty="0" smtClean="0">
                <a:ln>
                  <a:noFill/>
                </a:ln>
                <a:solidFill>
                  <a:schemeClr val="bg1"/>
                </a:solidFill>
                <a:effectLst/>
                <a:latin typeface="Arial" panose="020B0604020202020204" pitchFamily="34" charset="0"/>
              </a:rPr>
              <a:t>.</a:t>
            </a:r>
            <a:endParaRPr kumimoji="0" lang="en-US" sz="1800" b="0" i="0" u="none" strike="noStrike" cap="none" normalizeH="0" baseline="0" dirty="0" smtClean="0">
              <a:ln>
                <a:noFill/>
              </a:ln>
              <a:solidFill>
                <a:schemeClr val="bg1"/>
              </a:solidFill>
              <a:effectLst/>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1295400" y="2019300"/>
            <a:ext cx="156972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Performance Metrics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Alive nodes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Average energy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Network lifetime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Packet delivery ratio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The system performance is measured using metrics such as alive nodes, energy levels, and packet delivery ratio</a:t>
            </a:r>
            <a:r>
              <a:rPr kumimoji="0" lang="en-US" sz="1600" b="0" i="0" u="none" strike="noStrike" cap="none" normalizeH="0" baseline="0" dirty="0" smtClean="0">
                <a:ln>
                  <a:noFill/>
                </a:ln>
                <a:solidFill>
                  <a:schemeClr val="bg1"/>
                </a:solidFill>
                <a:effectLst/>
                <a:latin typeface="Arial" panose="020B0604020202020204" pitchFamily="34" charset="0"/>
              </a:rPr>
              <a:t>.</a:t>
            </a:r>
            <a:endParaRPr kumimoji="0" lang="en-US" sz="18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8392807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bg1"/>
                </a:solidFill>
                <a:effectLst/>
                <a:latin typeface="Arial" panose="020B0604020202020204" pitchFamily="34" charset="0"/>
              </a:rPr>
              <a:t>.</a:t>
            </a:r>
          </a:p>
        </p:txBody>
      </p:sp>
      <p:sp>
        <p:nvSpPr>
          <p:cNvPr id="5" name="Rectangle 2"/>
          <p:cNvSpPr>
            <a:spLocks noChangeArrowheads="1"/>
          </p:cNvSpPr>
          <p:nvPr/>
        </p:nvSpPr>
        <p:spPr bwMode="auto">
          <a:xfrm>
            <a:off x="0" y="280472"/>
            <a:ext cx="184731" cy="369332"/>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solidFill>
                <a:schemeClr val="bg1"/>
              </a:solidFill>
            </a:endParaRPr>
          </a:p>
        </p:txBody>
      </p:sp>
      <p:sp>
        <p:nvSpPr>
          <p:cNvPr id="6" name="Rectangle 3"/>
          <p:cNvSpPr>
            <a:spLocks noChangeArrowheads="1"/>
          </p:cNvSpPr>
          <p:nvPr/>
        </p:nvSpPr>
        <p:spPr bwMode="auto">
          <a:xfrm>
            <a:off x="1066800" y="1104900"/>
            <a:ext cx="16383000"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Comparison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Compared with existing protocols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LEACH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DMHT-LEACH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EDMHT-LEACH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The proposed method is compared with existing protocols like LEACH and its variants to show improved performance</a:t>
            </a:r>
            <a:r>
              <a:rPr kumimoji="0" lang="en-US" sz="1600" b="0" i="0" u="none" strike="noStrike" cap="none" normalizeH="0" baseline="0" dirty="0" smtClean="0">
                <a:ln>
                  <a:noFill/>
                </a:ln>
                <a:solidFill>
                  <a:schemeClr val="bg1"/>
                </a:solidFill>
                <a:effectLst/>
                <a:latin typeface="Arial" panose="020B0604020202020204" pitchFamily="34" charset="0"/>
              </a:rPr>
              <a:t>.</a:t>
            </a:r>
            <a:endParaRPr kumimoji="0" lang="en-US" sz="18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329972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bg1"/>
                </a:solidFill>
                <a:effectLst/>
                <a:latin typeface="Arial" panose="020B0604020202020204" pitchFamily="34" charset="0"/>
              </a:rPr>
              <a:t>.</a:t>
            </a:r>
          </a:p>
        </p:txBody>
      </p:sp>
      <p:sp>
        <p:nvSpPr>
          <p:cNvPr id="5" name="Rectangle 2"/>
          <p:cNvSpPr>
            <a:spLocks noChangeArrowheads="1"/>
          </p:cNvSpPr>
          <p:nvPr/>
        </p:nvSpPr>
        <p:spPr bwMode="auto">
          <a:xfrm>
            <a:off x="0" y="280472"/>
            <a:ext cx="184731" cy="369332"/>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solidFill>
                <a:schemeClr val="bg1"/>
              </a:solidFill>
            </a:endParaRPr>
          </a:p>
        </p:txBody>
      </p:sp>
    </p:spTree>
    <p:extLst>
      <p:ext uri="{BB962C8B-B14F-4D97-AF65-F5344CB8AC3E}">
        <p14:creationId xmlns:p14="http://schemas.microsoft.com/office/powerpoint/2010/main" val="30444810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600200" y="876300"/>
            <a:ext cx="13638383" cy="1231106"/>
          </a:xfrm>
          <a:prstGeom prst="rect">
            <a:avLst/>
          </a:prstGeom>
        </p:spPr>
        <p:txBody>
          <a:bodyPr lIns="0" tIns="0" rIns="0" bIns="0" rtlCol="0" anchor="t">
            <a:spAutoFit/>
          </a:bodyPr>
          <a:lstStyle/>
          <a:p>
            <a:pPr>
              <a:lnSpc>
                <a:spcPts val="4759"/>
              </a:lnSpc>
            </a:pPr>
            <a:r>
              <a:rPr lang="en-IN" sz="4400" b="1" dirty="0" smtClean="0">
                <a:solidFill>
                  <a:schemeClr val="bg1"/>
                </a:solidFill>
              </a:rPr>
              <a:t>6.Results </a:t>
            </a:r>
            <a:r>
              <a:rPr lang="en-IN" sz="4400" b="1" dirty="0">
                <a:solidFill>
                  <a:schemeClr val="bg1"/>
                </a:solidFill>
              </a:rPr>
              <a:t>Visualization &amp; Analysis</a:t>
            </a:r>
            <a:endParaRPr lang="en-US" sz="4400" b="1" dirty="0">
              <a:solidFill>
                <a:schemeClr val="bg1"/>
              </a:solidFill>
              <a:latin typeface="Canva Sans"/>
              <a:ea typeface="Canva Sans"/>
              <a:cs typeface="Canva Sans"/>
              <a:sym typeface="Canva Sans"/>
            </a:endParaRPr>
          </a:p>
          <a:p>
            <a:pPr algn="l">
              <a:lnSpc>
                <a:spcPts val="4759"/>
              </a:lnSpc>
            </a:pPr>
            <a:endParaRPr lang="en-US" sz="3399" dirty="0">
              <a:solidFill>
                <a:schemeClr val="bg1"/>
              </a:solidFill>
              <a:latin typeface="Canva Sans"/>
              <a:ea typeface="Canva Sans"/>
              <a:cs typeface="Canva Sans"/>
              <a:sym typeface="Canva Sans"/>
            </a:endParaRPr>
          </a:p>
        </p:txBody>
      </p:sp>
      <p:sp>
        <p:nvSpPr>
          <p:cNvPr id="4" name="Rectangle 1"/>
          <p:cNvSpPr>
            <a:spLocks noChangeArrowheads="1"/>
          </p:cNvSpPr>
          <p:nvPr/>
        </p:nvSpPr>
        <p:spPr bwMode="auto">
          <a:xfrm>
            <a:off x="2057400" y="2107406"/>
            <a:ext cx="137160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Visualization Overview</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Converts results into graphs </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Easy to analyze performance </a:t>
            </a:r>
          </a:p>
          <a:p>
            <a:pPr marL="571500" marR="0" lvl="0" indent="-5715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Supports conclusion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This module presents the results using graphs to make analysis easier and clearer</a:t>
            </a:r>
            <a:r>
              <a:rPr kumimoji="0" lang="en-US" sz="1600" b="0" i="0" u="none" strike="noStrike" cap="none" normalizeH="0" baseline="0" dirty="0" smtClean="0">
                <a:ln>
                  <a:noFill/>
                </a:ln>
                <a:solidFill>
                  <a:schemeClr val="bg1"/>
                </a:solidFill>
                <a:effectLst/>
                <a:latin typeface="Arial" panose="020B0604020202020204" pitchFamily="34" charset="0"/>
              </a:rPr>
              <a:t>.</a:t>
            </a:r>
            <a:endParaRPr kumimoji="0" lang="en-US" sz="18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086561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1524000" y="1714500"/>
            <a:ext cx="14554200"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Graphs Generated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Alive nodes </a:t>
            </a:r>
            <a:r>
              <a:rPr kumimoji="0" lang="en-US" sz="4000" b="0" i="0" u="none" strike="noStrike" cap="none" normalizeH="0" baseline="0" dirty="0" err="1" smtClean="0">
                <a:ln>
                  <a:noFill/>
                </a:ln>
                <a:solidFill>
                  <a:schemeClr val="bg1"/>
                </a:solidFill>
                <a:effectLst/>
                <a:latin typeface="Arial" panose="020B0604020202020204" pitchFamily="34" charset="0"/>
              </a:rPr>
              <a:t>vs</a:t>
            </a:r>
            <a:r>
              <a:rPr kumimoji="0" lang="en-US" sz="4000" b="0" i="0" u="none" strike="noStrike" cap="none" normalizeH="0" baseline="0" dirty="0" smtClean="0">
                <a:ln>
                  <a:noFill/>
                </a:ln>
                <a:solidFill>
                  <a:schemeClr val="bg1"/>
                </a:solidFill>
                <a:effectLst/>
                <a:latin typeface="Arial" panose="020B0604020202020204" pitchFamily="34" charset="0"/>
              </a:rPr>
              <a:t> rounds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Energy </a:t>
            </a:r>
            <a:r>
              <a:rPr kumimoji="0" lang="en-US" sz="4000" b="0" i="0" u="none" strike="noStrike" cap="none" normalizeH="0" baseline="0" dirty="0" err="1" smtClean="0">
                <a:ln>
                  <a:noFill/>
                </a:ln>
                <a:solidFill>
                  <a:schemeClr val="bg1"/>
                </a:solidFill>
                <a:effectLst/>
                <a:latin typeface="Arial" panose="020B0604020202020204" pitchFamily="34" charset="0"/>
              </a:rPr>
              <a:t>vs</a:t>
            </a:r>
            <a:r>
              <a:rPr kumimoji="0" lang="en-US" sz="4000" b="0" i="0" u="none" strike="noStrike" cap="none" normalizeH="0" baseline="0" dirty="0" smtClean="0">
                <a:ln>
                  <a:noFill/>
                </a:ln>
                <a:solidFill>
                  <a:schemeClr val="bg1"/>
                </a:solidFill>
                <a:effectLst/>
                <a:latin typeface="Arial" panose="020B0604020202020204" pitchFamily="34" charset="0"/>
              </a:rPr>
              <a:t> rounds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Packets received </a:t>
            </a:r>
            <a:r>
              <a:rPr kumimoji="0" lang="en-US" sz="4000" b="0" i="0" u="none" strike="noStrike" cap="none" normalizeH="0" baseline="0" dirty="0" err="1" smtClean="0">
                <a:ln>
                  <a:noFill/>
                </a:ln>
                <a:solidFill>
                  <a:schemeClr val="bg1"/>
                </a:solidFill>
                <a:effectLst/>
                <a:latin typeface="Arial" panose="020B0604020202020204" pitchFamily="34" charset="0"/>
              </a:rPr>
              <a:t>vs</a:t>
            </a:r>
            <a:r>
              <a:rPr kumimoji="0" lang="en-US" sz="4000" b="0" i="0" u="none" strike="noStrike" cap="none" normalizeH="0" baseline="0" dirty="0" smtClean="0">
                <a:ln>
                  <a:noFill/>
                </a:ln>
                <a:solidFill>
                  <a:schemeClr val="bg1"/>
                </a:solidFill>
                <a:effectLst/>
                <a:latin typeface="Arial" panose="020B0604020202020204" pitchFamily="34" charset="0"/>
              </a:rPr>
              <a:t> rounds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Different graphs are generated to show how the network performs over time</a:t>
            </a:r>
            <a:r>
              <a:rPr kumimoji="0" lang="en-US" sz="1600" b="0" i="0" u="none" strike="noStrike" cap="none" normalizeH="0" baseline="0" dirty="0" smtClean="0">
                <a:ln>
                  <a:noFill/>
                </a:ln>
                <a:solidFill>
                  <a:schemeClr val="bg1"/>
                </a:solidFill>
                <a:effectLst/>
                <a:latin typeface="Arial" panose="020B0604020202020204" pitchFamily="34" charset="0"/>
              </a:rPr>
              <a:t>.</a:t>
            </a:r>
            <a:endParaRPr kumimoji="0" lang="en-US" sz="18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621615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Rectangle 1"/>
          <p:cNvSpPr>
            <a:spLocks noChangeArrowheads="1"/>
          </p:cNvSpPr>
          <p:nvPr/>
        </p:nvSpPr>
        <p:spPr bwMode="auto">
          <a:xfrm>
            <a:off x="1143000" y="2095500"/>
            <a:ext cx="16230599"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4000" b="1" i="0" u="none" strike="noStrike" cap="none" normalizeH="0" baseline="0" dirty="0" smtClean="0">
                <a:ln>
                  <a:noFill/>
                </a:ln>
                <a:solidFill>
                  <a:schemeClr val="bg1"/>
                </a:solidFill>
                <a:effectLst/>
                <a:latin typeface="Arial" panose="020B0604020202020204" pitchFamily="34" charset="0"/>
              </a:rPr>
              <a:t>Analysis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Shows improved lifetime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Better energy efficiency </a:t>
            </a:r>
          </a:p>
          <a:p>
            <a:pPr marL="571500" marR="0" lvl="0" indent="-5715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sz="4000" b="0" i="0" u="none" strike="noStrike" cap="none" normalizeH="0" baseline="0" dirty="0" smtClean="0">
                <a:ln>
                  <a:noFill/>
                </a:ln>
                <a:solidFill>
                  <a:schemeClr val="bg1"/>
                </a:solidFill>
                <a:effectLst/>
                <a:latin typeface="Arial" panose="020B0604020202020204" pitchFamily="34" charset="0"/>
              </a:rPr>
              <a:t>Higher packet delivery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4000" b="1" i="0" u="none" strike="noStrike" cap="none" normalizeH="0" baseline="0" dirty="0" smtClean="0">
              <a:ln>
                <a:noFill/>
              </a:ln>
              <a:solidFill>
                <a:schemeClr val="bg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smtClean="0">
                <a:ln>
                  <a:noFill/>
                </a:ln>
                <a:solidFill>
                  <a:schemeClr val="bg1"/>
                </a:solidFill>
                <a:effectLst/>
                <a:latin typeface="Arial" panose="020B0604020202020204" pitchFamily="34" charset="0"/>
              </a:rPr>
              <a:t>The results show that the proposed system improves network lifetime, reduces energy consumption, and increases data delivery efficiency.</a:t>
            </a:r>
          </a:p>
        </p:txBody>
      </p:sp>
    </p:spTree>
    <p:extLst>
      <p:ext uri="{BB962C8B-B14F-4D97-AF65-F5344CB8AC3E}">
        <p14:creationId xmlns:p14="http://schemas.microsoft.com/office/powerpoint/2010/main" val="36820571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0" y="43934"/>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bg1"/>
                </a:solidFill>
                <a:effectLst/>
                <a:latin typeface="Arial" panose="020B0604020202020204" pitchFamily="34" charset="0"/>
              </a:rPr>
              <a:t>.</a:t>
            </a:r>
          </a:p>
        </p:txBody>
      </p:sp>
      <p:sp>
        <p:nvSpPr>
          <p:cNvPr id="5" name="Rectangle 2"/>
          <p:cNvSpPr>
            <a:spLocks noChangeArrowheads="1"/>
          </p:cNvSpPr>
          <p:nvPr/>
        </p:nvSpPr>
        <p:spPr bwMode="auto">
          <a:xfrm>
            <a:off x="0" y="280472"/>
            <a:ext cx="184731" cy="369332"/>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solidFill>
                <a:schemeClr val="bg1"/>
              </a:solidFill>
            </a:endParaRPr>
          </a:p>
        </p:txBody>
      </p:sp>
      <p:pic>
        <p:nvPicPr>
          <p:cNvPr id="2" name="Picture 1"/>
          <p:cNvPicPr>
            <a:picLocks noChangeAspect="1"/>
          </p:cNvPicPr>
          <p:nvPr/>
        </p:nvPicPr>
        <p:blipFill>
          <a:blip r:embed="rId2"/>
          <a:stretch>
            <a:fillRect/>
          </a:stretch>
        </p:blipFill>
        <p:spPr>
          <a:xfrm>
            <a:off x="1524000" y="1873704"/>
            <a:ext cx="7239000" cy="6698796"/>
          </a:xfrm>
          <a:prstGeom prst="rect">
            <a:avLst/>
          </a:prstGeom>
        </p:spPr>
      </p:pic>
      <p:pic>
        <p:nvPicPr>
          <p:cNvPr id="3" name="Picture 2"/>
          <p:cNvPicPr>
            <a:picLocks noChangeAspect="1"/>
          </p:cNvPicPr>
          <p:nvPr/>
        </p:nvPicPr>
        <p:blipFill>
          <a:blip r:embed="rId3"/>
          <a:stretch>
            <a:fillRect/>
          </a:stretch>
        </p:blipFill>
        <p:spPr>
          <a:xfrm>
            <a:off x="10210800" y="1857375"/>
            <a:ext cx="7162800" cy="6715125"/>
          </a:xfrm>
          <a:prstGeom prst="rect">
            <a:avLst/>
          </a:prstGeom>
        </p:spPr>
      </p:pic>
    </p:spTree>
    <p:extLst>
      <p:ext uri="{BB962C8B-B14F-4D97-AF65-F5344CB8AC3E}">
        <p14:creationId xmlns:p14="http://schemas.microsoft.com/office/powerpoint/2010/main" val="1606722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827647" y="425474"/>
            <a:ext cx="9704552" cy="1082626"/>
          </a:xfrm>
          <a:prstGeom prst="rect">
            <a:avLst/>
          </a:prstGeom>
        </p:spPr>
        <p:txBody>
          <a:bodyPr lIns="0" tIns="0" rIns="0" bIns="0" rtlCol="0" anchor="t">
            <a:spAutoFit/>
          </a:bodyPr>
          <a:lstStyle/>
          <a:p>
            <a:pPr algn="ctr">
              <a:lnSpc>
                <a:spcPts val="8852"/>
              </a:lnSpc>
            </a:pPr>
            <a:r>
              <a:rPr lang="en-US" sz="6322" b="1">
                <a:solidFill>
                  <a:srgbClr val="FFFFFF"/>
                </a:solidFill>
                <a:latin typeface="Canva Sans Bold"/>
                <a:ea typeface="Canva Sans Bold"/>
                <a:cs typeface="Canva Sans Bold"/>
                <a:sym typeface="Canva Sans Bold"/>
              </a:rPr>
              <a:t>FUTURE ENHANCEMENT</a:t>
            </a:r>
          </a:p>
        </p:txBody>
      </p:sp>
      <p:sp>
        <p:nvSpPr>
          <p:cNvPr id="3" name="TextBox 3"/>
          <p:cNvSpPr txBox="1"/>
          <p:nvPr/>
        </p:nvSpPr>
        <p:spPr>
          <a:xfrm>
            <a:off x="827647" y="2345184"/>
            <a:ext cx="13127514" cy="6913116"/>
          </a:xfrm>
          <a:prstGeom prst="rect">
            <a:avLst/>
          </a:prstGeom>
        </p:spPr>
        <p:txBody>
          <a:bodyPr lIns="0" tIns="0" rIns="0" bIns="0" rtlCol="0" anchor="t">
            <a:spAutoFit/>
          </a:bodyPr>
          <a:lstStyle/>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Introduce Deep Q-Learning (DQN) for more intelligent routing</a:t>
            </a:r>
          </a:p>
          <a:p>
            <a:pPr algn="l">
              <a:lnSpc>
                <a:spcPts val="4580"/>
              </a:lnSpc>
            </a:pPr>
            <a:endParaRPr lang="en-US" sz="3271">
              <a:solidFill>
                <a:srgbClr val="FFFFFF"/>
              </a:solidFill>
              <a:latin typeface="Canva Sans"/>
              <a:ea typeface="Canva Sans"/>
              <a:cs typeface="Canva Sans"/>
              <a:sym typeface="Canva Sans"/>
            </a:endParaRPr>
          </a:p>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Add mobile sensor node support</a:t>
            </a:r>
          </a:p>
          <a:p>
            <a:pPr algn="l">
              <a:lnSpc>
                <a:spcPts val="4580"/>
              </a:lnSpc>
            </a:pPr>
            <a:endParaRPr lang="en-US" sz="3271">
              <a:solidFill>
                <a:srgbClr val="FFFFFF"/>
              </a:solidFill>
              <a:latin typeface="Canva Sans"/>
              <a:ea typeface="Canva Sans"/>
              <a:cs typeface="Canva Sans"/>
              <a:sym typeface="Canva Sans"/>
            </a:endParaRPr>
          </a:p>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Incorporate real-time environmental factors</a:t>
            </a:r>
          </a:p>
          <a:p>
            <a:pPr algn="l">
              <a:lnSpc>
                <a:spcPts val="4580"/>
              </a:lnSpc>
            </a:pPr>
            <a:endParaRPr lang="en-US" sz="3271">
              <a:solidFill>
                <a:srgbClr val="FFFFFF"/>
              </a:solidFill>
              <a:latin typeface="Canva Sans"/>
              <a:ea typeface="Canva Sans"/>
              <a:cs typeface="Canva Sans"/>
              <a:sym typeface="Canva Sans"/>
            </a:endParaRPr>
          </a:p>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Integration with IoT cloud platforms</a:t>
            </a:r>
          </a:p>
          <a:p>
            <a:pPr algn="l">
              <a:lnSpc>
                <a:spcPts val="4580"/>
              </a:lnSpc>
            </a:pPr>
            <a:endParaRPr lang="en-US" sz="3271">
              <a:solidFill>
                <a:srgbClr val="FFFFFF"/>
              </a:solidFill>
              <a:latin typeface="Canva Sans"/>
              <a:ea typeface="Canva Sans"/>
              <a:cs typeface="Canva Sans"/>
              <a:sym typeface="Canva Sans"/>
            </a:endParaRPr>
          </a:p>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Introduce anomaly detection for node failure prediction</a:t>
            </a:r>
          </a:p>
          <a:p>
            <a:pPr algn="l">
              <a:lnSpc>
                <a:spcPts val="4580"/>
              </a:lnSpc>
            </a:pPr>
            <a:endParaRPr lang="en-US" sz="3271">
              <a:solidFill>
                <a:srgbClr val="FFFFFF"/>
              </a:solidFill>
              <a:latin typeface="Canva Sans"/>
              <a:ea typeface="Canva Sans"/>
              <a:cs typeface="Canva Sans"/>
              <a:sym typeface="Canva Sans"/>
            </a:endParaRPr>
          </a:p>
          <a:p>
            <a:pPr marL="706398" lvl="1" indent="-353199" algn="l">
              <a:lnSpc>
                <a:spcPts val="4580"/>
              </a:lnSpc>
              <a:buFont typeface="Arial"/>
              <a:buChar char="•"/>
            </a:pPr>
            <a:r>
              <a:rPr lang="en-US" sz="3271">
                <a:solidFill>
                  <a:srgbClr val="FFFFFF"/>
                </a:solidFill>
                <a:latin typeface="Canva Sans"/>
                <a:ea typeface="Canva Sans"/>
                <a:cs typeface="Canva Sans"/>
                <a:sym typeface="Canva Sans"/>
              </a:rPr>
              <a:t>Enable adaptive sleep scheduling</a:t>
            </a:r>
          </a:p>
          <a:p>
            <a:pPr algn="r">
              <a:lnSpc>
                <a:spcPts val="4580"/>
              </a:lnSpc>
            </a:pPr>
            <a:endParaRPr lang="en-US" sz="3271">
              <a:solidFill>
                <a:srgbClr val="FFFFFF"/>
              </a:solidFill>
              <a:latin typeface="Canva Sans"/>
              <a:ea typeface="Canva Sans"/>
              <a:cs typeface="Canva Sans"/>
              <a:sym typeface="Canva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769784" y="523734"/>
            <a:ext cx="5859616" cy="3424014"/>
          </a:xfrm>
          <a:prstGeom prst="rect">
            <a:avLst/>
          </a:prstGeom>
        </p:spPr>
        <p:txBody>
          <a:bodyPr wrap="square" lIns="0" tIns="0" rIns="0" bIns="0" rtlCol="0" anchor="t">
            <a:spAutoFit/>
          </a:bodyPr>
          <a:lstStyle/>
          <a:p>
            <a:pPr algn="ctr">
              <a:lnSpc>
                <a:spcPts val="8878"/>
              </a:lnSpc>
            </a:pPr>
            <a:r>
              <a:rPr lang="en-US" sz="6342" b="1" dirty="0">
                <a:solidFill>
                  <a:srgbClr val="FFFFFF"/>
                </a:solidFill>
                <a:latin typeface="Canva Sans Bold"/>
                <a:ea typeface="Canva Sans Bold"/>
                <a:cs typeface="Canva Sans Bold"/>
                <a:sym typeface="Canva Sans Bold"/>
              </a:rPr>
              <a:t>CONCLUSION</a:t>
            </a:r>
          </a:p>
          <a:p>
            <a:pPr algn="ctr">
              <a:lnSpc>
                <a:spcPts val="8878"/>
              </a:lnSpc>
            </a:pPr>
            <a:endParaRPr lang="en-US" sz="6342" b="1" dirty="0">
              <a:solidFill>
                <a:srgbClr val="FFFFFF"/>
              </a:solidFill>
              <a:latin typeface="Canva Sans Bold"/>
              <a:ea typeface="Canva Sans Bold"/>
              <a:cs typeface="Canva Sans Bold"/>
              <a:sym typeface="Canva Sans Bold"/>
            </a:endParaRPr>
          </a:p>
          <a:p>
            <a:pPr algn="ctr">
              <a:lnSpc>
                <a:spcPts val="8878"/>
              </a:lnSpc>
            </a:pPr>
            <a:endParaRPr lang="en-US" sz="6342" b="1" dirty="0">
              <a:solidFill>
                <a:srgbClr val="FFFFFF"/>
              </a:solidFill>
              <a:latin typeface="Canva Sans Bold"/>
              <a:ea typeface="Canva Sans Bold"/>
              <a:cs typeface="Canva Sans Bold"/>
              <a:sym typeface="Canva Sans Bold"/>
            </a:endParaRPr>
          </a:p>
        </p:txBody>
      </p:sp>
      <p:sp>
        <p:nvSpPr>
          <p:cNvPr id="3" name="TextBox 3"/>
          <p:cNvSpPr txBox="1"/>
          <p:nvPr/>
        </p:nvSpPr>
        <p:spPr>
          <a:xfrm>
            <a:off x="769784" y="2657378"/>
            <a:ext cx="15928476" cy="4624215"/>
          </a:xfrm>
          <a:prstGeom prst="rect">
            <a:avLst/>
          </a:prstGeom>
        </p:spPr>
        <p:txBody>
          <a:bodyPr lIns="0" tIns="0" rIns="0" bIns="0" rtlCol="0" anchor="t">
            <a:spAutoFit/>
          </a:bodyPr>
          <a:lstStyle/>
          <a:p>
            <a:pPr algn="just">
              <a:lnSpc>
                <a:spcPct val="150000"/>
              </a:lnSpc>
            </a:pPr>
            <a:r>
              <a:rPr lang="en-US" sz="3399" dirty="0">
                <a:solidFill>
                  <a:srgbClr val="FFFFFF"/>
                </a:solidFill>
                <a:latin typeface="Canva Sans"/>
                <a:ea typeface="Canva Sans"/>
                <a:cs typeface="Canva Sans"/>
                <a:sym typeface="Canva Sans"/>
              </a:rPr>
              <a:t>The proposed K-Means + Q-Learning model provides an intelligent, adaptive, and energy-efficient routing solution for WSNs. It improves network lifetime, reduces energy consumption, and enhances communication reliability. Compared to existing LEACH-based protocols, it performs significantly better, especially in large networks. This shows that Artificial Intelligence is a powerful tool for optimizing wireless sensor communication.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028700" y="904875"/>
            <a:ext cx="4696890" cy="1082519"/>
          </a:xfrm>
          <a:prstGeom prst="rect">
            <a:avLst/>
          </a:prstGeom>
        </p:spPr>
        <p:txBody>
          <a:bodyPr lIns="0" tIns="0" rIns="0" bIns="0" rtlCol="0" anchor="t">
            <a:spAutoFit/>
          </a:bodyPr>
          <a:lstStyle/>
          <a:p>
            <a:pPr algn="ctr">
              <a:lnSpc>
                <a:spcPts val="8851"/>
              </a:lnSpc>
            </a:pPr>
            <a:r>
              <a:rPr lang="en-US" sz="6322" b="1">
                <a:solidFill>
                  <a:srgbClr val="FFFFFF"/>
                </a:solidFill>
                <a:latin typeface="Canva Sans Bold"/>
                <a:ea typeface="Canva Sans Bold"/>
                <a:cs typeface="Canva Sans Bold"/>
                <a:sym typeface="Canva Sans Bold"/>
              </a:rPr>
              <a:t>REFERENCE</a:t>
            </a:r>
          </a:p>
        </p:txBody>
      </p:sp>
      <p:sp>
        <p:nvSpPr>
          <p:cNvPr id="3" name="TextBox 3"/>
          <p:cNvSpPr txBox="1"/>
          <p:nvPr/>
        </p:nvSpPr>
        <p:spPr>
          <a:xfrm>
            <a:off x="765572" y="2276529"/>
            <a:ext cx="16493728" cy="6581140"/>
          </a:xfrm>
          <a:prstGeom prst="rect">
            <a:avLst/>
          </a:prstGeom>
        </p:spPr>
        <p:txBody>
          <a:bodyPr lIns="0" tIns="0" rIns="0" bIns="0" rtlCol="0" anchor="t">
            <a:spAutoFit/>
          </a:bodyPr>
          <a:lstStyle/>
          <a:p>
            <a:pPr algn="just">
              <a:lnSpc>
                <a:spcPts val="4759"/>
              </a:lnSpc>
            </a:pPr>
            <a:r>
              <a:rPr lang="en-US" sz="3399">
                <a:solidFill>
                  <a:srgbClr val="FFFFFF"/>
                </a:solidFill>
                <a:latin typeface="Canva Sans"/>
                <a:ea typeface="Canva Sans"/>
                <a:cs typeface="Canva Sans"/>
                <a:sym typeface="Canva Sans"/>
              </a:rPr>
              <a:t>[1] Wan Kyu Yun a nd Sang Jo Yoo “Q Learning Based Data Aggregation Aware</a:t>
            </a:r>
          </a:p>
          <a:p>
            <a:pPr algn="just">
              <a:lnSpc>
                <a:spcPts val="4759"/>
              </a:lnSpc>
            </a:pPr>
            <a:r>
              <a:rPr lang="en-US" sz="3399">
                <a:solidFill>
                  <a:srgbClr val="FFFFFF"/>
                </a:solidFill>
                <a:latin typeface="Canva Sans"/>
                <a:ea typeface="Canva Sans"/>
                <a:cs typeface="Canva Sans"/>
                <a:sym typeface="Canva Sans"/>
              </a:rPr>
              <a:t>Energy Efficient Routing Protocol for Wireless Sensor Networks ”, IEEE</a:t>
            </a:r>
          </a:p>
          <a:p>
            <a:pPr algn="just">
              <a:lnSpc>
                <a:spcPts val="4759"/>
              </a:lnSpc>
            </a:pPr>
            <a:r>
              <a:rPr lang="en-US" sz="3399">
                <a:solidFill>
                  <a:srgbClr val="FFFFFF"/>
                </a:solidFill>
                <a:latin typeface="Canva Sans"/>
                <a:ea typeface="Canva Sans"/>
                <a:cs typeface="Canva Sans"/>
                <a:sym typeface="Canva Sans"/>
              </a:rPr>
              <a:t>International conference,2021.</a:t>
            </a:r>
          </a:p>
          <a:p>
            <a:pPr algn="just">
              <a:lnSpc>
                <a:spcPts val="4759"/>
              </a:lnSpc>
            </a:pPr>
            <a:endParaRPr lang="en-US" sz="3399">
              <a:solidFill>
                <a:srgbClr val="FFFFFF"/>
              </a:solidFill>
              <a:latin typeface="Canva Sans"/>
              <a:ea typeface="Canva Sans"/>
              <a:cs typeface="Canva Sans"/>
              <a:sym typeface="Canva Sans"/>
            </a:endParaRPr>
          </a:p>
          <a:p>
            <a:pPr algn="just">
              <a:lnSpc>
                <a:spcPts val="4759"/>
              </a:lnSpc>
            </a:pPr>
            <a:r>
              <a:rPr lang="en-US" sz="3399">
                <a:solidFill>
                  <a:srgbClr val="FFFFFF"/>
                </a:solidFill>
                <a:latin typeface="Canva Sans"/>
                <a:ea typeface="Canva Sans"/>
                <a:cs typeface="Canva Sans"/>
                <a:sym typeface="Canva Sans"/>
              </a:rPr>
              <a:t>[2] Muhammad Akram, Sibghat Ullah Bazai, Muhammad Imran , EEMLCR:</a:t>
            </a:r>
          </a:p>
          <a:p>
            <a:pPr algn="just">
              <a:lnSpc>
                <a:spcPts val="4759"/>
              </a:lnSpc>
            </a:pPr>
            <a:r>
              <a:rPr lang="en-US" sz="3399">
                <a:solidFill>
                  <a:srgbClr val="FFFFFF"/>
                </a:solidFill>
                <a:latin typeface="Canva Sans"/>
                <a:ea typeface="Canva Sans"/>
                <a:cs typeface="Canva Sans"/>
                <a:sym typeface="Canva Sans"/>
              </a:rPr>
              <a:t>Energy Efficient Machine Learning Based Clustering and Routing for Wireless</a:t>
            </a:r>
          </a:p>
          <a:p>
            <a:pPr algn="just">
              <a:lnSpc>
                <a:spcPts val="4759"/>
              </a:lnSpc>
            </a:pPr>
            <a:r>
              <a:rPr lang="en-US" sz="3399">
                <a:solidFill>
                  <a:srgbClr val="FFFFFF"/>
                </a:solidFill>
                <a:latin typeface="Canva Sans"/>
                <a:ea typeface="Canva Sans"/>
                <a:cs typeface="Canva Sans"/>
                <a:sym typeface="Canva Sans"/>
              </a:rPr>
              <a:t>Sensor Networks IEEE International conference,2025.</a:t>
            </a:r>
          </a:p>
          <a:p>
            <a:pPr algn="just">
              <a:lnSpc>
                <a:spcPts val="4759"/>
              </a:lnSpc>
            </a:pPr>
            <a:endParaRPr lang="en-US" sz="3399">
              <a:solidFill>
                <a:srgbClr val="FFFFFF"/>
              </a:solidFill>
              <a:latin typeface="Canva Sans"/>
              <a:ea typeface="Canva Sans"/>
              <a:cs typeface="Canva Sans"/>
              <a:sym typeface="Canva Sans"/>
            </a:endParaRPr>
          </a:p>
          <a:p>
            <a:pPr algn="just">
              <a:lnSpc>
                <a:spcPts val="4759"/>
              </a:lnSpc>
            </a:pPr>
            <a:r>
              <a:rPr lang="en-US" sz="3399">
                <a:solidFill>
                  <a:srgbClr val="FFFFFF"/>
                </a:solidFill>
                <a:latin typeface="Canva Sans"/>
                <a:ea typeface="Canva Sans"/>
                <a:cs typeface="Canva Sans"/>
                <a:sym typeface="Canva Sans"/>
              </a:rPr>
              <a:t>[3] Salim El Khediri, Awatef Benfradj, “ Integration of artificial intelligence (AI)</a:t>
            </a:r>
          </a:p>
          <a:p>
            <a:pPr algn="just">
              <a:lnSpc>
                <a:spcPts val="4759"/>
              </a:lnSpc>
            </a:pPr>
            <a:r>
              <a:rPr lang="en-US" sz="3399">
                <a:solidFill>
                  <a:srgbClr val="FFFFFF"/>
                </a:solidFill>
                <a:latin typeface="Canva Sans"/>
                <a:ea typeface="Canva Sans"/>
                <a:cs typeface="Canva Sans"/>
                <a:sym typeface="Canva Sans"/>
              </a:rPr>
              <a:t>with sensor networks: Trends, challenges, and future directions” Journal of King</a:t>
            </a:r>
          </a:p>
          <a:p>
            <a:pPr algn="just">
              <a:lnSpc>
                <a:spcPts val="4759"/>
              </a:lnSpc>
            </a:pPr>
            <a:r>
              <a:rPr lang="en-US" sz="3399">
                <a:solidFill>
                  <a:srgbClr val="FFFFFF"/>
                </a:solidFill>
                <a:latin typeface="Canva Sans"/>
                <a:ea typeface="Canva Sans"/>
                <a:cs typeface="Canva Sans"/>
                <a:sym typeface="Canva Sans"/>
              </a:rPr>
              <a:t>Saud University Computer and Information Sciences.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1028700" y="1587681"/>
            <a:ext cx="15948836" cy="6562155"/>
          </a:xfrm>
          <a:prstGeom prst="rect">
            <a:avLst/>
          </a:prstGeom>
        </p:spPr>
        <p:txBody>
          <a:bodyPr lIns="0" tIns="0" rIns="0" bIns="0" rtlCol="0" anchor="t">
            <a:spAutoFit/>
          </a:bodyPr>
          <a:lstStyle/>
          <a:p>
            <a:pPr algn="l">
              <a:lnSpc>
                <a:spcPts val="4746"/>
              </a:lnSpc>
            </a:pPr>
            <a:r>
              <a:rPr lang="en-US" sz="3390">
                <a:solidFill>
                  <a:srgbClr val="FFFFFF"/>
                </a:solidFill>
                <a:latin typeface="Canva Sans"/>
                <a:ea typeface="Canva Sans"/>
                <a:cs typeface="Canva Sans"/>
                <a:sym typeface="Canva Sans"/>
              </a:rPr>
              <a:t>[4] Huda Salih Abd , Asaad S Daghul, An Energy Efficient Scheduling and</a:t>
            </a:r>
          </a:p>
          <a:p>
            <a:pPr algn="l">
              <a:lnSpc>
                <a:spcPts val="4746"/>
              </a:lnSpc>
            </a:pPr>
            <a:r>
              <a:rPr lang="en-US" sz="3390">
                <a:solidFill>
                  <a:srgbClr val="FFFFFF"/>
                </a:solidFill>
                <a:latin typeface="Canva Sans"/>
                <a:ea typeface="Canva Sans"/>
                <a:cs typeface="Canva Sans"/>
                <a:sym typeface="Canva Sans"/>
              </a:rPr>
              <a:t>Routing Protocol Based on Q Learning for WSN Asian Journal of Computing</a:t>
            </a:r>
          </a:p>
          <a:p>
            <a:pPr algn="l">
              <a:lnSpc>
                <a:spcPts val="4746"/>
              </a:lnSpc>
            </a:pPr>
            <a:r>
              <a:rPr lang="en-US" sz="3390">
                <a:solidFill>
                  <a:srgbClr val="FFFFFF"/>
                </a:solidFill>
                <a:latin typeface="Canva Sans"/>
                <a:ea typeface="Canva Sans"/>
                <a:cs typeface="Canva Sans"/>
                <a:sym typeface="Canva Sans"/>
              </a:rPr>
              <a:t>and Engineering Technology.</a:t>
            </a:r>
          </a:p>
          <a:p>
            <a:pPr algn="l">
              <a:lnSpc>
                <a:spcPts val="4746"/>
              </a:lnSpc>
            </a:pPr>
            <a:endParaRPr lang="en-US" sz="3390">
              <a:solidFill>
                <a:srgbClr val="FFFFFF"/>
              </a:solidFill>
              <a:latin typeface="Canva Sans"/>
              <a:ea typeface="Canva Sans"/>
              <a:cs typeface="Canva Sans"/>
              <a:sym typeface="Canva Sans"/>
            </a:endParaRPr>
          </a:p>
          <a:p>
            <a:pPr algn="l">
              <a:lnSpc>
                <a:spcPts val="4746"/>
              </a:lnSpc>
            </a:pPr>
            <a:r>
              <a:rPr lang="en-US" sz="3390">
                <a:solidFill>
                  <a:srgbClr val="FFFFFF"/>
                </a:solidFill>
                <a:latin typeface="Canva Sans"/>
                <a:ea typeface="Canva Sans"/>
                <a:cs typeface="Canva Sans"/>
                <a:sym typeface="Canva Sans"/>
              </a:rPr>
              <a:t>[5] Yan Wang, Ke Deng, Yongli Ren , Jeffrey Chan, Reinforcement Learning for</a:t>
            </a:r>
          </a:p>
          <a:p>
            <a:pPr algn="l">
              <a:lnSpc>
                <a:spcPts val="4746"/>
              </a:lnSpc>
            </a:pPr>
            <a:r>
              <a:rPr lang="en-US" sz="3390">
                <a:solidFill>
                  <a:srgbClr val="FFFFFF"/>
                </a:solidFill>
                <a:latin typeface="Canva Sans"/>
                <a:ea typeface="Canva Sans"/>
                <a:cs typeface="Canva Sans"/>
                <a:sym typeface="Canva Sans"/>
              </a:rPr>
              <a:t>Tackling Energy saving and Energy balance Dilemma of Cluster based Routing</a:t>
            </a:r>
          </a:p>
          <a:p>
            <a:pPr algn="l">
              <a:lnSpc>
                <a:spcPts val="4746"/>
              </a:lnSpc>
            </a:pPr>
            <a:r>
              <a:rPr lang="en-US" sz="3390">
                <a:solidFill>
                  <a:srgbClr val="FFFFFF"/>
                </a:solidFill>
                <a:latin typeface="Canva Sans"/>
                <a:ea typeface="Canva Sans"/>
                <a:cs typeface="Canva Sans"/>
                <a:sym typeface="Canva Sans"/>
              </a:rPr>
              <a:t>Protocols in WSNs IEEE International confer ence,2024.</a:t>
            </a:r>
          </a:p>
          <a:p>
            <a:pPr algn="l">
              <a:lnSpc>
                <a:spcPts val="4746"/>
              </a:lnSpc>
            </a:pPr>
            <a:endParaRPr lang="en-US" sz="3390">
              <a:solidFill>
                <a:srgbClr val="FFFFFF"/>
              </a:solidFill>
              <a:latin typeface="Canva Sans"/>
              <a:ea typeface="Canva Sans"/>
              <a:cs typeface="Canva Sans"/>
              <a:sym typeface="Canva Sans"/>
            </a:endParaRPr>
          </a:p>
          <a:p>
            <a:pPr algn="l">
              <a:lnSpc>
                <a:spcPts val="4746"/>
              </a:lnSpc>
            </a:pPr>
            <a:r>
              <a:rPr lang="en-US" sz="3390">
                <a:solidFill>
                  <a:srgbClr val="FFFFFF"/>
                </a:solidFill>
                <a:latin typeface="Canva Sans"/>
                <a:ea typeface="Canva Sans"/>
                <a:cs typeface="Canva Sans"/>
                <a:sym typeface="Canva Sans"/>
              </a:rPr>
              <a:t>[6] F. A. Khan, M. Khan, M. Asif, A. Khalid, and I. U. Haq, ‘‘Hybrid and multi hop</a:t>
            </a:r>
          </a:p>
          <a:p>
            <a:pPr algn="l">
              <a:lnSpc>
                <a:spcPts val="4746"/>
              </a:lnSpc>
            </a:pPr>
            <a:r>
              <a:rPr lang="en-US" sz="3390">
                <a:solidFill>
                  <a:srgbClr val="FFFFFF"/>
                </a:solidFill>
                <a:latin typeface="Canva Sans"/>
                <a:ea typeface="Canva Sans"/>
                <a:cs typeface="Canva Sans"/>
                <a:sym typeface="Canva Sans"/>
              </a:rPr>
              <a:t>advanced zonal stable election protocol for wireless sensor networks,’’ IEEE</a:t>
            </a:r>
          </a:p>
          <a:p>
            <a:pPr algn="l">
              <a:lnSpc>
                <a:spcPts val="4746"/>
              </a:lnSpc>
            </a:pPr>
            <a:r>
              <a:rPr lang="en-US" sz="3390">
                <a:solidFill>
                  <a:srgbClr val="FFFFFF"/>
                </a:solidFill>
                <a:latin typeface="Canva Sans"/>
                <a:ea typeface="Canva Sans"/>
                <a:cs typeface="Canva Sans"/>
                <a:sym typeface="Canva Sans"/>
              </a:rPr>
              <a:t>Access,2019.</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100000"/>
              </a:srgbClr>
            </a:gs>
            <a:gs pos="100000">
              <a:srgbClr val="09033D">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3200400" y="3467100"/>
            <a:ext cx="12801600" cy="2410916"/>
          </a:xfrm>
          <a:prstGeom prst="rect">
            <a:avLst/>
          </a:prstGeom>
        </p:spPr>
        <p:txBody>
          <a:bodyPr wrap="square" lIns="0" tIns="0" rIns="0" bIns="0" rtlCol="0" anchor="t">
            <a:spAutoFit/>
          </a:bodyPr>
          <a:lstStyle/>
          <a:p>
            <a:pPr algn="ctr">
              <a:lnSpc>
                <a:spcPts val="18839"/>
              </a:lnSpc>
            </a:pPr>
            <a:r>
              <a:rPr lang="en-US" sz="13456" b="1" dirty="0">
                <a:solidFill>
                  <a:srgbClr val="FFFFFF"/>
                </a:soli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TotalTime>
  <Words>1711</Words>
  <Application>Microsoft Office PowerPoint</Application>
  <PresentationFormat>Custom</PresentationFormat>
  <Paragraphs>297</Paragraphs>
  <Slides>42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42</vt:i4>
      </vt:variant>
    </vt:vector>
  </HeadingPairs>
  <TitlesOfParts>
    <vt:vector size="53" baseType="lpstr">
      <vt:lpstr>Calibri</vt:lpstr>
      <vt:lpstr>Telegraf Bold</vt:lpstr>
      <vt:lpstr>Arimo</vt:lpstr>
      <vt:lpstr>Wingdings</vt:lpstr>
      <vt:lpstr>Canva Sans Bold</vt:lpstr>
      <vt:lpstr>Arimo Bold</vt:lpstr>
      <vt:lpstr>Poppins</vt:lpstr>
      <vt:lpstr>Poppins Bold</vt:lpstr>
      <vt:lpstr>Arial</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Reena S</dc:creator>
  <cp:lastModifiedBy>Microsoft account</cp:lastModifiedBy>
  <cp:revision>29</cp:revision>
  <dcterms:created xsi:type="dcterms:W3CDTF">2006-08-16T00:00:00Z</dcterms:created>
  <dcterms:modified xsi:type="dcterms:W3CDTF">2026-03-23T05:05:04Z</dcterms:modified>
  <dc:identifier>DAG5zX5oqaI</dc:identifier>
</cp:coreProperties>
</file>